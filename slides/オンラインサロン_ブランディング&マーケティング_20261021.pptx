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オープニング" id="{c8ec8524-e61d-36a5-d9ed-57ff81506aaa}">
          <p14:sldIdLst>
            <p14:sldId id="256"/>
          </p14:sldIdLst>
        </p14:section>
        <p14:section name="全体像" id="{ee99eb7a-0100-b923-9556-40447392c94d}">
          <p14:sldIdLst>
            <p14:sldId id="257"/>
            <p14:sldId id="258"/>
          </p14:sldIdLst>
        </p14:section>
        <p14:section name="3つのメッセージ" id="{77c583e0-a406-c1b2-4e4e-2bbe5304b428}">
          <p14:sldIdLst>
            <p14:sldId id="259"/>
            <p14:sldId id="260"/>
            <p14:sldId id="261"/>
            <p14:sldId id="262"/>
          </p14:sldIdLst>
        </p14:section>
        <p14:section name="ワークシート" id="{f3b1f481-9a65-8bf1-37da-f1fda109ce9d}">
          <p14:sldIdLst>
            <p14:sldId id="263"/>
            <p14:sldId id="264"/>
            <p14:sldId id="265"/>
            <p14:sldId id="266"/>
            <p14:sldId id="267"/>
          </p14:sldIdLst>
        </p14:section>
        <p14:section name="まとめ" id="{bac06450-9c0e-fc54-3ef5-586784a7cb43}">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本日のテーマは「お客様が途切れないビジネスを創る」。松本流・ブランディングとマーケティングの本質を、90分でお伝えします。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すべての出発点は、ひとつの問いから始まります。「財産を増やすためではなく、人生を豊かにするために、私は何ができるか？」この問いが、松本流ビジネスの核心です。集客の前に、ブランディングの前に、まず自分の使命を明確にすること。それがすべての土台となります。
現場での経験が使命と発信をさらに磨き、ビジネスの好循環が生まれます。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今回のサロンは、単なる知識のインプットではありません。参加者それぞれが「自分のブランドとマーケティング」を見つめ直し、明日からの行動を決める90分です。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知識を増やすだけでなく、「自分のビジネスの在り方」を根本から問い直す3つの核心メッセージをお届けします。この3つが腑に落ちたとき、ブランディングとマーケティングは戦略ではなく、自然な生き方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相続ビジネスを営みながら、財産を入り口にしない。一見すると矛盾しているように見えるこの姿勢こそが、松本流の最大の強みです。
これは、財産の問題を扱わないという意味では決してありません。財産の話をする前に、まずその人の人生や家族の幸せを先に考える、という姿勢の表れです。資産運用や節税だけを目的とする顧客を無理に追いかけないからこそ、松本の専門性と人間性が際立ち、「この人に相談したい」という信頼が自然と生まれます。
「何をするか」ではなく「何のためにするか」を先に語る。その覚悟が、ブランドの土台になります。財産を増やすことが目的の人ではなく、家族の未来を真剣に考えたい人と出会うために、あえて絞り込む。その選択が、長期的な信頼関係と口コミの連鎖を生み出している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「FP資格を持っていて、相続手続きができます」「10年のキャリアがあります」「ワンストップでサービス提供できます」。これは同業者も同じことが言えます。差別化にはなりません。
「私は、財産に着目しない相続コンサルタントです。財産の前に、その人の人生と家族の幸せを一緒に考えます」。この一言が、会話のきっかけになり、記憶に残り、紹介を生みます。
自分が何を大切にして、誰のどんな未来をつくりたいのかを、自分の言葉で語れるか。それがブランディングの本質です。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多くの人が「発信＝集客のための宣伝」と思いがちです。しかし松本流では、発信とは使命を伝え続ける日常の行動です。
「この人、何か違う」という印象が積み重なったとき、人は自然と紹介したくなります。宣伝しなくても、使命を語り続けることが最強の集客です。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聞いて終わりにしないために、「私のブランド・マーケティング設計シート」を用意しました。ぜひ手を動かして、自分のビジネスの輪郭を言語化してみてください。答えに正解はありません。大切なのは、自分の言葉で語れるかどうかです。
※ シートは印刷して手書きでも、PowerPoint上に直接テキストを入力しても使えます。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例：「私は、家族が笑顔で次の世代へバトンを渡すために、財産だけに着目しない相続コンサルタントです」。うまく書けなくて大丈夫。まずは書いてみることが第一歩です。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あえて引き受けないこと、追いかけない顧客を明確にする。絞り込みは弱さではなく、専門性の証明です。
資格や経験ではなく、自分の使命や姿勢で答える。「私がこの仕事をしている理由」を一言で語れるか。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具体的な人物と困りごとを思い浮かべる。「40代の女性で、親の介護と財産管理に不安を感じている人」など、リアルに描くほど、届く言葉が見えてきます。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自分の使命が必要な人はどこにいるのか、誰がその人と接点を持っているのかを考え、行動する。これがマーケティングです。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命が明確になれば、ブランドが生まれる。ブランドを発信し続ければ、共感が生まれる。そして、共感してくれる人との接点を設計することがマーケティングになる。この3つの好循環こそが、お客様が途切れない本当の理由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今日学んだことを「知識」で終わらせないために。お客様を追いかけるのをやめた瞬間、あなたのブランドが動き始めます。使命を語り続けてください。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発信する、誰かに会う、紹介先に伝えるなど、具体的な行動をひとつだけ決める。小さくてもいい、明日できることを。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本日はありがとうございました。今日書いたワークシートを、ぜひ30日後にもう一度見返してください。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7315200" cy="274320"/>
          </a:xfrm>
          <a:prstGeom prst="rect">
            <a:avLst/>
          </a:prstGeom>
          <a:noFill/>
          <a:ln/>
        </p:spPr>
        <p:txBody>
          <a:bodyPr wrap="square" rtlCol="0"/>
          <a:lstStyle>
            <a:lvl1pPr indent="0" marL="0">
              <a:buNone/>
              <a:defRPr lang="en-US" sz="1100" b="1" spc="200" kern="0" dirty="0">
                <a:solidFill>
                  <a:srgbClr val="B8432F"/>
                </a:solidFill>
                <a:latin typeface="Hiragino Kaku Gothic ProN" pitchFamily="34" charset="0"/>
                <a:ea typeface="Hiragino Kaku Gothic ProN" pitchFamily="34" charset="-128"/>
                <a:cs typeface="Hiragino Kaku Gothic ProN" pitchFamily="34" charset="-120"/>
              </a:defRPr>
            </a:lvl1pPr>
          </a:lstStyle>
          <a:p>
            <a:pPr indent="0" marL="0">
              <a:buNone/>
            </a:pPr>
            <a:endParaRPr lang="en-US" sz="1100" dirty="0"/>
          </a:p>
        </p:txBody>
      </p:sp>
      <p:sp>
        <p:nvSpPr>
          <p:cNvPr id="3" name="Text 0"/>
          <p:cNvSpPr/>
          <p:nvPr>
            <p:ph idx="101" type="title" hasCustomPrompt="1"/>
          </p:nvPr>
        </p:nvSpPr>
        <p:spPr>
          <a:xfrm>
            <a:off x="548640" y="658368"/>
            <a:ext cx="11064240" cy="731520"/>
          </a:xfrm>
          <a:prstGeom prst="rect">
            <a:avLst/>
          </a:prstGeom>
          <a:noFill/>
          <a:ln/>
        </p:spPr>
        <p:txBody>
          <a:bodyPr wrap="square" rtlCol="0"/>
          <a:lstStyle>
            <a:lvl1pPr algn="l" indent="0" marL="0">
              <a:buNone/>
              <a:defRPr lang="en-US" sz="3000" dirty="0">
                <a:solidFill>
                  <a:srgbClr val="1C1A1A"/>
                </a:solidFill>
                <a:latin typeface="Hiragino Mincho ProN" pitchFamily="34" charset="0"/>
                <a:ea typeface="Hiragino Mincho ProN" pitchFamily="34" charset="-128"/>
                <a:cs typeface="Hiragino Mincho ProN" pitchFamily="34" charset="-120"/>
              </a:defRPr>
            </a:lvl1pPr>
          </a:lstStyle>
          <a:p>
            <a:pPr algn="l" indent="0" marL="0">
              <a:buNone/>
            </a:pPr>
            <a:endParaRPr lang="en-US" sz="30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A39C98"/>
                </a:solidFill>
                <a:latin typeface="Hiragino Kaku Gothic ProN" pitchFamily="34" charset="0"/>
                <a:ea typeface="Hiragino Kaku Gothic ProN" pitchFamily="34" charset="-128"/>
                <a:cs typeface="Hiragino Kaku Gothic ProN" pitchFamily="34" charset="-120"/>
              </a:rPr>
              <a:t>松本恵オンラインサロン ｜ お客様が途切れないビジネスを創る</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orkshee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6858000" cy="274320"/>
          </a:xfrm>
          <a:prstGeom prst="rect">
            <a:avLst/>
          </a:prstGeom>
          <a:noFill/>
          <a:ln/>
        </p:spPr>
        <p:txBody>
          <a:bodyPr wrap="square" rtlCol="0"/>
          <a:lstStyle>
            <a:lvl1pPr indent="0" marL="0">
              <a:buNone/>
              <a:defRPr lang="en-US" sz="1100" b="1" spc="200" kern="0" dirty="0">
                <a:solidFill>
                  <a:srgbClr val="B8432F"/>
                </a:solidFill>
                <a:latin typeface="Hiragino Kaku Gothic ProN" pitchFamily="34" charset="0"/>
                <a:ea typeface="Hiragino Kaku Gothic ProN" pitchFamily="34" charset="-128"/>
                <a:cs typeface="Hiragino Kaku Gothic ProN" pitchFamily="34" charset="-120"/>
              </a:defRPr>
            </a:lvl1pPr>
          </a:lstStyle>
          <a:p>
            <a:pPr indent="0" marL="0">
              <a:buNone/>
            </a:pPr>
            <a:endParaRPr lang="en-US" sz="1100" dirty="0"/>
          </a:p>
        </p:txBody>
      </p:sp>
      <p:sp>
        <p:nvSpPr>
          <p:cNvPr id="3" name="Text 0"/>
          <p:cNvSpPr/>
          <p:nvPr>
            <p:ph idx="101" type="title" hasCustomPrompt="1"/>
          </p:nvPr>
        </p:nvSpPr>
        <p:spPr>
          <a:xfrm>
            <a:off x="548640" y="658368"/>
            <a:ext cx="7680960" cy="731520"/>
          </a:xfrm>
          <a:prstGeom prst="rect">
            <a:avLst/>
          </a:prstGeom>
          <a:noFill/>
          <a:ln/>
        </p:spPr>
        <p:txBody>
          <a:bodyPr wrap="square" rtlCol="0"/>
          <a:lstStyle>
            <a:lvl1pPr algn="l" indent="0" marL="0">
              <a:buNone/>
              <a:defRPr lang="en-US" sz="3000" dirty="0">
                <a:solidFill>
                  <a:srgbClr val="1C1A1A"/>
                </a:solidFill>
                <a:latin typeface="Hiragino Mincho ProN" pitchFamily="34" charset="0"/>
                <a:ea typeface="Hiragino Mincho ProN" pitchFamily="34" charset="-128"/>
                <a:cs typeface="Hiragino Mincho ProN" pitchFamily="34" charset="-120"/>
              </a:defRPr>
            </a:lvl1pPr>
          </a:lstStyle>
          <a:p>
            <a:pPr algn="l" indent="0" marL="0">
              <a:buNone/>
            </a:pPr>
            <a:endParaRPr lang="en-US" sz="3000" dirty="0"/>
          </a:p>
        </p:txBody>
      </p:sp>
      <p:sp>
        <p:nvSpPr>
          <p:cNvPr id="4" name="Text 0"/>
          <p:cNvSpPr/>
          <p:nvPr/>
        </p:nvSpPr>
        <p:spPr>
          <a:xfrm>
            <a:off x="8503920" y="914400"/>
            <a:ext cx="731520" cy="365760"/>
          </a:xfrm>
          <a:prstGeom prst="rect">
            <a:avLst/>
          </a:prstGeom>
          <a:noFill/>
          <a:ln/>
        </p:spPr>
        <p:txBody>
          <a:bodyPr wrap="square" lIns="0" tIns="0" rIns="0" bIns="0" rtlCol="0" anchor="b"/>
          <a:lstStyle/>
          <a:p>
            <a:pPr indent="0" marL="0">
              <a:buNone/>
            </a:pPr>
            <a:r>
              <a:rPr lang="en-US" sz="1000" b="1" spc="200" kern="0" dirty="0">
                <a:solidFill>
                  <a:srgbClr val="8A8380"/>
                </a:solidFill>
                <a:latin typeface="Hiragino Kaku Gothic ProN" pitchFamily="34" charset="0"/>
                <a:ea typeface="Hiragino Kaku Gothic ProN" pitchFamily="34" charset="-128"/>
                <a:cs typeface="Hiragino Kaku Gothic ProN" pitchFamily="34" charset="-120"/>
              </a:rPr>
              <a:t>NAME</a:t>
            </a:r>
            <a:endParaRPr lang="en-US" sz="1000" dirty="0"/>
          </a:p>
        </p:txBody>
      </p:sp>
      <p:sp>
        <p:nvSpPr>
          <p:cNvPr id="5" name="Shape 1"/>
          <p:cNvSpPr/>
          <p:nvPr/>
        </p:nvSpPr>
        <p:spPr>
          <a:xfrm>
            <a:off x="9235440" y="1280160"/>
            <a:ext cx="2404872" cy="0"/>
          </a:xfrm>
          <a:prstGeom prst="line">
            <a:avLst/>
          </a:prstGeom>
          <a:noFill/>
          <a:ln w="9525">
            <a:solidFill>
              <a:srgbClr val="1C1A1A"/>
            </a:solidFill>
            <a:prstDash val="solid"/>
          </a:ln>
        </p:spPr>
      </p:sp>
      <p:sp>
        <p:nvSpPr>
          <p:cNvPr id="6" name="Text 2"/>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A39C98"/>
                </a:solidFill>
                <a:latin typeface="Hiragino Kaku Gothic ProN" pitchFamily="34" charset="0"/>
                <a:ea typeface="Hiragino Kaku Gothic ProN" pitchFamily="34" charset="-128"/>
                <a:cs typeface="Hiragino Kaku Gothic ProN" pitchFamily="34" charset="-120"/>
              </a:rPr>
              <a:t>私のブランド・マーケティング設計シート</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C1A1A"/>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窓辺の机に置かれたノート">    </p:cNvPr>
          <p:cNvPicPr>
            <a:picLocks noChangeAspect="1"/>
          </p:cNvPicPr>
          <p:nvPr/>
        </p:nvPicPr>
        <p:blipFill>
          <a:blip r:embed="rId1"/>
          <a:stretch>
            <a:fillRect/>
          </a:stretch>
        </p:blipFill>
        <p:spPr>
          <a:xfrm>
            <a:off x="7619695" y="0"/>
            <a:ext cx="4572000" cy="6858000"/>
          </a:xfrm>
          <a:prstGeom prst="rect">
            <a:avLst/>
          </a:prstGeom>
        </p:spPr>
      </p:pic>
      <p:sp>
        <p:nvSpPr>
          <p:cNvPr id="3" name="enso"/>
          <p:cNvSpPr/>
          <p:nvPr/>
        </p:nvSpPr>
        <p:spPr>
          <a:xfrm>
            <a:off x="6035040" y="3931920"/>
            <a:ext cx="2743200" cy="2743200"/>
          </a:xfrm>
          <a:prstGeom prst="ellipse">
            <a:avLst/>
          </a:prstGeom>
          <a:ln w="25400">
            <a:solidFill>
              <a:srgbClr val="B8432F"/>
            </a:solidFill>
            <a:prstDash val="solid"/>
          </a:ln>
        </p:spPr>
      </p:sp>
      <p:sp>
        <p:nvSpPr>
          <p:cNvPr id="4" name="Text 1"/>
          <p:cNvSpPr txBox="1"/>
          <p:nvPr/>
        </p:nvSpPr>
        <p:spPr>
          <a:xfrm>
            <a:off x="731520" y="1371600"/>
            <a:ext cx="5486400" cy="320040"/>
          </a:xfrm>
          <a:prstGeom prst="rect">
            <a:avLst/>
          </a:prstGeom>
          <a:noFill/>
          <a:ln/>
        </p:spPr>
        <p:txBody>
          <a:bodyPr wrap="square" lIns="0" tIns="0" rIns="0" bIns="0" rtlCol="0" anchor="t"/>
          <a:lstStyle/>
          <a:p>
            <a:pPr indent="0" marL="0">
              <a:buNone/>
            </a:pPr>
            <a:r>
              <a:rPr lang="ja-JP" altLang="en-US" sz="1200" b="1" spc="400" kern="0" dirty="0">
                <a:solidFill>
                  <a:srgbClr val="B8432F"/>
                </a:solidFill>
                <a:latin typeface="Hiragino Kaku Gothic ProN" pitchFamily="34" charset="0"/>
                <a:ea typeface="Hiragino Kaku Gothic ProN" pitchFamily="34" charset="-128"/>
                <a:cs typeface="Hiragino Kaku Gothic ProN" pitchFamily="34" charset="-120"/>
              </a:rPr>
              <a:t>ONLINE SALON ｜ 2026.10.21</a:t>
            </a:r>
            <a:endParaRPr lang="ja-JP" sz="1200" dirty="0"/>
          </a:p>
        </p:txBody>
      </p:sp>
      <p:sp>
        <p:nvSpPr>
          <p:cNvPr id="5" name="Text 2"/>
          <p:cNvSpPr txBox="1"/>
          <p:nvPr/>
        </p:nvSpPr>
        <p:spPr>
          <a:xfrm>
            <a:off x="731520" y="1920240"/>
            <a:ext cx="6583680" cy="1828800"/>
          </a:xfrm>
          <a:prstGeom prst="rect">
            <a:avLst/>
          </a:prstGeom>
          <a:noFill/>
          <a:ln/>
        </p:spPr>
        <p:txBody>
          <a:bodyPr wrap="square" lIns="0" tIns="0" rIns="0" bIns="0" rtlCol="0" anchor="t"/>
          <a:lstStyle/>
          <a:p>
            <a:pPr indent="0" marL="0">
              <a:lnSpc>
                <a:spcPct val="115000"/>
              </a:lnSpc>
              <a:buNone/>
            </a:pPr>
            <a:r>
              <a:rPr lang="ja-JP" altLang="en-US" sz="4600" dirty="0">
                <a:solidFill>
                  <a:srgbClr val="FFFFFF"/>
                </a:solidFill>
                <a:latin typeface="Hiragino Mincho ProN" pitchFamily="34" charset="0"/>
                <a:ea typeface="Hiragino Mincho ProN" pitchFamily="34" charset="-128"/>
                <a:cs typeface="Hiragino Mincho ProN" pitchFamily="34" charset="-120"/>
              </a:rPr>
              <a:t>お客様が途切れない</a:t>
            </a:r>
            <a:endParaRPr lang="ja-JP" sz="4600" dirty="0"/>
          </a:p>
          <a:p>
            <a:pPr indent="0" marL="0">
              <a:lnSpc>
                <a:spcPct val="115000"/>
              </a:lnSpc>
              <a:buNone/>
            </a:pPr>
            <a:r>
              <a:rPr lang="ja-JP" altLang="en-US" sz="4600" dirty="0">
                <a:solidFill>
                  <a:srgbClr val="FFFFFF"/>
                </a:solidFill>
                <a:latin typeface="Hiragino Mincho ProN" pitchFamily="34" charset="0"/>
                <a:ea typeface="Hiragino Mincho ProN" pitchFamily="34" charset="-128"/>
                <a:cs typeface="Hiragino Mincho ProN" pitchFamily="34" charset="-120"/>
              </a:rPr>
              <a:t>ビジネスを創る</a:t>
            </a:r>
            <a:endParaRPr lang="ja-JP" sz="4600" dirty="0"/>
          </a:p>
        </p:txBody>
      </p:sp>
      <p:sp>
        <p:nvSpPr>
          <p:cNvPr id="6" name="Text 3"/>
          <p:cNvSpPr txBox="1"/>
          <p:nvPr/>
        </p:nvSpPr>
        <p:spPr>
          <a:xfrm>
            <a:off x="731520" y="3977640"/>
            <a:ext cx="6400800" cy="365760"/>
          </a:xfrm>
          <a:prstGeom prst="rect">
            <a:avLst/>
          </a:prstGeom>
          <a:noFill/>
          <a:ln/>
        </p:spPr>
        <p:txBody>
          <a:bodyPr wrap="square" lIns="0" tIns="0" rIns="0" bIns="0" rtlCol="0" anchor="t"/>
          <a:lstStyle/>
          <a:p>
            <a:pPr indent="0" marL="0">
              <a:buNone/>
            </a:pPr>
            <a:r>
              <a:rPr lang="ja-JP" altLang="en-US" sz="1600" dirty="0">
                <a:solidFill>
                  <a:srgbClr val="C9C2BC"/>
                </a:solidFill>
                <a:latin typeface="Hiragino Kaku Gothic ProN" pitchFamily="34" charset="0"/>
                <a:ea typeface="Hiragino Kaku Gothic ProN" pitchFamily="34" charset="-128"/>
                <a:cs typeface="Hiragino Kaku Gothic ProN" pitchFamily="34" charset="-120"/>
              </a:rPr>
              <a:t>― 松本流・ブランディングとマーケティングの本質 ―</a:t>
            </a:r>
            <a:endParaRPr lang="ja-JP" sz="1600" dirty="0"/>
          </a:p>
        </p:txBody>
      </p:sp>
      <p:sp>
        <p:nvSpPr>
          <p:cNvPr id="7" name="hanko"/>
          <p:cNvSpPr/>
          <p:nvPr/>
        </p:nvSpPr>
        <p:spPr>
          <a:xfrm>
            <a:off x="731520" y="5257800"/>
            <a:ext cx="731520" cy="731520"/>
          </a:xfrm>
          <a:prstGeom prst="roundRect">
            <a:avLst>
              <a:gd name="adj" fmla="val 10000"/>
            </a:avLst>
          </a:prstGeom>
          <a:solidFill>
            <a:srgbClr val="B8432F"/>
          </a:solidFill>
          <a:ln/>
        </p:spPr>
      </p:sp>
      <p:sp>
        <p:nvSpPr>
          <p:cNvPr id="8" name="Text 5"/>
          <p:cNvSpPr txBox="1"/>
          <p:nvPr/>
        </p:nvSpPr>
        <p:spPr>
          <a:xfrm>
            <a:off x="731520" y="5257800"/>
            <a:ext cx="731520" cy="731520"/>
          </a:xfrm>
          <a:prstGeom prst="rect">
            <a:avLst/>
          </a:prstGeom>
          <a:noFill/>
          <a:ln/>
        </p:spPr>
        <p:txBody>
          <a:bodyPr wrap="square" lIns="0" tIns="0" rIns="0" bIns="0" rtlCol="0" anchor="ctr"/>
          <a:lstStyle/>
          <a:p>
            <a:pPr algn="ctr" indent="0" marL="0">
              <a:buNone/>
            </a:pPr>
            <a:r>
              <a:rPr lang="ja-JP" altLang="en-US" sz="3000" dirty="0">
                <a:solidFill>
                  <a:srgbClr val="FFFFFF"/>
                </a:solidFill>
                <a:latin typeface="Hiragino Mincho ProN" pitchFamily="34" charset="0"/>
                <a:ea typeface="Hiragino Mincho ProN" pitchFamily="34" charset="-128"/>
                <a:cs typeface="Hiragino Mincho ProN" pitchFamily="34" charset="-120"/>
              </a:rPr>
              <a:t>恵</a:t>
            </a:r>
            <a:endParaRPr lang="ja-JP" sz="3000" dirty="0"/>
          </a:p>
        </p:txBody>
      </p:sp>
      <p:sp>
        <p:nvSpPr>
          <p:cNvPr id="9" name="Text 6"/>
          <p:cNvSpPr txBox="1"/>
          <p:nvPr/>
        </p:nvSpPr>
        <p:spPr>
          <a:xfrm>
            <a:off x="1645920" y="5257800"/>
            <a:ext cx="3657600" cy="731520"/>
          </a:xfrm>
          <a:prstGeom prst="rect">
            <a:avLst/>
          </a:prstGeom>
          <a:noFill/>
          <a:ln/>
        </p:spPr>
        <p:txBody>
          <a:bodyPr wrap="square" lIns="0" tIns="0" rIns="0" bIns="0" rtlCol="0" anchor="ctr"/>
          <a:lstStyle/>
          <a:p>
            <a:pPr indent="0" marL="0">
              <a:buNone/>
            </a:pPr>
            <a:r>
              <a:rPr lang="ja-JP" altLang="en-US" sz="1400" dirty="0">
                <a:solidFill>
                  <a:srgbClr val="FFFFFF"/>
                </a:solidFill>
                <a:latin typeface="Hiragino Kaku Gothic ProN" pitchFamily="34" charset="0"/>
                <a:ea typeface="Hiragino Kaku Gothic ProN" pitchFamily="34" charset="-128"/>
                <a:cs typeface="Hiragino Kaku Gothic ProN" pitchFamily="34" charset="-120"/>
              </a:rPr>
              <a:t>松本恵 オンラインサロン</a:t>
            </a:r>
            <a:endParaRPr lang="ja-JP"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7315200" cy="274320"/>
          </a:xfrm>
          <a:prstGeom prst="rect">
            <a:avLst/>
          </a:prstGeom>
          <a:noFill/>
          <a:ln/>
        </p:spPr>
        <p:txBody>
          <a:bodyPr wrap="square" lIns="0" tIns="0" rIns="0" bIns="0" rtlCol="0" anchor="ctr"/>
          <a:lstStyle/>
          <a:p>
            <a:pPr indent="0" marL="0">
              <a:buNone/>
            </a:pPr>
            <a:r>
              <a:rPr lang="en-US" sz="1100" b="1" spc="200" kern="0" dirty="0">
                <a:solidFill>
                  <a:srgbClr val="B8432F"/>
                </a:solidFill>
                <a:latin typeface="Hiragino Kaku Gothic ProN" pitchFamily="34" charset="0"/>
                <a:ea typeface="Hiragino Kaku Gothic ProN" pitchFamily="34" charset="-128"/>
                <a:cs typeface="Hiragino Kaku Gothic ProN" pitchFamily="34" charset="-120"/>
              </a:rPr>
              <a:t>OVERVIEW</a:t>
            </a:r>
            <a:endParaRPr lang="en-US" sz="11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dirty="0">
                <a:solidFill>
                  <a:srgbClr val="1C1A1A"/>
                </a:solidFill>
                <a:latin typeface="Hiragino Mincho ProN" pitchFamily="34" charset="0"/>
                <a:ea typeface="Hiragino Mincho ProN" pitchFamily="34" charset="-128"/>
                <a:cs typeface="Hiragino Mincho ProN" pitchFamily="34" charset="-120"/>
              </a:rPr>
              <a:t>松本流ビジネスの全体像</a:t>
            </a:r>
            <a:endParaRPr lang="en-US" sz="3000" dirty="0"/>
          </a:p>
        </p:txBody>
      </p:sp>
      <p:sp>
        <p:nvSpPr>
          <p:cNvPr id="4" name="Text 2"/>
          <p:cNvSpPr txBox="1"/>
          <p:nvPr/>
        </p:nvSpPr>
        <p:spPr>
          <a:xfrm>
            <a:off x="548640" y="1463040"/>
            <a:ext cx="11064240" cy="411480"/>
          </a:xfrm>
          <a:prstGeom prst="rect">
            <a:avLst/>
          </a:prstGeom>
          <a:noFill/>
          <a:ln/>
        </p:spPr>
        <p:txBody>
          <a:bodyPr wrap="square" lIns="0" tIns="0" rIns="0" bIns="0" rtlCol="0" anchor="t"/>
          <a:lstStyle/>
          <a:p>
            <a:pPr indent="0" marL="0">
              <a:buNone/>
            </a:pPr>
            <a:r>
              <a:rPr lang="ja-JP" altLang="en-US" sz="1600" dirty="0">
                <a:solidFill>
                  <a:srgbClr val="1C1A1A"/>
                </a:solidFill>
                <a:latin typeface="Hiragino Kaku Gothic ProN" pitchFamily="34" charset="0"/>
                <a:ea typeface="Hiragino Kaku Gothic ProN" pitchFamily="34" charset="-128"/>
                <a:cs typeface="Hiragino Kaku Gothic ProN" pitchFamily="34" charset="-120"/>
              </a:rPr>
              <a:t>出発点は、ひとつの問い。</a:t>
            </a:r>
            <a:pPr indent="0" marL="0">
              <a:buNone/>
            </a:pPr>
            <a:r>
              <a:rPr lang="ja-JP" altLang="en-US" sz="1600" dirty="0">
                <a:solidFill>
                  <a:srgbClr val="B8432F"/>
                </a:solidFill>
                <a:latin typeface="Hiragino Mincho ProN" pitchFamily="34" charset="0"/>
                <a:ea typeface="Hiragino Mincho ProN" pitchFamily="34" charset="-128"/>
                <a:cs typeface="Hiragino Mincho ProN" pitchFamily="34" charset="-120"/>
              </a:rPr>
              <a:t>「財産を増やすためではなく、人生を豊かにするために、私は何ができるか？」</a:t>
            </a:r>
            <a:endParaRPr lang="ja-JP" sz="1600" dirty="0"/>
          </a:p>
        </p:txBody>
      </p:sp>
      <p:sp>
        <p:nvSpPr>
          <p:cNvPr id="5" name="enso"/>
          <p:cNvSpPr/>
          <p:nvPr/>
        </p:nvSpPr>
        <p:spPr>
          <a:xfrm>
            <a:off x="1417320" y="2423160"/>
            <a:ext cx="3200400" cy="3200400"/>
          </a:xfrm>
          <a:prstGeom prst="ellipse">
            <a:avLst/>
          </a:prstGeom>
          <a:ln w="25400">
            <a:solidFill>
              <a:srgbClr val="D9C8BC"/>
            </a:solidFill>
            <a:prstDash val="solid"/>
          </a:ln>
        </p:spPr>
      </p:sp>
      <p:sp>
        <p:nvSpPr>
          <p:cNvPr id="6" name="Text 4"/>
          <p:cNvSpPr txBox="1"/>
          <p:nvPr/>
        </p:nvSpPr>
        <p:spPr>
          <a:xfrm>
            <a:off x="2103120" y="3611880"/>
            <a:ext cx="1828800" cy="457200"/>
          </a:xfrm>
          <a:prstGeom prst="rect">
            <a:avLst/>
          </a:prstGeom>
          <a:noFill/>
          <a:ln/>
        </p:spPr>
        <p:txBody>
          <a:bodyPr wrap="square" lIns="0" tIns="0" rIns="0" bIns="0" rtlCol="0" anchor="ctr"/>
          <a:lstStyle/>
          <a:p>
            <a:pPr algn="ctr" indent="0" marL="0">
              <a:buNone/>
            </a:pPr>
            <a:r>
              <a:rPr lang="ja-JP" altLang="en-US" sz="2400" dirty="0">
                <a:solidFill>
                  <a:srgbClr val="1C1A1A"/>
                </a:solidFill>
                <a:latin typeface="Hiragino Mincho ProN" pitchFamily="34" charset="0"/>
                <a:ea typeface="Hiragino Mincho ProN" pitchFamily="34" charset="-128"/>
                <a:cs typeface="Hiragino Mincho ProN" pitchFamily="34" charset="-120"/>
              </a:rPr>
              <a:t>好循環</a:t>
            </a:r>
            <a:endParaRPr lang="ja-JP" sz="2400" dirty="0"/>
          </a:p>
        </p:txBody>
      </p:sp>
      <p:sp>
        <p:nvSpPr>
          <p:cNvPr id="7" name="Text 5"/>
          <p:cNvSpPr txBox="1"/>
          <p:nvPr/>
        </p:nvSpPr>
        <p:spPr>
          <a:xfrm>
            <a:off x="2103120" y="4114800"/>
            <a:ext cx="1828800" cy="274320"/>
          </a:xfrm>
          <a:prstGeom prst="rect">
            <a:avLst/>
          </a:prstGeom>
          <a:noFill/>
          <a:ln/>
        </p:spPr>
        <p:txBody>
          <a:bodyPr wrap="square" lIns="0" tIns="0" rIns="0" bIns="0" rtlCol="0" anchor="t"/>
          <a:lstStyle/>
          <a:p>
            <a:pPr algn="ctr" indent="0" marL="0">
              <a:buNone/>
            </a:pPr>
            <a:r>
              <a:rPr lang="ja-JP" altLang="en-US" sz="1000" spc="300" kern="0" dirty="0">
                <a:solidFill>
                  <a:srgbClr val="8A8380"/>
                </a:solidFill>
                <a:latin typeface="Hiragino Kaku Gothic ProN" pitchFamily="34" charset="0"/>
                <a:ea typeface="Hiragino Kaku Gothic ProN" pitchFamily="34" charset="-128"/>
                <a:cs typeface="Hiragino Kaku Gothic ProN" pitchFamily="34" charset="-120"/>
              </a:rPr>
              <a:t>CYCLE</a:t>
            </a:r>
            <a:endParaRPr lang="ja-JP" sz="1000" dirty="0"/>
          </a:p>
        </p:txBody>
      </p:sp>
      <p:sp>
        <p:nvSpPr>
          <p:cNvPr id="8" name="icon-bg"/>
          <p:cNvSpPr/>
          <p:nvPr/>
        </p:nvSpPr>
        <p:spPr>
          <a:xfrm>
            <a:off x="2560320" y="1965960"/>
            <a:ext cx="914400" cy="914400"/>
          </a:xfrm>
          <a:prstGeom prst="ellipse">
            <a:avLst/>
          </a:prstGeom>
          <a:solidFill>
            <a:srgbClr val="B8432F"/>
          </a:solidFill>
          <a:ln/>
        </p:spPr>
      </p:sp>
      <p:pic>
        <p:nvPicPr>
          <p:cNvPr id="9" name="Image 0" descr="preencoded.png">    </p:cNvPr>
          <p:cNvPicPr>
            <a:picLocks noChangeAspect="1"/>
          </p:cNvPicPr>
          <p:nvPr/>
        </p:nvPicPr>
        <p:blipFill>
          <a:blip r:embed="rId1"/>
          <a:stretch>
            <a:fillRect/>
          </a:stretch>
        </p:blipFill>
        <p:spPr>
          <a:xfrm>
            <a:off x="2798064" y="2203704"/>
            <a:ext cx="438912" cy="438912"/>
          </a:xfrm>
          <a:prstGeom prst="rect">
            <a:avLst/>
          </a:prstGeom>
        </p:spPr>
      </p:pic>
      <p:sp>
        <p:nvSpPr>
          <p:cNvPr id="10" name="icon-bg"/>
          <p:cNvSpPr/>
          <p:nvPr/>
        </p:nvSpPr>
        <p:spPr>
          <a:xfrm>
            <a:off x="4160520" y="3566160"/>
            <a:ext cx="914400" cy="914400"/>
          </a:xfrm>
          <a:prstGeom prst="ellipse">
            <a:avLst/>
          </a:prstGeom>
          <a:solidFill>
            <a:srgbClr val="1C1A1A"/>
          </a:solidFill>
          <a:ln/>
        </p:spPr>
      </p:sp>
      <p:pic>
        <p:nvPicPr>
          <p:cNvPr id="11" name="Image 1" descr="preencoded.png">    </p:cNvPr>
          <p:cNvPicPr>
            <a:picLocks noChangeAspect="1"/>
          </p:cNvPicPr>
          <p:nvPr/>
        </p:nvPicPr>
        <p:blipFill>
          <a:blip r:embed="rId2"/>
          <a:stretch>
            <a:fillRect/>
          </a:stretch>
        </p:blipFill>
        <p:spPr>
          <a:xfrm>
            <a:off x="4398264" y="3803904"/>
            <a:ext cx="438912" cy="438912"/>
          </a:xfrm>
          <a:prstGeom prst="rect">
            <a:avLst/>
          </a:prstGeom>
        </p:spPr>
      </p:pic>
      <p:sp>
        <p:nvSpPr>
          <p:cNvPr id="12" name="icon-bg"/>
          <p:cNvSpPr/>
          <p:nvPr/>
        </p:nvSpPr>
        <p:spPr>
          <a:xfrm>
            <a:off x="2560320" y="5166360"/>
            <a:ext cx="914400" cy="914400"/>
          </a:xfrm>
          <a:prstGeom prst="ellipse">
            <a:avLst/>
          </a:prstGeom>
          <a:solidFill>
            <a:srgbClr val="1C1A1A"/>
          </a:solidFill>
          <a:ln/>
        </p:spPr>
      </p:sp>
      <p:pic>
        <p:nvPicPr>
          <p:cNvPr id="13" name="Image 2" descr="preencoded.png">    </p:cNvPr>
          <p:cNvPicPr>
            <a:picLocks noChangeAspect="1"/>
          </p:cNvPicPr>
          <p:nvPr/>
        </p:nvPicPr>
        <p:blipFill>
          <a:blip r:embed="rId3"/>
          <a:stretch>
            <a:fillRect/>
          </a:stretch>
        </p:blipFill>
        <p:spPr>
          <a:xfrm>
            <a:off x="2798064" y="5404104"/>
            <a:ext cx="438912" cy="438912"/>
          </a:xfrm>
          <a:prstGeom prst="rect">
            <a:avLst/>
          </a:prstGeom>
        </p:spPr>
      </p:pic>
      <p:sp>
        <p:nvSpPr>
          <p:cNvPr id="14" name="icon-bg"/>
          <p:cNvSpPr/>
          <p:nvPr/>
        </p:nvSpPr>
        <p:spPr>
          <a:xfrm>
            <a:off x="960120" y="3566160"/>
            <a:ext cx="914400" cy="914400"/>
          </a:xfrm>
          <a:prstGeom prst="ellipse">
            <a:avLst/>
          </a:prstGeom>
          <a:solidFill>
            <a:srgbClr val="1C1A1A"/>
          </a:solidFill>
          <a:ln/>
        </p:spPr>
      </p:sp>
      <p:pic>
        <p:nvPicPr>
          <p:cNvPr id="15" name="Image 3" descr="preencoded.png">    </p:cNvPr>
          <p:cNvPicPr>
            <a:picLocks noChangeAspect="1"/>
          </p:cNvPicPr>
          <p:nvPr/>
        </p:nvPicPr>
        <p:blipFill>
          <a:blip r:embed="rId4"/>
          <a:stretch>
            <a:fillRect/>
          </a:stretch>
        </p:blipFill>
        <p:spPr>
          <a:xfrm>
            <a:off x="1197864" y="3803904"/>
            <a:ext cx="438912" cy="438912"/>
          </a:xfrm>
          <a:prstGeom prst="rect">
            <a:avLst/>
          </a:prstGeom>
        </p:spPr>
      </p:pic>
      <p:sp>
        <p:nvSpPr>
          <p:cNvPr id="16" name="Text 10"/>
          <p:cNvSpPr txBox="1"/>
          <p:nvPr/>
        </p:nvSpPr>
        <p:spPr>
          <a:xfrm>
            <a:off x="6035040" y="2148840"/>
            <a:ext cx="731520" cy="457200"/>
          </a:xfrm>
          <a:prstGeom prst="rect">
            <a:avLst/>
          </a:prstGeom>
          <a:noFill/>
          <a:ln/>
        </p:spPr>
        <p:txBody>
          <a:bodyPr wrap="square" lIns="0" tIns="0" rIns="0" bIns="0" rtlCol="0" anchor="t"/>
          <a:lstStyle/>
          <a:p>
            <a:pPr indent="0" marL="0">
              <a:buNone/>
            </a:pPr>
            <a:r>
              <a:rPr lang="ja-JP" altLang="en-US" sz="2400" dirty="0">
                <a:solidFill>
                  <a:srgbClr val="B8432F"/>
                </a:solidFill>
                <a:latin typeface="Hiragino Mincho ProN" pitchFamily="34" charset="0"/>
                <a:ea typeface="Hiragino Mincho ProN" pitchFamily="34" charset="-128"/>
                <a:cs typeface="Hiragino Mincho ProN" pitchFamily="34" charset="-120"/>
              </a:rPr>
              <a:t>01</a:t>
            </a:r>
            <a:endParaRPr lang="ja-JP" sz="2400" dirty="0"/>
          </a:p>
        </p:txBody>
      </p:sp>
      <p:sp>
        <p:nvSpPr>
          <p:cNvPr id="17" name="Text 11"/>
          <p:cNvSpPr txBox="1"/>
          <p:nvPr/>
        </p:nvSpPr>
        <p:spPr>
          <a:xfrm>
            <a:off x="6812280" y="2167128"/>
            <a:ext cx="4754880" cy="329184"/>
          </a:xfrm>
          <a:prstGeom prst="rect">
            <a:avLst/>
          </a:prstGeom>
          <a:noFill/>
          <a:ln/>
        </p:spPr>
        <p:txBody>
          <a:bodyPr wrap="square" lIns="0" tIns="0" rIns="0" bIns="0" rtlCol="0" anchor="t"/>
          <a:lstStyle/>
          <a:p>
            <a:pPr indent="0" marL="0">
              <a:buNone/>
            </a:pPr>
            <a:r>
              <a:rPr lang="ja-JP" altLang="en-US" sz="1700" b="1" dirty="0">
                <a:solidFill>
                  <a:srgbClr val="1C1A1A"/>
                </a:solidFill>
                <a:latin typeface="Hiragino Kaku Gothic ProN" pitchFamily="34" charset="0"/>
                <a:ea typeface="Hiragino Kaku Gothic ProN" pitchFamily="34" charset="-128"/>
                <a:cs typeface="Hiragino Kaku Gothic ProN" pitchFamily="34" charset="-120"/>
              </a:rPr>
              <a:t>使命</a:t>
            </a:r>
            <a:endParaRPr lang="ja-JP" sz="1700" dirty="0"/>
          </a:p>
        </p:txBody>
      </p:sp>
      <p:sp>
        <p:nvSpPr>
          <p:cNvPr id="18" name="Text 12"/>
          <p:cNvSpPr txBox="1"/>
          <p:nvPr/>
        </p:nvSpPr>
        <p:spPr>
          <a:xfrm>
            <a:off x="6812280" y="2532888"/>
            <a:ext cx="4846320" cy="457200"/>
          </a:xfrm>
          <a:prstGeom prst="rect">
            <a:avLst/>
          </a:prstGeom>
          <a:noFill/>
          <a:ln/>
        </p:spPr>
        <p:txBody>
          <a:bodyPr wrap="square" lIns="0" tIns="0" rIns="0" bIns="0" rtlCol="0" anchor="t"/>
          <a:lstStyle/>
          <a:p>
            <a:pPr indent="0" marL="0">
              <a:buNone/>
            </a:pPr>
            <a:r>
              <a:rPr lang="ja-JP" altLang="en-US" sz="1300" dirty="0">
                <a:solidFill>
                  <a:srgbClr val="3A3434"/>
                </a:solidFill>
                <a:latin typeface="Hiragino Kaku Gothic ProN" pitchFamily="34" charset="0"/>
                <a:ea typeface="Hiragino Kaku Gothic ProN" pitchFamily="34" charset="-128"/>
                <a:cs typeface="Hiragino Kaku Gothic ProN" pitchFamily="34" charset="-120"/>
              </a:rPr>
              <a:t>「財産」ではなく「人生」に着目する。それがすべての出発点。</a:t>
            </a:r>
            <a:endParaRPr lang="ja-JP" sz="1300" dirty="0"/>
          </a:p>
        </p:txBody>
      </p:sp>
      <p:sp>
        <p:nvSpPr>
          <p:cNvPr id="19" name="Text 13"/>
          <p:cNvSpPr txBox="1"/>
          <p:nvPr/>
        </p:nvSpPr>
        <p:spPr>
          <a:xfrm>
            <a:off x="6035040" y="3044952"/>
            <a:ext cx="731520" cy="457200"/>
          </a:xfrm>
          <a:prstGeom prst="rect">
            <a:avLst/>
          </a:prstGeom>
          <a:noFill/>
          <a:ln/>
        </p:spPr>
        <p:txBody>
          <a:bodyPr wrap="square" lIns="0" tIns="0" rIns="0" bIns="0" rtlCol="0" anchor="t"/>
          <a:lstStyle/>
          <a:p>
            <a:pPr indent="0" marL="0">
              <a:buNone/>
            </a:pPr>
            <a:r>
              <a:rPr lang="ja-JP" altLang="en-US" sz="2400" dirty="0">
                <a:solidFill>
                  <a:srgbClr val="8C6E63"/>
                </a:solidFill>
                <a:latin typeface="Hiragino Mincho ProN" pitchFamily="34" charset="0"/>
                <a:ea typeface="Hiragino Mincho ProN" pitchFamily="34" charset="-128"/>
                <a:cs typeface="Hiragino Mincho ProN" pitchFamily="34" charset="-120"/>
              </a:rPr>
              <a:t>02</a:t>
            </a:r>
            <a:endParaRPr lang="ja-JP" sz="2400" dirty="0"/>
          </a:p>
        </p:txBody>
      </p:sp>
      <p:sp>
        <p:nvSpPr>
          <p:cNvPr id="20" name="Text 14"/>
          <p:cNvSpPr txBox="1"/>
          <p:nvPr/>
        </p:nvSpPr>
        <p:spPr>
          <a:xfrm>
            <a:off x="6812280" y="3063240"/>
            <a:ext cx="4754880" cy="329184"/>
          </a:xfrm>
          <a:prstGeom prst="rect">
            <a:avLst/>
          </a:prstGeom>
          <a:noFill/>
          <a:ln/>
        </p:spPr>
        <p:txBody>
          <a:bodyPr wrap="square" lIns="0" tIns="0" rIns="0" bIns="0" rtlCol="0" anchor="t"/>
          <a:lstStyle/>
          <a:p>
            <a:pPr indent="0" marL="0">
              <a:buNone/>
            </a:pPr>
            <a:r>
              <a:rPr lang="ja-JP" altLang="en-US" sz="1700" b="1" dirty="0">
                <a:solidFill>
                  <a:srgbClr val="1C1A1A"/>
                </a:solidFill>
                <a:latin typeface="Hiragino Kaku Gothic ProN" pitchFamily="34" charset="0"/>
                <a:ea typeface="Hiragino Kaku Gothic ProN" pitchFamily="34" charset="-128"/>
                <a:cs typeface="Hiragino Kaku Gothic ProN" pitchFamily="34" charset="-120"/>
              </a:rPr>
              <a:t>ブランディング</a:t>
            </a:r>
            <a:endParaRPr lang="ja-JP" sz="1700" dirty="0"/>
          </a:p>
        </p:txBody>
      </p:sp>
      <p:sp>
        <p:nvSpPr>
          <p:cNvPr id="21" name="Text 15"/>
          <p:cNvSpPr txBox="1"/>
          <p:nvPr/>
        </p:nvSpPr>
        <p:spPr>
          <a:xfrm>
            <a:off x="6812280" y="3429000"/>
            <a:ext cx="4846320" cy="457200"/>
          </a:xfrm>
          <a:prstGeom prst="rect">
            <a:avLst/>
          </a:prstGeom>
          <a:noFill/>
          <a:ln/>
        </p:spPr>
        <p:txBody>
          <a:bodyPr wrap="square" lIns="0" tIns="0" rIns="0" bIns="0" rtlCol="0" anchor="t"/>
          <a:lstStyle/>
          <a:p>
            <a:pPr indent="0" marL="0">
              <a:buNone/>
            </a:pPr>
            <a:r>
              <a:rPr lang="ja-JP" altLang="en-US" sz="1300" dirty="0">
                <a:solidFill>
                  <a:srgbClr val="3A3434"/>
                </a:solidFill>
                <a:latin typeface="Hiragino Kaku Gothic ProN" pitchFamily="34" charset="0"/>
                <a:ea typeface="Hiragino Kaku Gothic ProN" pitchFamily="34" charset="-128"/>
                <a:cs typeface="Hiragino Kaku Gothic ProN" pitchFamily="34" charset="-120"/>
              </a:rPr>
              <a:t>「私は何者なのか？」他との違いを自分の言葉で語れるか。</a:t>
            </a:r>
            <a:endParaRPr lang="ja-JP" sz="1300" dirty="0"/>
          </a:p>
        </p:txBody>
      </p:sp>
      <p:sp>
        <p:nvSpPr>
          <p:cNvPr id="22" name="Text 16"/>
          <p:cNvSpPr txBox="1"/>
          <p:nvPr/>
        </p:nvSpPr>
        <p:spPr>
          <a:xfrm>
            <a:off x="6035040" y="3941064"/>
            <a:ext cx="731520" cy="457200"/>
          </a:xfrm>
          <a:prstGeom prst="rect">
            <a:avLst/>
          </a:prstGeom>
          <a:noFill/>
          <a:ln/>
        </p:spPr>
        <p:txBody>
          <a:bodyPr wrap="square" lIns="0" tIns="0" rIns="0" bIns="0" rtlCol="0" anchor="t"/>
          <a:lstStyle/>
          <a:p>
            <a:pPr indent="0" marL="0">
              <a:buNone/>
            </a:pPr>
            <a:r>
              <a:rPr lang="ja-JP" altLang="en-US" sz="2400" dirty="0">
                <a:solidFill>
                  <a:srgbClr val="8C6E63"/>
                </a:solidFill>
                <a:latin typeface="Hiragino Mincho ProN" pitchFamily="34" charset="0"/>
                <a:ea typeface="Hiragino Mincho ProN" pitchFamily="34" charset="-128"/>
                <a:cs typeface="Hiragino Mincho ProN" pitchFamily="34" charset="-120"/>
              </a:rPr>
              <a:t>03</a:t>
            </a:r>
            <a:endParaRPr lang="ja-JP" sz="2400" dirty="0"/>
          </a:p>
        </p:txBody>
      </p:sp>
      <p:sp>
        <p:nvSpPr>
          <p:cNvPr id="23" name="Text 17"/>
          <p:cNvSpPr txBox="1"/>
          <p:nvPr/>
        </p:nvSpPr>
        <p:spPr>
          <a:xfrm>
            <a:off x="6812280" y="3959352"/>
            <a:ext cx="4754880" cy="329184"/>
          </a:xfrm>
          <a:prstGeom prst="rect">
            <a:avLst/>
          </a:prstGeom>
          <a:noFill/>
          <a:ln/>
        </p:spPr>
        <p:txBody>
          <a:bodyPr wrap="square" lIns="0" tIns="0" rIns="0" bIns="0" rtlCol="0" anchor="t"/>
          <a:lstStyle/>
          <a:p>
            <a:pPr indent="0" marL="0">
              <a:buNone/>
            </a:pPr>
            <a:r>
              <a:rPr lang="ja-JP" altLang="en-US" sz="1700" b="1" dirty="0">
                <a:solidFill>
                  <a:srgbClr val="1C1A1A"/>
                </a:solidFill>
                <a:latin typeface="Hiragino Kaku Gothic ProN" pitchFamily="34" charset="0"/>
                <a:ea typeface="Hiragino Kaku Gothic ProN" pitchFamily="34" charset="-128"/>
                <a:cs typeface="Hiragino Kaku Gothic ProN" pitchFamily="34" charset="-120"/>
              </a:rPr>
              <a:t>マーケティング</a:t>
            </a:r>
            <a:endParaRPr lang="ja-JP" sz="1700" dirty="0"/>
          </a:p>
        </p:txBody>
      </p:sp>
      <p:sp>
        <p:nvSpPr>
          <p:cNvPr id="24" name="Text 18"/>
          <p:cNvSpPr txBox="1"/>
          <p:nvPr/>
        </p:nvSpPr>
        <p:spPr>
          <a:xfrm>
            <a:off x="6812280" y="4325112"/>
            <a:ext cx="4846320" cy="457200"/>
          </a:xfrm>
          <a:prstGeom prst="rect">
            <a:avLst/>
          </a:prstGeom>
          <a:noFill/>
          <a:ln/>
        </p:spPr>
        <p:txBody>
          <a:bodyPr wrap="square" lIns="0" tIns="0" rIns="0" bIns="0" rtlCol="0" anchor="t"/>
          <a:lstStyle/>
          <a:p>
            <a:pPr indent="0" marL="0">
              <a:buNone/>
            </a:pPr>
            <a:r>
              <a:rPr lang="ja-JP" altLang="en-US" sz="1300" dirty="0">
                <a:solidFill>
                  <a:srgbClr val="3A3434"/>
                </a:solidFill>
                <a:latin typeface="Hiragino Kaku Gothic ProN" pitchFamily="34" charset="0"/>
                <a:ea typeface="Hiragino Kaku Gothic ProN" pitchFamily="34" charset="-128"/>
                <a:cs typeface="Hiragino Kaku Gothic ProN" pitchFamily="34" charset="-120"/>
              </a:rPr>
              <a:t>「誰に役立つのか？」必要な人との接点と導線を設計する。</a:t>
            </a:r>
            <a:endParaRPr lang="ja-JP" sz="1300" dirty="0"/>
          </a:p>
        </p:txBody>
      </p:sp>
      <p:sp>
        <p:nvSpPr>
          <p:cNvPr id="25" name="Text 19"/>
          <p:cNvSpPr txBox="1"/>
          <p:nvPr/>
        </p:nvSpPr>
        <p:spPr>
          <a:xfrm>
            <a:off x="6035040" y="4837176"/>
            <a:ext cx="731520" cy="457200"/>
          </a:xfrm>
          <a:prstGeom prst="rect">
            <a:avLst/>
          </a:prstGeom>
          <a:noFill/>
          <a:ln/>
        </p:spPr>
        <p:txBody>
          <a:bodyPr wrap="square" lIns="0" tIns="0" rIns="0" bIns="0" rtlCol="0" anchor="t"/>
          <a:lstStyle/>
          <a:p>
            <a:pPr indent="0" marL="0">
              <a:buNone/>
            </a:pPr>
            <a:r>
              <a:rPr lang="ja-JP" altLang="en-US" sz="2400" dirty="0">
                <a:solidFill>
                  <a:srgbClr val="8C6E63"/>
                </a:solidFill>
                <a:latin typeface="Hiragino Mincho ProN" pitchFamily="34" charset="0"/>
                <a:ea typeface="Hiragino Mincho ProN" pitchFamily="34" charset="-128"/>
                <a:cs typeface="Hiragino Mincho ProN" pitchFamily="34" charset="-120"/>
              </a:rPr>
              <a:t>04</a:t>
            </a:r>
            <a:endParaRPr lang="ja-JP" sz="2400" dirty="0"/>
          </a:p>
        </p:txBody>
      </p:sp>
      <p:sp>
        <p:nvSpPr>
          <p:cNvPr id="26" name="Text 20"/>
          <p:cNvSpPr txBox="1"/>
          <p:nvPr/>
        </p:nvSpPr>
        <p:spPr>
          <a:xfrm>
            <a:off x="6812280" y="4855464"/>
            <a:ext cx="4754880" cy="329184"/>
          </a:xfrm>
          <a:prstGeom prst="rect">
            <a:avLst/>
          </a:prstGeom>
          <a:noFill/>
          <a:ln/>
        </p:spPr>
        <p:txBody>
          <a:bodyPr wrap="square" lIns="0" tIns="0" rIns="0" bIns="0" rtlCol="0" anchor="t"/>
          <a:lstStyle/>
          <a:p>
            <a:pPr indent="0" marL="0">
              <a:buNone/>
            </a:pPr>
            <a:r>
              <a:rPr lang="ja-JP" altLang="en-US" sz="1700" b="1" dirty="0">
                <a:solidFill>
                  <a:srgbClr val="1C1A1A"/>
                </a:solidFill>
                <a:latin typeface="Hiragino Kaku Gothic ProN" pitchFamily="34" charset="0"/>
                <a:ea typeface="Hiragino Kaku Gothic ProN" pitchFamily="34" charset="-128"/>
                <a:cs typeface="Hiragino Kaku Gothic ProN" pitchFamily="34" charset="-120"/>
              </a:rPr>
              <a:t>日々の行動・発信</a:t>
            </a:r>
            <a:endParaRPr lang="ja-JP" sz="1700" dirty="0"/>
          </a:p>
        </p:txBody>
      </p:sp>
      <p:sp>
        <p:nvSpPr>
          <p:cNvPr id="27" name="Text 21"/>
          <p:cNvSpPr txBox="1"/>
          <p:nvPr/>
        </p:nvSpPr>
        <p:spPr>
          <a:xfrm>
            <a:off x="6812280" y="5221224"/>
            <a:ext cx="4846320" cy="457200"/>
          </a:xfrm>
          <a:prstGeom prst="rect">
            <a:avLst/>
          </a:prstGeom>
          <a:noFill/>
          <a:ln/>
        </p:spPr>
        <p:txBody>
          <a:bodyPr wrap="square" lIns="0" tIns="0" rIns="0" bIns="0" rtlCol="0" anchor="t"/>
          <a:lstStyle/>
          <a:p>
            <a:pPr indent="0" marL="0">
              <a:buNone/>
            </a:pPr>
            <a:r>
              <a:rPr lang="ja-JP" altLang="en-US" sz="1300" dirty="0">
                <a:solidFill>
                  <a:srgbClr val="3A3434"/>
                </a:solidFill>
                <a:latin typeface="Hiragino Kaku Gothic ProN" pitchFamily="34" charset="0"/>
                <a:ea typeface="Hiragino Kaku Gothic ProN" pitchFamily="34" charset="-128"/>
                <a:cs typeface="Hiragino Kaku Gothic ProN" pitchFamily="34" charset="-120"/>
              </a:rPr>
              <a:t>共感・信頼・紹介が生まれ、「この人に相談したい」へ。</a:t>
            </a:r>
            <a:endParaRPr lang="ja-JP" sz="1300" dirty="0"/>
          </a:p>
        </p:txBody>
      </p:sp>
      <p:sp>
        <p:nvSpPr>
          <p:cNvPr id="28" name="Text 22"/>
          <p:cNvSpPr txBox="1"/>
          <p:nvPr/>
        </p:nvSpPr>
        <p:spPr>
          <a:xfrm>
            <a:off x="6035040" y="5806440"/>
            <a:ext cx="5577840" cy="365760"/>
          </a:xfrm>
          <a:prstGeom prst="rect">
            <a:avLst/>
          </a:prstGeom>
          <a:noFill/>
          <a:ln/>
        </p:spPr>
        <p:txBody>
          <a:bodyPr wrap="square" lIns="0" tIns="0" rIns="0" bIns="0" rtlCol="0" anchor="t"/>
          <a:lstStyle/>
          <a:p>
            <a:pPr indent="0" marL="0">
              <a:buNone/>
            </a:pPr>
            <a:r>
              <a:rPr lang="ja-JP" altLang="en-US" sz="1500" dirty="0">
                <a:solidFill>
                  <a:srgbClr val="B8432F"/>
                </a:solidFill>
                <a:latin typeface="Hiragino Mincho ProN" pitchFamily="34" charset="0"/>
                <a:ea typeface="Hiragino Mincho ProN" pitchFamily="34" charset="-128"/>
                <a:cs typeface="Hiragino Mincho ProN" pitchFamily="34" charset="-120"/>
              </a:rPr>
              <a:t>現場での経験が使命と発信を磨き、好循環が生まれる。</a:t>
            </a:r>
            <a:endParaRPr lang="ja-JP"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7315200" cy="274320"/>
          </a:xfrm>
          <a:prstGeom prst="rect">
            <a:avLst/>
          </a:prstGeom>
          <a:noFill/>
          <a:ln/>
        </p:spPr>
        <p:txBody>
          <a:bodyPr wrap="square" lIns="0" tIns="0" rIns="0" bIns="0" rtlCol="0" anchor="ctr"/>
          <a:lstStyle/>
          <a:p>
            <a:pPr indent="0" marL="0">
              <a:buNone/>
            </a:pPr>
            <a:r>
              <a:rPr lang="en-US" sz="1100" b="1" spc="200" kern="0" dirty="0">
                <a:solidFill>
                  <a:srgbClr val="B8432F"/>
                </a:solidFill>
                <a:latin typeface="Hiragino Kaku Gothic ProN" pitchFamily="34" charset="0"/>
                <a:ea typeface="Hiragino Kaku Gothic ProN" pitchFamily="34" charset="-128"/>
                <a:cs typeface="Hiragino Kaku Gothic ProN" pitchFamily="34" charset="-120"/>
              </a:rPr>
              <a:t>PROGRAM ｜ 90 MIN</a:t>
            </a:r>
            <a:endParaRPr lang="en-US" sz="11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dirty="0">
                <a:solidFill>
                  <a:srgbClr val="1C1A1A"/>
                </a:solidFill>
                <a:latin typeface="Hiragino Mincho ProN" pitchFamily="34" charset="0"/>
                <a:ea typeface="Hiragino Mincho ProN" pitchFamily="34" charset="-128"/>
                <a:cs typeface="Hiragino Mincho ProN" pitchFamily="34" charset="-120"/>
              </a:rPr>
              <a:t>90分のオンラインサロン構成</a:t>
            </a:r>
            <a:endParaRPr lang="en-US" sz="3000" dirty="0"/>
          </a:p>
        </p:txBody>
      </p:sp>
      <p:sp>
        <p:nvSpPr>
          <p:cNvPr id="4" name="Text 2"/>
          <p:cNvSpPr txBox="1"/>
          <p:nvPr/>
        </p:nvSpPr>
        <p:spPr>
          <a:xfrm>
            <a:off x="548640" y="1600200"/>
            <a:ext cx="2103120" cy="274320"/>
          </a:xfrm>
          <a:prstGeom prst="rect">
            <a:avLst/>
          </a:prstGeom>
          <a:noFill/>
          <a:ln/>
        </p:spPr>
        <p:txBody>
          <a:bodyPr wrap="square" lIns="0" tIns="0" rIns="0" bIns="0" rtlCol="0" anchor="t"/>
          <a:lstStyle/>
          <a:p>
            <a:pPr indent="0" marL="0">
              <a:buNone/>
            </a:pPr>
            <a:r>
              <a:rPr lang="ja-JP" altLang="en-US" sz="1000" b="1" spc="200" kern="0" dirty="0">
                <a:solidFill>
                  <a:srgbClr val="8A8380"/>
                </a:solidFill>
                <a:latin typeface="Hiragino Kaku Gothic ProN" pitchFamily="34" charset="0"/>
                <a:ea typeface="Hiragino Kaku Gothic ProN" pitchFamily="34" charset="-128"/>
                <a:cs typeface="Hiragino Kaku Gothic ProN" pitchFamily="34" charset="-120"/>
              </a:rPr>
              <a:t>TIME</a:t>
            </a:r>
            <a:endParaRPr lang="ja-JP" sz="1000" dirty="0"/>
          </a:p>
        </p:txBody>
      </p:sp>
      <p:sp>
        <p:nvSpPr>
          <p:cNvPr id="5" name="Text 3"/>
          <p:cNvSpPr txBox="1"/>
          <p:nvPr/>
        </p:nvSpPr>
        <p:spPr>
          <a:xfrm>
            <a:off x="2148840" y="1600200"/>
            <a:ext cx="2103120" cy="274320"/>
          </a:xfrm>
          <a:prstGeom prst="rect">
            <a:avLst/>
          </a:prstGeom>
          <a:noFill/>
          <a:ln/>
        </p:spPr>
        <p:txBody>
          <a:bodyPr wrap="square" lIns="0" tIns="0" rIns="0" bIns="0" rtlCol="0" anchor="t"/>
          <a:lstStyle/>
          <a:p>
            <a:pPr indent="0" marL="0">
              <a:buNone/>
            </a:pPr>
            <a:r>
              <a:rPr lang="ja-JP" altLang="en-US" sz="1000" b="1" spc="200" kern="0" dirty="0">
                <a:solidFill>
                  <a:srgbClr val="8A8380"/>
                </a:solidFill>
                <a:latin typeface="Hiragino Kaku Gothic ProN" pitchFamily="34" charset="0"/>
                <a:ea typeface="Hiragino Kaku Gothic ProN" pitchFamily="34" charset="-128"/>
                <a:cs typeface="Hiragino Kaku Gothic ProN" pitchFamily="34" charset="-120"/>
              </a:rPr>
              <a:t>THEME</a:t>
            </a:r>
            <a:endParaRPr lang="ja-JP" sz="1000" dirty="0"/>
          </a:p>
        </p:txBody>
      </p:sp>
      <p:sp>
        <p:nvSpPr>
          <p:cNvPr id="6" name="Text 4"/>
          <p:cNvSpPr txBox="1"/>
          <p:nvPr/>
        </p:nvSpPr>
        <p:spPr>
          <a:xfrm>
            <a:off x="6172200" y="1600200"/>
            <a:ext cx="2103120" cy="274320"/>
          </a:xfrm>
          <a:prstGeom prst="rect">
            <a:avLst/>
          </a:prstGeom>
          <a:noFill/>
          <a:ln/>
        </p:spPr>
        <p:txBody>
          <a:bodyPr wrap="square" lIns="0" tIns="0" rIns="0" bIns="0" rtlCol="0" anchor="t"/>
          <a:lstStyle/>
          <a:p>
            <a:pPr indent="0" marL="0">
              <a:buNone/>
            </a:pPr>
            <a:r>
              <a:rPr lang="ja-JP" altLang="en-US" sz="1000" b="1" spc="200" kern="0" dirty="0">
                <a:solidFill>
                  <a:srgbClr val="8A8380"/>
                </a:solidFill>
                <a:latin typeface="Hiragino Kaku Gothic ProN" pitchFamily="34" charset="0"/>
                <a:ea typeface="Hiragino Kaku Gothic ProN" pitchFamily="34" charset="-128"/>
                <a:cs typeface="Hiragino Kaku Gothic ProN" pitchFamily="34" charset="-120"/>
              </a:rPr>
              <a:t>MESSAGE</a:t>
            </a:r>
            <a:endParaRPr lang="ja-JP" sz="1000" dirty="0"/>
          </a:p>
        </p:txBody>
      </p:sp>
      <p:sp>
        <p:nvSpPr>
          <p:cNvPr id="7" name="Text 5"/>
          <p:cNvSpPr txBox="1"/>
          <p:nvPr/>
        </p:nvSpPr>
        <p:spPr>
          <a:xfrm>
            <a:off x="9555480" y="1600200"/>
            <a:ext cx="2103120" cy="274320"/>
          </a:xfrm>
          <a:prstGeom prst="rect">
            <a:avLst/>
          </a:prstGeom>
          <a:noFill/>
          <a:ln/>
        </p:spPr>
        <p:txBody>
          <a:bodyPr wrap="square" lIns="0" tIns="0" rIns="0" bIns="0" rtlCol="0" anchor="t"/>
          <a:lstStyle/>
          <a:p>
            <a:pPr indent="0" marL="0">
              <a:buNone/>
            </a:pPr>
            <a:r>
              <a:rPr lang="ja-JP" altLang="en-US" sz="1000" b="1" spc="200" kern="0" dirty="0">
                <a:solidFill>
                  <a:srgbClr val="8A8380"/>
                </a:solidFill>
                <a:latin typeface="Hiragino Kaku Gothic ProN" pitchFamily="34" charset="0"/>
                <a:ea typeface="Hiragino Kaku Gothic ProN" pitchFamily="34" charset="-128"/>
                <a:cs typeface="Hiragino Kaku Gothic ProN" pitchFamily="34" charset="-120"/>
              </a:rPr>
              <a:t>0 ─ 90 MIN</a:t>
            </a:r>
            <a:endParaRPr lang="ja-JP" sz="1000" dirty="0"/>
          </a:p>
        </p:txBody>
      </p:sp>
      <p:sp>
        <p:nvSpPr>
          <p:cNvPr id="8" name="Shape 6"/>
          <p:cNvSpPr/>
          <p:nvPr/>
        </p:nvSpPr>
        <p:spPr>
          <a:xfrm>
            <a:off x="548640" y="1965960"/>
            <a:ext cx="11091672" cy="0"/>
          </a:xfrm>
          <a:prstGeom prst="line">
            <a:avLst/>
          </a:prstGeom>
          <a:noFill/>
          <a:ln w="9525">
            <a:solidFill>
              <a:srgbClr val="D9D2CC"/>
            </a:solidFill>
            <a:prstDash val="solid"/>
          </a:ln>
        </p:spPr>
      </p:sp>
      <p:sp>
        <p:nvSpPr>
          <p:cNvPr id="9" name="Text 7"/>
          <p:cNvSpPr txBox="1"/>
          <p:nvPr/>
        </p:nvSpPr>
        <p:spPr>
          <a:xfrm>
            <a:off x="548640" y="2057400"/>
            <a:ext cx="1554480" cy="502920"/>
          </a:xfrm>
          <a:prstGeom prst="rect">
            <a:avLst/>
          </a:prstGeom>
          <a:noFill/>
          <a:ln/>
        </p:spPr>
        <p:txBody>
          <a:bodyPr wrap="square" lIns="0" tIns="0" rIns="0" bIns="0" rtlCol="0" anchor="ctr"/>
          <a:lstStyle/>
          <a:p>
            <a:pPr indent="0" marL="0">
              <a:buNone/>
            </a:pPr>
            <a:r>
              <a:rPr lang="ja-JP" altLang="en-US" sz="2200" dirty="0">
                <a:solidFill>
                  <a:srgbClr val="1C1A1A"/>
                </a:solidFill>
                <a:latin typeface="Hiragino Mincho ProN" pitchFamily="34" charset="0"/>
                <a:ea typeface="Hiragino Mincho ProN" pitchFamily="34" charset="-128"/>
                <a:cs typeface="Hiragino Mincho ProN" pitchFamily="34" charset="-120"/>
              </a:rPr>
              <a:t>0–15</a:t>
            </a:r>
            <a:pPr indent="0" marL="0">
              <a:buNone/>
            </a:pPr>
            <a:r>
              <a:rPr lang="ja-JP" altLang="en-US" sz="1100" dirty="0">
                <a:solidFill>
                  <a:srgbClr val="8A8380"/>
                </a:solidFill>
                <a:latin typeface="Hiragino Kaku Gothic ProN" pitchFamily="34" charset="0"/>
                <a:ea typeface="Hiragino Kaku Gothic ProN" pitchFamily="34" charset="-128"/>
                <a:cs typeface="Hiragino Kaku Gothic ProN" pitchFamily="34" charset="-120"/>
              </a:rPr>
              <a:t> 分</a:t>
            </a:r>
            <a:endParaRPr lang="ja-JP" sz="2200" dirty="0"/>
          </a:p>
        </p:txBody>
      </p:sp>
      <p:sp>
        <p:nvSpPr>
          <p:cNvPr id="10" name="Text 8"/>
          <p:cNvSpPr txBox="1"/>
          <p:nvPr/>
        </p:nvSpPr>
        <p:spPr>
          <a:xfrm>
            <a:off x="2148840" y="2057400"/>
            <a:ext cx="3840480" cy="502920"/>
          </a:xfrm>
          <a:prstGeom prst="rect">
            <a:avLst/>
          </a:prstGeom>
          <a:noFill/>
          <a:ln/>
        </p:spPr>
        <p:txBody>
          <a:bodyPr wrap="square" lIns="0" tIns="0" rIns="0" bIns="0" rtlCol="0" anchor="ctr"/>
          <a:lstStyle/>
          <a:p>
            <a:pPr indent="0" marL="0">
              <a:buNone/>
            </a:pPr>
            <a:r>
              <a:rPr lang="ja-JP" altLang="en-US" sz="1500" b="1" dirty="0">
                <a:solidFill>
                  <a:srgbClr val="1C1A1A"/>
                </a:solidFill>
                <a:latin typeface="Hiragino Kaku Gothic ProN" pitchFamily="34" charset="0"/>
                <a:ea typeface="Hiragino Kaku Gothic ProN" pitchFamily="34" charset="-128"/>
                <a:cs typeface="Hiragino Kaku Gothic ProN" pitchFamily="34" charset="-120"/>
              </a:rPr>
              <a:t>なぜ松本には相談が途切れないのか</a:t>
            </a:r>
            <a:endParaRPr lang="ja-JP" sz="1500" dirty="0"/>
          </a:p>
        </p:txBody>
      </p:sp>
      <p:sp>
        <p:nvSpPr>
          <p:cNvPr id="11" name="Text 9"/>
          <p:cNvSpPr txBox="1"/>
          <p:nvPr/>
        </p:nvSpPr>
        <p:spPr>
          <a:xfrm>
            <a:off x="6172200" y="2057400"/>
            <a:ext cx="3200400" cy="502920"/>
          </a:xfrm>
          <a:prstGeom prst="rect">
            <a:avLst/>
          </a:prstGeom>
          <a:noFill/>
          <a:ln/>
        </p:spPr>
        <p:txBody>
          <a:bodyPr wrap="square" lIns="0" tIns="0" rIns="0" bIns="0" rtlCol="0" anchor="ctr"/>
          <a:lstStyle/>
          <a:p>
            <a:pPr indent="0" marL="0">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集客より先に、自分の立ち位置を決める</a:t>
            </a:r>
            <a:endParaRPr lang="ja-JP" sz="1250" dirty="0"/>
          </a:p>
        </p:txBody>
      </p:sp>
      <p:sp>
        <p:nvSpPr>
          <p:cNvPr id="12" name="Shape 10"/>
          <p:cNvSpPr/>
          <p:nvPr/>
        </p:nvSpPr>
        <p:spPr>
          <a:xfrm>
            <a:off x="9555480" y="2258568"/>
            <a:ext cx="2084832" cy="100584"/>
          </a:xfrm>
          <a:prstGeom prst="rect">
            <a:avLst/>
          </a:prstGeom>
          <a:solidFill>
            <a:srgbClr val="F4F0EC"/>
          </a:solidFill>
          <a:ln/>
        </p:spPr>
      </p:sp>
      <p:sp>
        <p:nvSpPr>
          <p:cNvPr id="13" name="gantt"/>
          <p:cNvSpPr/>
          <p:nvPr/>
        </p:nvSpPr>
        <p:spPr>
          <a:xfrm>
            <a:off x="9555480" y="2212848"/>
            <a:ext cx="347472" cy="192024"/>
          </a:xfrm>
          <a:prstGeom prst="rect">
            <a:avLst/>
          </a:prstGeom>
          <a:solidFill>
            <a:srgbClr val="1C1A1A"/>
          </a:solidFill>
          <a:ln/>
        </p:spPr>
      </p:sp>
      <p:sp>
        <p:nvSpPr>
          <p:cNvPr id="14" name="Shape 12"/>
          <p:cNvSpPr/>
          <p:nvPr/>
        </p:nvSpPr>
        <p:spPr>
          <a:xfrm>
            <a:off x="548640" y="2651760"/>
            <a:ext cx="11091672" cy="0"/>
          </a:xfrm>
          <a:prstGeom prst="line">
            <a:avLst/>
          </a:prstGeom>
          <a:noFill/>
          <a:ln w="9525">
            <a:solidFill>
              <a:srgbClr val="D9D2CC"/>
            </a:solidFill>
            <a:prstDash val="solid"/>
          </a:ln>
        </p:spPr>
      </p:sp>
      <p:sp>
        <p:nvSpPr>
          <p:cNvPr id="15" name="Text 13"/>
          <p:cNvSpPr txBox="1"/>
          <p:nvPr/>
        </p:nvSpPr>
        <p:spPr>
          <a:xfrm>
            <a:off x="548640" y="2743200"/>
            <a:ext cx="1554480" cy="502920"/>
          </a:xfrm>
          <a:prstGeom prst="rect">
            <a:avLst/>
          </a:prstGeom>
          <a:noFill/>
          <a:ln/>
        </p:spPr>
        <p:txBody>
          <a:bodyPr wrap="square" lIns="0" tIns="0" rIns="0" bIns="0" rtlCol="0" anchor="ctr"/>
          <a:lstStyle/>
          <a:p>
            <a:pPr indent="0" marL="0">
              <a:buNone/>
            </a:pPr>
            <a:r>
              <a:rPr lang="ja-JP" altLang="en-US" sz="2200" dirty="0">
                <a:solidFill>
                  <a:srgbClr val="1C1A1A"/>
                </a:solidFill>
                <a:latin typeface="Hiragino Mincho ProN" pitchFamily="34" charset="0"/>
                <a:ea typeface="Hiragino Mincho ProN" pitchFamily="34" charset="-128"/>
                <a:cs typeface="Hiragino Mincho ProN" pitchFamily="34" charset="-120"/>
              </a:rPr>
              <a:t>15–35</a:t>
            </a:r>
            <a:pPr indent="0" marL="0">
              <a:buNone/>
            </a:pPr>
            <a:r>
              <a:rPr lang="ja-JP" altLang="en-US" sz="1100" dirty="0">
                <a:solidFill>
                  <a:srgbClr val="8A8380"/>
                </a:solidFill>
                <a:latin typeface="Hiragino Kaku Gothic ProN" pitchFamily="34" charset="0"/>
                <a:ea typeface="Hiragino Kaku Gothic ProN" pitchFamily="34" charset="-128"/>
                <a:cs typeface="Hiragino Kaku Gothic ProN" pitchFamily="34" charset="-120"/>
              </a:rPr>
              <a:t> 分</a:t>
            </a:r>
            <a:endParaRPr lang="ja-JP" sz="2200" dirty="0"/>
          </a:p>
        </p:txBody>
      </p:sp>
      <p:sp>
        <p:nvSpPr>
          <p:cNvPr id="16" name="Text 14"/>
          <p:cNvSpPr txBox="1"/>
          <p:nvPr/>
        </p:nvSpPr>
        <p:spPr>
          <a:xfrm>
            <a:off x="2148840" y="2743200"/>
            <a:ext cx="3840480" cy="502920"/>
          </a:xfrm>
          <a:prstGeom prst="rect">
            <a:avLst/>
          </a:prstGeom>
          <a:noFill/>
          <a:ln/>
        </p:spPr>
        <p:txBody>
          <a:bodyPr wrap="square" lIns="0" tIns="0" rIns="0" bIns="0" rtlCol="0" anchor="ctr"/>
          <a:lstStyle/>
          <a:p>
            <a:pPr indent="0" marL="0">
              <a:buNone/>
            </a:pPr>
            <a:r>
              <a:rPr lang="ja-JP" altLang="en-US" sz="1500" b="1" dirty="0">
                <a:solidFill>
                  <a:srgbClr val="1C1A1A"/>
                </a:solidFill>
                <a:latin typeface="Hiragino Kaku Gothic ProN" pitchFamily="34" charset="0"/>
                <a:ea typeface="Hiragino Kaku Gothic ProN" pitchFamily="34" charset="-128"/>
                <a:cs typeface="Hiragino Kaku Gothic ProN" pitchFamily="34" charset="-120"/>
              </a:rPr>
              <a:t>絞ることでNo.1を目指す</a:t>
            </a:r>
            <a:endParaRPr lang="ja-JP" sz="1500" dirty="0"/>
          </a:p>
        </p:txBody>
      </p:sp>
      <p:sp>
        <p:nvSpPr>
          <p:cNvPr id="17" name="Text 15"/>
          <p:cNvSpPr txBox="1"/>
          <p:nvPr/>
        </p:nvSpPr>
        <p:spPr>
          <a:xfrm>
            <a:off x="6172200" y="2743200"/>
            <a:ext cx="3200400" cy="502920"/>
          </a:xfrm>
          <a:prstGeom prst="rect">
            <a:avLst/>
          </a:prstGeom>
          <a:noFill/>
          <a:ln/>
        </p:spPr>
        <p:txBody>
          <a:bodyPr wrap="square" lIns="0" tIns="0" rIns="0" bIns="0" rtlCol="0" anchor="ctr"/>
          <a:lstStyle/>
          <a:p>
            <a:pPr indent="0" marL="0">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誰を追いかけないか、何をしないかを明確にする</a:t>
            </a:r>
            <a:endParaRPr lang="ja-JP" sz="1250" dirty="0"/>
          </a:p>
        </p:txBody>
      </p:sp>
      <p:sp>
        <p:nvSpPr>
          <p:cNvPr id="18" name="Shape 16"/>
          <p:cNvSpPr/>
          <p:nvPr/>
        </p:nvSpPr>
        <p:spPr>
          <a:xfrm>
            <a:off x="9555480" y="2944368"/>
            <a:ext cx="2084832" cy="100584"/>
          </a:xfrm>
          <a:prstGeom prst="rect">
            <a:avLst/>
          </a:prstGeom>
          <a:solidFill>
            <a:srgbClr val="F4F0EC"/>
          </a:solidFill>
          <a:ln/>
        </p:spPr>
      </p:sp>
      <p:sp>
        <p:nvSpPr>
          <p:cNvPr id="19" name="gantt"/>
          <p:cNvSpPr/>
          <p:nvPr/>
        </p:nvSpPr>
        <p:spPr>
          <a:xfrm>
            <a:off x="9902952" y="2898648"/>
            <a:ext cx="463296" cy="192024"/>
          </a:xfrm>
          <a:prstGeom prst="rect">
            <a:avLst/>
          </a:prstGeom>
          <a:solidFill>
            <a:srgbClr val="1C1A1A"/>
          </a:solidFill>
          <a:ln/>
        </p:spPr>
      </p:sp>
      <p:sp>
        <p:nvSpPr>
          <p:cNvPr id="20" name="Shape 18"/>
          <p:cNvSpPr/>
          <p:nvPr/>
        </p:nvSpPr>
        <p:spPr>
          <a:xfrm>
            <a:off x="548640" y="3337560"/>
            <a:ext cx="11091672" cy="0"/>
          </a:xfrm>
          <a:prstGeom prst="line">
            <a:avLst/>
          </a:prstGeom>
          <a:noFill/>
          <a:ln w="9525">
            <a:solidFill>
              <a:srgbClr val="D9D2CC"/>
            </a:solidFill>
            <a:prstDash val="solid"/>
          </a:ln>
        </p:spPr>
      </p:sp>
      <p:sp>
        <p:nvSpPr>
          <p:cNvPr id="21" name="Text 19"/>
          <p:cNvSpPr txBox="1"/>
          <p:nvPr/>
        </p:nvSpPr>
        <p:spPr>
          <a:xfrm>
            <a:off x="548640" y="3429000"/>
            <a:ext cx="1554480" cy="502920"/>
          </a:xfrm>
          <a:prstGeom prst="rect">
            <a:avLst/>
          </a:prstGeom>
          <a:noFill/>
          <a:ln/>
        </p:spPr>
        <p:txBody>
          <a:bodyPr wrap="square" lIns="0" tIns="0" rIns="0" bIns="0" rtlCol="0" anchor="ctr"/>
          <a:lstStyle/>
          <a:p>
            <a:pPr indent="0" marL="0">
              <a:buNone/>
            </a:pPr>
            <a:r>
              <a:rPr lang="ja-JP" altLang="en-US" sz="2200" dirty="0">
                <a:solidFill>
                  <a:srgbClr val="1C1A1A"/>
                </a:solidFill>
                <a:latin typeface="Hiragino Mincho ProN" pitchFamily="34" charset="0"/>
                <a:ea typeface="Hiragino Mincho ProN" pitchFamily="34" charset="-128"/>
                <a:cs typeface="Hiragino Mincho ProN" pitchFamily="34" charset="-120"/>
              </a:rPr>
              <a:t>35–50</a:t>
            </a:r>
            <a:pPr indent="0" marL="0">
              <a:buNone/>
            </a:pPr>
            <a:r>
              <a:rPr lang="ja-JP" altLang="en-US" sz="1100" dirty="0">
                <a:solidFill>
                  <a:srgbClr val="8A8380"/>
                </a:solidFill>
                <a:latin typeface="Hiragino Kaku Gothic ProN" pitchFamily="34" charset="0"/>
                <a:ea typeface="Hiragino Kaku Gothic ProN" pitchFamily="34" charset="-128"/>
                <a:cs typeface="Hiragino Kaku Gothic ProN" pitchFamily="34" charset="-120"/>
              </a:rPr>
              <a:t> 分</a:t>
            </a:r>
            <a:endParaRPr lang="ja-JP" sz="2200" dirty="0"/>
          </a:p>
        </p:txBody>
      </p:sp>
      <p:sp>
        <p:nvSpPr>
          <p:cNvPr id="22" name="Text 20"/>
          <p:cNvSpPr txBox="1"/>
          <p:nvPr/>
        </p:nvSpPr>
        <p:spPr>
          <a:xfrm>
            <a:off x="2148840" y="3429000"/>
            <a:ext cx="3840480" cy="502920"/>
          </a:xfrm>
          <a:prstGeom prst="rect">
            <a:avLst/>
          </a:prstGeom>
          <a:noFill/>
          <a:ln/>
        </p:spPr>
        <p:txBody>
          <a:bodyPr wrap="square" lIns="0" tIns="0" rIns="0" bIns="0" rtlCol="0" anchor="ctr"/>
          <a:lstStyle/>
          <a:p>
            <a:pPr indent="0" marL="0">
              <a:buNone/>
            </a:pPr>
            <a:r>
              <a:rPr lang="ja-JP" altLang="en-US" sz="1500" b="1" dirty="0">
                <a:solidFill>
                  <a:srgbClr val="1C1A1A"/>
                </a:solidFill>
                <a:latin typeface="Hiragino Kaku Gothic ProN" pitchFamily="34" charset="0"/>
                <a:ea typeface="Hiragino Kaku Gothic ProN" pitchFamily="34" charset="-128"/>
                <a:cs typeface="Hiragino Kaku Gothic ProN" pitchFamily="34" charset="-120"/>
              </a:rPr>
              <a:t>自分の違いを語れるか</a:t>
            </a:r>
            <a:endParaRPr lang="ja-JP" sz="1500" dirty="0"/>
          </a:p>
        </p:txBody>
      </p:sp>
      <p:sp>
        <p:nvSpPr>
          <p:cNvPr id="23" name="Text 21"/>
          <p:cNvSpPr txBox="1"/>
          <p:nvPr/>
        </p:nvSpPr>
        <p:spPr>
          <a:xfrm>
            <a:off x="6172200" y="3429000"/>
            <a:ext cx="3200400" cy="502920"/>
          </a:xfrm>
          <a:prstGeom prst="rect">
            <a:avLst/>
          </a:prstGeom>
          <a:noFill/>
          <a:ln/>
        </p:spPr>
        <p:txBody>
          <a:bodyPr wrap="square" lIns="0" tIns="0" rIns="0" bIns="0" rtlCol="0" anchor="ctr"/>
          <a:lstStyle/>
          <a:p>
            <a:pPr indent="0" marL="0">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ブランディングは自分の言葉から始まる</a:t>
            </a:r>
            <a:endParaRPr lang="ja-JP" sz="1250" dirty="0"/>
          </a:p>
        </p:txBody>
      </p:sp>
      <p:sp>
        <p:nvSpPr>
          <p:cNvPr id="24" name="Shape 22"/>
          <p:cNvSpPr/>
          <p:nvPr/>
        </p:nvSpPr>
        <p:spPr>
          <a:xfrm>
            <a:off x="9555480" y="3630168"/>
            <a:ext cx="2084832" cy="100584"/>
          </a:xfrm>
          <a:prstGeom prst="rect">
            <a:avLst/>
          </a:prstGeom>
          <a:solidFill>
            <a:srgbClr val="F4F0EC"/>
          </a:solidFill>
          <a:ln/>
        </p:spPr>
      </p:sp>
      <p:sp>
        <p:nvSpPr>
          <p:cNvPr id="25" name="gantt"/>
          <p:cNvSpPr/>
          <p:nvPr/>
        </p:nvSpPr>
        <p:spPr>
          <a:xfrm>
            <a:off x="10366248" y="3584448"/>
            <a:ext cx="347472" cy="192024"/>
          </a:xfrm>
          <a:prstGeom prst="rect">
            <a:avLst/>
          </a:prstGeom>
          <a:solidFill>
            <a:srgbClr val="1C1A1A"/>
          </a:solidFill>
          <a:ln/>
        </p:spPr>
      </p:sp>
      <p:sp>
        <p:nvSpPr>
          <p:cNvPr id="26" name="Shape 24"/>
          <p:cNvSpPr/>
          <p:nvPr/>
        </p:nvSpPr>
        <p:spPr>
          <a:xfrm>
            <a:off x="548640" y="4023360"/>
            <a:ext cx="11091672" cy="0"/>
          </a:xfrm>
          <a:prstGeom prst="line">
            <a:avLst/>
          </a:prstGeom>
          <a:noFill/>
          <a:ln w="9525">
            <a:solidFill>
              <a:srgbClr val="D9D2CC"/>
            </a:solidFill>
            <a:prstDash val="solid"/>
          </a:ln>
        </p:spPr>
      </p:sp>
      <p:sp>
        <p:nvSpPr>
          <p:cNvPr id="27" name="Text 25"/>
          <p:cNvSpPr txBox="1"/>
          <p:nvPr/>
        </p:nvSpPr>
        <p:spPr>
          <a:xfrm>
            <a:off x="548640" y="4114800"/>
            <a:ext cx="1554480" cy="502920"/>
          </a:xfrm>
          <a:prstGeom prst="rect">
            <a:avLst/>
          </a:prstGeom>
          <a:noFill/>
          <a:ln/>
        </p:spPr>
        <p:txBody>
          <a:bodyPr wrap="square" lIns="0" tIns="0" rIns="0" bIns="0" rtlCol="0" anchor="ctr"/>
          <a:lstStyle/>
          <a:p>
            <a:pPr indent="0" marL="0">
              <a:buNone/>
            </a:pPr>
            <a:r>
              <a:rPr lang="ja-JP" altLang="en-US" sz="2200" dirty="0">
                <a:solidFill>
                  <a:srgbClr val="1C1A1A"/>
                </a:solidFill>
                <a:latin typeface="Hiragino Mincho ProN" pitchFamily="34" charset="0"/>
                <a:ea typeface="Hiragino Mincho ProN" pitchFamily="34" charset="-128"/>
                <a:cs typeface="Hiragino Mincho ProN" pitchFamily="34" charset="-120"/>
              </a:rPr>
              <a:t>50–65</a:t>
            </a:r>
            <a:pPr indent="0" marL="0">
              <a:buNone/>
            </a:pPr>
            <a:r>
              <a:rPr lang="ja-JP" altLang="en-US" sz="1100" dirty="0">
                <a:solidFill>
                  <a:srgbClr val="8A8380"/>
                </a:solidFill>
                <a:latin typeface="Hiragino Kaku Gothic ProN" pitchFamily="34" charset="0"/>
                <a:ea typeface="Hiragino Kaku Gothic ProN" pitchFamily="34" charset="-128"/>
                <a:cs typeface="Hiragino Kaku Gothic ProN" pitchFamily="34" charset="-120"/>
              </a:rPr>
              <a:t> 分</a:t>
            </a:r>
            <a:endParaRPr lang="ja-JP" sz="2200" dirty="0"/>
          </a:p>
        </p:txBody>
      </p:sp>
      <p:sp>
        <p:nvSpPr>
          <p:cNvPr id="28" name="Text 26"/>
          <p:cNvSpPr txBox="1"/>
          <p:nvPr/>
        </p:nvSpPr>
        <p:spPr>
          <a:xfrm>
            <a:off x="2148840" y="4114800"/>
            <a:ext cx="3840480" cy="502920"/>
          </a:xfrm>
          <a:prstGeom prst="rect">
            <a:avLst/>
          </a:prstGeom>
          <a:noFill/>
          <a:ln/>
        </p:spPr>
        <p:txBody>
          <a:bodyPr wrap="square" lIns="0" tIns="0" rIns="0" bIns="0" rtlCol="0" anchor="ctr"/>
          <a:lstStyle/>
          <a:p>
            <a:pPr indent="0" marL="0">
              <a:buNone/>
            </a:pPr>
            <a:r>
              <a:rPr lang="ja-JP" altLang="en-US" sz="1500" b="1" dirty="0">
                <a:solidFill>
                  <a:srgbClr val="1C1A1A"/>
                </a:solidFill>
                <a:latin typeface="Hiragino Kaku Gothic ProN" pitchFamily="34" charset="0"/>
                <a:ea typeface="Hiragino Kaku Gothic ProN" pitchFamily="34" charset="-128"/>
                <a:cs typeface="Hiragino Kaku Gothic ProN" pitchFamily="34" charset="-120"/>
              </a:rPr>
              <a:t>使命を発信し続ける</a:t>
            </a:r>
            <a:endParaRPr lang="ja-JP" sz="1500" dirty="0"/>
          </a:p>
        </p:txBody>
      </p:sp>
      <p:sp>
        <p:nvSpPr>
          <p:cNvPr id="29" name="Text 27"/>
          <p:cNvSpPr txBox="1"/>
          <p:nvPr/>
        </p:nvSpPr>
        <p:spPr>
          <a:xfrm>
            <a:off x="6172200" y="4114800"/>
            <a:ext cx="3200400" cy="502920"/>
          </a:xfrm>
          <a:prstGeom prst="rect">
            <a:avLst/>
          </a:prstGeom>
          <a:noFill/>
          <a:ln/>
        </p:spPr>
        <p:txBody>
          <a:bodyPr wrap="square" lIns="0" tIns="0" rIns="0" bIns="0" rtlCol="0" anchor="ctr"/>
          <a:lstStyle/>
          <a:p>
            <a:pPr indent="0" marL="0">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日々の出会い、メルマガ、講演、活動で伝え続ける</a:t>
            </a:r>
            <a:endParaRPr lang="ja-JP" sz="1250" dirty="0"/>
          </a:p>
        </p:txBody>
      </p:sp>
      <p:sp>
        <p:nvSpPr>
          <p:cNvPr id="30" name="Shape 28"/>
          <p:cNvSpPr/>
          <p:nvPr/>
        </p:nvSpPr>
        <p:spPr>
          <a:xfrm>
            <a:off x="9555480" y="4315968"/>
            <a:ext cx="2084832" cy="100584"/>
          </a:xfrm>
          <a:prstGeom prst="rect">
            <a:avLst/>
          </a:prstGeom>
          <a:solidFill>
            <a:srgbClr val="F4F0EC"/>
          </a:solidFill>
          <a:ln/>
        </p:spPr>
      </p:sp>
      <p:sp>
        <p:nvSpPr>
          <p:cNvPr id="31" name="gantt"/>
          <p:cNvSpPr/>
          <p:nvPr/>
        </p:nvSpPr>
        <p:spPr>
          <a:xfrm>
            <a:off x="10713720" y="4270248"/>
            <a:ext cx="347472" cy="192024"/>
          </a:xfrm>
          <a:prstGeom prst="rect">
            <a:avLst/>
          </a:prstGeom>
          <a:solidFill>
            <a:srgbClr val="1C1A1A"/>
          </a:solidFill>
          <a:ln/>
        </p:spPr>
      </p:sp>
      <p:sp>
        <p:nvSpPr>
          <p:cNvPr id="32" name="Shape 30"/>
          <p:cNvSpPr/>
          <p:nvPr/>
        </p:nvSpPr>
        <p:spPr>
          <a:xfrm>
            <a:off x="548640" y="4709160"/>
            <a:ext cx="11091672" cy="0"/>
          </a:xfrm>
          <a:prstGeom prst="line">
            <a:avLst/>
          </a:prstGeom>
          <a:noFill/>
          <a:ln w="9525">
            <a:solidFill>
              <a:srgbClr val="D9D2CC"/>
            </a:solidFill>
            <a:prstDash val="solid"/>
          </a:ln>
        </p:spPr>
      </p:sp>
      <p:sp>
        <p:nvSpPr>
          <p:cNvPr id="33" name="Text 31"/>
          <p:cNvSpPr txBox="1"/>
          <p:nvPr/>
        </p:nvSpPr>
        <p:spPr>
          <a:xfrm>
            <a:off x="548640" y="4800600"/>
            <a:ext cx="1554480" cy="502920"/>
          </a:xfrm>
          <a:prstGeom prst="rect">
            <a:avLst/>
          </a:prstGeom>
          <a:noFill/>
          <a:ln/>
        </p:spPr>
        <p:txBody>
          <a:bodyPr wrap="square" lIns="0" tIns="0" rIns="0" bIns="0" rtlCol="0" anchor="ctr"/>
          <a:lstStyle/>
          <a:p>
            <a:pPr indent="0" marL="0">
              <a:buNone/>
            </a:pPr>
            <a:r>
              <a:rPr lang="ja-JP" altLang="en-US" sz="2200" dirty="0">
                <a:solidFill>
                  <a:srgbClr val="1C1A1A"/>
                </a:solidFill>
                <a:latin typeface="Hiragino Mincho ProN" pitchFamily="34" charset="0"/>
                <a:ea typeface="Hiragino Mincho ProN" pitchFamily="34" charset="-128"/>
                <a:cs typeface="Hiragino Mincho ProN" pitchFamily="34" charset="-120"/>
              </a:rPr>
              <a:t>65–80</a:t>
            </a:r>
            <a:pPr indent="0" marL="0">
              <a:buNone/>
            </a:pPr>
            <a:r>
              <a:rPr lang="ja-JP" altLang="en-US" sz="1100" dirty="0">
                <a:solidFill>
                  <a:srgbClr val="8A8380"/>
                </a:solidFill>
                <a:latin typeface="Hiragino Kaku Gothic ProN" pitchFamily="34" charset="0"/>
                <a:ea typeface="Hiragino Kaku Gothic ProN" pitchFamily="34" charset="-128"/>
                <a:cs typeface="Hiragino Kaku Gothic ProN" pitchFamily="34" charset="-120"/>
              </a:rPr>
              <a:t> 分</a:t>
            </a:r>
            <a:endParaRPr lang="ja-JP" sz="2200" dirty="0"/>
          </a:p>
        </p:txBody>
      </p:sp>
      <p:sp>
        <p:nvSpPr>
          <p:cNvPr id="34" name="Text 32"/>
          <p:cNvSpPr txBox="1"/>
          <p:nvPr/>
        </p:nvSpPr>
        <p:spPr>
          <a:xfrm>
            <a:off x="2148840" y="4800600"/>
            <a:ext cx="3840480" cy="502920"/>
          </a:xfrm>
          <a:prstGeom prst="rect">
            <a:avLst/>
          </a:prstGeom>
          <a:noFill/>
          <a:ln/>
        </p:spPr>
        <p:txBody>
          <a:bodyPr wrap="square" lIns="0" tIns="0" rIns="0" bIns="0" rtlCol="0" anchor="ctr"/>
          <a:lstStyle/>
          <a:p>
            <a:pPr indent="0" marL="0">
              <a:buNone/>
            </a:pPr>
            <a:r>
              <a:rPr lang="ja-JP" altLang="en-US" sz="1500" b="1" dirty="0">
                <a:solidFill>
                  <a:srgbClr val="1C1A1A"/>
                </a:solidFill>
                <a:latin typeface="Hiragino Kaku Gothic ProN" pitchFamily="34" charset="0"/>
                <a:ea typeface="Hiragino Kaku Gothic ProN" pitchFamily="34" charset="-128"/>
                <a:cs typeface="Hiragino Kaku Gothic ProN" pitchFamily="34" charset="-120"/>
              </a:rPr>
              <a:t>誰に役立つかをデザインする</a:t>
            </a:r>
            <a:endParaRPr lang="ja-JP" sz="1500" dirty="0"/>
          </a:p>
        </p:txBody>
      </p:sp>
      <p:sp>
        <p:nvSpPr>
          <p:cNvPr id="35" name="Text 33"/>
          <p:cNvSpPr txBox="1"/>
          <p:nvPr/>
        </p:nvSpPr>
        <p:spPr>
          <a:xfrm>
            <a:off x="6172200" y="4800600"/>
            <a:ext cx="3200400" cy="502920"/>
          </a:xfrm>
          <a:prstGeom prst="rect">
            <a:avLst/>
          </a:prstGeom>
          <a:noFill/>
          <a:ln/>
        </p:spPr>
        <p:txBody>
          <a:bodyPr wrap="square" lIns="0" tIns="0" rIns="0" bIns="0" rtlCol="0" anchor="ctr"/>
          <a:lstStyle/>
          <a:p>
            <a:pPr indent="0" marL="0">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使命からマーケティング導線を描く</a:t>
            </a:r>
            <a:endParaRPr lang="ja-JP" sz="1250" dirty="0"/>
          </a:p>
        </p:txBody>
      </p:sp>
      <p:sp>
        <p:nvSpPr>
          <p:cNvPr id="36" name="Shape 34"/>
          <p:cNvSpPr/>
          <p:nvPr/>
        </p:nvSpPr>
        <p:spPr>
          <a:xfrm>
            <a:off x="9555480" y="5001768"/>
            <a:ext cx="2084832" cy="100584"/>
          </a:xfrm>
          <a:prstGeom prst="rect">
            <a:avLst/>
          </a:prstGeom>
          <a:solidFill>
            <a:srgbClr val="F4F0EC"/>
          </a:solidFill>
          <a:ln/>
        </p:spPr>
      </p:sp>
      <p:sp>
        <p:nvSpPr>
          <p:cNvPr id="37" name="gantt"/>
          <p:cNvSpPr/>
          <p:nvPr/>
        </p:nvSpPr>
        <p:spPr>
          <a:xfrm>
            <a:off x="11061192" y="4956048"/>
            <a:ext cx="347472" cy="192024"/>
          </a:xfrm>
          <a:prstGeom prst="rect">
            <a:avLst/>
          </a:prstGeom>
          <a:solidFill>
            <a:srgbClr val="1C1A1A"/>
          </a:solidFill>
          <a:ln/>
        </p:spPr>
      </p:sp>
      <p:sp>
        <p:nvSpPr>
          <p:cNvPr id="38" name="Shape 36"/>
          <p:cNvSpPr/>
          <p:nvPr/>
        </p:nvSpPr>
        <p:spPr>
          <a:xfrm>
            <a:off x="548640" y="5394960"/>
            <a:ext cx="11091672" cy="0"/>
          </a:xfrm>
          <a:prstGeom prst="line">
            <a:avLst/>
          </a:prstGeom>
          <a:noFill/>
          <a:ln w="9525">
            <a:solidFill>
              <a:srgbClr val="D9D2CC"/>
            </a:solidFill>
            <a:prstDash val="solid"/>
          </a:ln>
        </p:spPr>
      </p:sp>
      <p:sp>
        <p:nvSpPr>
          <p:cNvPr id="39" name="Text 37"/>
          <p:cNvSpPr txBox="1"/>
          <p:nvPr/>
        </p:nvSpPr>
        <p:spPr>
          <a:xfrm>
            <a:off x="548640" y="5486400"/>
            <a:ext cx="1554480" cy="502920"/>
          </a:xfrm>
          <a:prstGeom prst="rect">
            <a:avLst/>
          </a:prstGeom>
          <a:noFill/>
          <a:ln/>
        </p:spPr>
        <p:txBody>
          <a:bodyPr wrap="square" lIns="0" tIns="0" rIns="0" bIns="0" rtlCol="0" anchor="ctr"/>
          <a:lstStyle/>
          <a:p>
            <a:pPr indent="0" marL="0">
              <a:buNone/>
            </a:pPr>
            <a:r>
              <a:rPr lang="ja-JP" altLang="en-US" sz="2200" dirty="0">
                <a:solidFill>
                  <a:srgbClr val="B8432F"/>
                </a:solidFill>
                <a:latin typeface="Hiragino Mincho ProN" pitchFamily="34" charset="0"/>
                <a:ea typeface="Hiragino Mincho ProN" pitchFamily="34" charset="-128"/>
                <a:cs typeface="Hiragino Mincho ProN" pitchFamily="34" charset="-120"/>
              </a:rPr>
              <a:t>80–90</a:t>
            </a:r>
            <a:pPr indent="0" marL="0">
              <a:buNone/>
            </a:pPr>
            <a:r>
              <a:rPr lang="ja-JP" altLang="en-US" sz="1100" dirty="0">
                <a:solidFill>
                  <a:srgbClr val="8A8380"/>
                </a:solidFill>
                <a:latin typeface="Hiragino Kaku Gothic ProN" pitchFamily="34" charset="0"/>
                <a:ea typeface="Hiragino Kaku Gothic ProN" pitchFamily="34" charset="-128"/>
                <a:cs typeface="Hiragino Kaku Gothic ProN" pitchFamily="34" charset="-120"/>
              </a:rPr>
              <a:t> 分</a:t>
            </a:r>
            <a:endParaRPr lang="ja-JP" sz="2200" dirty="0"/>
          </a:p>
        </p:txBody>
      </p:sp>
      <p:sp>
        <p:nvSpPr>
          <p:cNvPr id="40" name="Text 38"/>
          <p:cNvSpPr txBox="1"/>
          <p:nvPr/>
        </p:nvSpPr>
        <p:spPr>
          <a:xfrm>
            <a:off x="2148840" y="5486400"/>
            <a:ext cx="3840480" cy="502920"/>
          </a:xfrm>
          <a:prstGeom prst="rect">
            <a:avLst/>
          </a:prstGeom>
          <a:noFill/>
          <a:ln/>
        </p:spPr>
        <p:txBody>
          <a:bodyPr wrap="square" lIns="0" tIns="0" rIns="0" bIns="0" rtlCol="0" anchor="ctr"/>
          <a:lstStyle/>
          <a:p>
            <a:pPr indent="0" marL="0">
              <a:buNone/>
            </a:pPr>
            <a:r>
              <a:rPr lang="ja-JP" altLang="en-US" sz="1500" b="1" dirty="0">
                <a:solidFill>
                  <a:srgbClr val="B8432F"/>
                </a:solidFill>
                <a:latin typeface="Hiragino Kaku Gothic ProN" pitchFamily="34" charset="0"/>
                <a:ea typeface="Hiragino Kaku Gothic ProN" pitchFamily="34" charset="-128"/>
                <a:cs typeface="Hiragino Kaku Gothic ProN" pitchFamily="34" charset="-120"/>
              </a:rPr>
              <a:t>ワーク・共有</a:t>
            </a:r>
            <a:endParaRPr lang="ja-JP" sz="1500" dirty="0"/>
          </a:p>
        </p:txBody>
      </p:sp>
      <p:sp>
        <p:nvSpPr>
          <p:cNvPr id="41" name="Text 39"/>
          <p:cNvSpPr txBox="1"/>
          <p:nvPr/>
        </p:nvSpPr>
        <p:spPr>
          <a:xfrm>
            <a:off x="6172200" y="5486400"/>
            <a:ext cx="3200400" cy="502920"/>
          </a:xfrm>
          <a:prstGeom prst="rect">
            <a:avLst/>
          </a:prstGeom>
          <a:noFill/>
          <a:ln/>
        </p:spPr>
        <p:txBody>
          <a:bodyPr wrap="square" lIns="0" tIns="0" rIns="0" bIns="0" rtlCol="0" anchor="ctr"/>
          <a:lstStyle/>
          <a:p>
            <a:pPr indent="0" marL="0">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明日からの行動をひとつ決める</a:t>
            </a:r>
            <a:endParaRPr lang="ja-JP" sz="1250" dirty="0"/>
          </a:p>
        </p:txBody>
      </p:sp>
      <p:sp>
        <p:nvSpPr>
          <p:cNvPr id="42" name="Shape 40"/>
          <p:cNvSpPr/>
          <p:nvPr/>
        </p:nvSpPr>
        <p:spPr>
          <a:xfrm>
            <a:off x="9555480" y="5687568"/>
            <a:ext cx="2084832" cy="100584"/>
          </a:xfrm>
          <a:prstGeom prst="rect">
            <a:avLst/>
          </a:prstGeom>
          <a:solidFill>
            <a:srgbClr val="F4F0EC"/>
          </a:solidFill>
          <a:ln/>
        </p:spPr>
      </p:sp>
      <p:sp>
        <p:nvSpPr>
          <p:cNvPr id="43" name="gantt"/>
          <p:cNvSpPr/>
          <p:nvPr/>
        </p:nvSpPr>
        <p:spPr>
          <a:xfrm>
            <a:off x="11408664" y="5641848"/>
            <a:ext cx="231648" cy="192024"/>
          </a:xfrm>
          <a:prstGeom prst="rect">
            <a:avLst/>
          </a:prstGeom>
          <a:solidFill>
            <a:srgbClr val="B8432F"/>
          </a:solidFill>
          <a:ln/>
        </p:spPr>
      </p:sp>
      <p:sp>
        <p:nvSpPr>
          <p:cNvPr id="44" name="Shape 42"/>
          <p:cNvSpPr/>
          <p:nvPr/>
        </p:nvSpPr>
        <p:spPr>
          <a:xfrm>
            <a:off x="548640" y="6080760"/>
            <a:ext cx="11091672" cy="0"/>
          </a:xfrm>
          <a:prstGeom prst="line">
            <a:avLst/>
          </a:prstGeom>
          <a:noFill/>
          <a:ln w="9525">
            <a:solidFill>
              <a:srgbClr val="D9D2CC"/>
            </a:solidFill>
            <a:prstDash val="solid"/>
          </a:ln>
        </p:spPr>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灯るキャンドル">    </p:cNvPr>
          <p:cNvPicPr>
            <a:picLocks noChangeAspect="1"/>
          </p:cNvPicPr>
          <p:nvPr/>
        </p:nvPicPr>
        <p:blipFill>
          <a:blip r:embed="rId1"/>
          <a:stretch>
            <a:fillRect/>
          </a:stretch>
        </p:blipFill>
        <p:spPr>
          <a:xfrm>
            <a:off x="0" y="0"/>
            <a:ext cx="4206240" cy="6858000"/>
          </a:xfrm>
          <a:prstGeom prst="rect">
            <a:avLst/>
          </a:prstGeom>
        </p:spPr>
      </p:pic>
      <p:sp>
        <p:nvSpPr>
          <p:cNvPr id="3" name="Text 0"/>
          <p:cNvSpPr txBox="1"/>
          <p:nvPr/>
        </p:nvSpPr>
        <p:spPr>
          <a:xfrm>
            <a:off x="10287000" y="685800"/>
            <a:ext cx="1371600" cy="5486400"/>
          </a:xfrm>
          <a:prstGeom prst="rect">
            <a:avLst/>
          </a:prstGeom>
          <a:noFill/>
          <a:ln/>
        </p:spPr>
        <p:txBody>
          <a:bodyPr wrap="square" lIns="0" tIns="0" rIns="0" bIns="0" rtlCol="0" anchor="t" vert="eaVert"/>
          <a:lstStyle/>
          <a:p>
            <a:pPr indent="0" marL="0">
              <a:lnSpc>
                <a:spcPct val="120000"/>
              </a:lnSpc>
              <a:buNone/>
            </a:pPr>
            <a:r>
              <a:rPr lang="ja-JP" altLang="en-US" sz="3400" dirty="0">
                <a:solidFill>
                  <a:srgbClr val="FFFFFF"/>
                </a:solidFill>
                <a:latin typeface="Hiragino Mincho ProN" pitchFamily="34" charset="0"/>
                <a:ea typeface="Hiragino Mincho ProN" pitchFamily="34" charset="-128"/>
                <a:cs typeface="Hiragino Mincho ProN" pitchFamily="34" charset="-120"/>
              </a:rPr>
              <a:t>今回、最も響かせたい</a:t>
            </a:r>
            <a:endParaRPr lang="ja-JP" sz="3400" dirty="0"/>
          </a:p>
          <a:p>
            <a:pPr indent="0" marL="0">
              <a:lnSpc>
                <a:spcPct val="120000"/>
              </a:lnSpc>
              <a:buNone/>
            </a:pPr>
            <a:r>
              <a:rPr lang="ja-JP" altLang="en-US" sz="3400" dirty="0">
                <a:solidFill>
                  <a:srgbClr val="FFFFFF"/>
                </a:solidFill>
                <a:latin typeface="Hiragino Mincho ProN" pitchFamily="34" charset="0"/>
                <a:ea typeface="Hiragino Mincho ProN" pitchFamily="34" charset="-128"/>
                <a:cs typeface="Hiragino Mincho ProN" pitchFamily="34" charset="-120"/>
              </a:rPr>
              <a:t>三つのメッセージ</a:t>
            </a:r>
            <a:endParaRPr lang="ja-JP" sz="3400" dirty="0"/>
          </a:p>
        </p:txBody>
      </p:sp>
      <p:sp>
        <p:nvSpPr>
          <p:cNvPr id="4" name="Text 1"/>
          <p:cNvSpPr txBox="1"/>
          <p:nvPr/>
        </p:nvSpPr>
        <p:spPr>
          <a:xfrm>
            <a:off x="4846320" y="685800"/>
            <a:ext cx="4572000" cy="274320"/>
          </a:xfrm>
          <a:prstGeom prst="rect">
            <a:avLst/>
          </a:prstGeom>
          <a:noFill/>
          <a:ln/>
        </p:spPr>
        <p:txBody>
          <a:bodyPr wrap="square" lIns="0" tIns="0" rIns="0" bIns="0" rtlCol="0" anchor="t"/>
          <a:lstStyle/>
          <a:p>
            <a:pPr indent="0" marL="0">
              <a:buNone/>
            </a:pPr>
            <a:r>
              <a:rPr lang="ja-JP" altLang="en-US" sz="1100" b="1" spc="400" kern="0" dirty="0">
                <a:solidFill>
                  <a:srgbClr val="B8432F"/>
                </a:solidFill>
                <a:latin typeface="Hiragino Kaku Gothic ProN" pitchFamily="34" charset="0"/>
                <a:ea typeface="Hiragino Kaku Gothic ProN" pitchFamily="34" charset="-128"/>
                <a:cs typeface="Hiragino Kaku Gothic ProN" pitchFamily="34" charset="-120"/>
              </a:rPr>
              <a:t>THREE MESSAGES</a:t>
            </a:r>
            <a:endParaRPr lang="ja-JP" sz="1100" dirty="0"/>
          </a:p>
        </p:txBody>
      </p:sp>
      <p:sp>
        <p:nvSpPr>
          <p:cNvPr id="5" name="Text 2"/>
          <p:cNvSpPr txBox="1"/>
          <p:nvPr/>
        </p:nvSpPr>
        <p:spPr>
          <a:xfrm>
            <a:off x="4846320" y="1325880"/>
            <a:ext cx="914400" cy="731520"/>
          </a:xfrm>
          <a:prstGeom prst="rect">
            <a:avLst/>
          </a:prstGeom>
          <a:noFill/>
          <a:ln/>
        </p:spPr>
        <p:txBody>
          <a:bodyPr wrap="square" lIns="0" tIns="0" rIns="0" bIns="0" rtlCol="0" anchor="t"/>
          <a:lstStyle/>
          <a:p>
            <a:pPr indent="0" marL="0">
              <a:buNone/>
            </a:pPr>
            <a:r>
              <a:rPr lang="ja-JP" altLang="en-US" sz="4000" dirty="0">
                <a:solidFill>
                  <a:srgbClr val="B8432F"/>
                </a:solidFill>
                <a:latin typeface="Hiragino Mincho ProN" pitchFamily="34" charset="0"/>
                <a:ea typeface="Hiragino Mincho ProN" pitchFamily="34" charset="-128"/>
                <a:cs typeface="Hiragino Mincho ProN" pitchFamily="34" charset="-120"/>
              </a:rPr>
              <a:t>01</a:t>
            </a:r>
            <a:endParaRPr lang="ja-JP" sz="4000" dirty="0"/>
          </a:p>
        </p:txBody>
      </p:sp>
      <p:sp>
        <p:nvSpPr>
          <p:cNvPr id="6" name="Text 3"/>
          <p:cNvSpPr txBox="1"/>
          <p:nvPr/>
        </p:nvSpPr>
        <p:spPr>
          <a:xfrm>
            <a:off x="5852160" y="1371600"/>
            <a:ext cx="4206240" cy="822960"/>
          </a:xfrm>
          <a:prstGeom prst="rect">
            <a:avLst/>
          </a:prstGeom>
          <a:noFill/>
          <a:ln/>
        </p:spPr>
        <p:txBody>
          <a:bodyPr wrap="square" lIns="0" tIns="0" rIns="0" bIns="0" rtlCol="0" anchor="t"/>
          <a:lstStyle/>
          <a:p>
            <a:pPr indent="0" marL="0">
              <a:lnSpc>
                <a:spcPct val="110000"/>
              </a:lnSpc>
              <a:buNone/>
            </a:pPr>
            <a:r>
              <a:rPr lang="ja-JP" altLang="en-US" sz="2000" dirty="0">
                <a:solidFill>
                  <a:srgbClr val="FFFFFF"/>
                </a:solidFill>
                <a:latin typeface="Hiragino Mincho ProN" pitchFamily="34" charset="0"/>
                <a:ea typeface="Hiragino Mincho ProN" pitchFamily="34" charset="-128"/>
                <a:cs typeface="Hiragino Mincho ProN" pitchFamily="34" charset="-120"/>
              </a:rPr>
              <a:t>「財産に着目しない」と</a:t>
            </a:r>
            <a:endParaRPr lang="ja-JP" sz="2000" dirty="0"/>
          </a:p>
          <a:p>
            <a:pPr indent="0" marL="0">
              <a:lnSpc>
                <a:spcPct val="110000"/>
              </a:lnSpc>
              <a:buNone/>
            </a:pPr>
            <a:r>
              <a:rPr lang="ja-JP" altLang="en-US" sz="2000" dirty="0">
                <a:solidFill>
                  <a:srgbClr val="FFFFFF"/>
                </a:solidFill>
                <a:latin typeface="Hiragino Mincho ProN" pitchFamily="34" charset="0"/>
                <a:ea typeface="Hiragino Mincho ProN" pitchFamily="34" charset="-128"/>
                <a:cs typeface="Hiragino Mincho ProN" pitchFamily="34" charset="-120"/>
              </a:rPr>
              <a:t>言い切る勇気</a:t>
            </a:r>
            <a:endParaRPr lang="ja-JP" sz="2000" dirty="0"/>
          </a:p>
        </p:txBody>
      </p:sp>
      <p:sp>
        <p:nvSpPr>
          <p:cNvPr id="7" name="Text 4"/>
          <p:cNvSpPr txBox="1"/>
          <p:nvPr/>
        </p:nvSpPr>
        <p:spPr>
          <a:xfrm>
            <a:off x="5852160" y="2286000"/>
            <a:ext cx="4206240" cy="320040"/>
          </a:xfrm>
          <a:prstGeom prst="rect">
            <a:avLst/>
          </a:prstGeom>
          <a:noFill/>
          <a:ln/>
        </p:spPr>
        <p:txBody>
          <a:bodyPr wrap="square" lIns="0" tIns="0" rIns="0" bIns="0" rtlCol="0" anchor="t"/>
          <a:lstStyle/>
          <a:p>
            <a:pPr indent="0" marL="0">
              <a:buNone/>
            </a:pPr>
            <a:r>
              <a:rPr lang="ja-JP" altLang="en-US" sz="1300" dirty="0">
                <a:solidFill>
                  <a:srgbClr val="C9C2BC"/>
                </a:solidFill>
                <a:latin typeface="Hiragino Kaku Gothic ProN" pitchFamily="34" charset="0"/>
                <a:ea typeface="Hiragino Kaku Gothic ProN" pitchFamily="34" charset="-128"/>
                <a:cs typeface="Hiragino Kaku Gothic ProN" pitchFamily="34" charset="-120"/>
              </a:rPr>
              <a:t>何をするかより、何のためにするかを先に語る</a:t>
            </a:r>
            <a:endParaRPr lang="ja-JP" sz="1300" dirty="0"/>
          </a:p>
        </p:txBody>
      </p:sp>
      <p:sp>
        <p:nvSpPr>
          <p:cNvPr id="8" name="Text 5"/>
          <p:cNvSpPr txBox="1"/>
          <p:nvPr/>
        </p:nvSpPr>
        <p:spPr>
          <a:xfrm>
            <a:off x="4846320" y="2971800"/>
            <a:ext cx="914400" cy="731520"/>
          </a:xfrm>
          <a:prstGeom prst="rect">
            <a:avLst/>
          </a:prstGeom>
          <a:noFill/>
          <a:ln/>
        </p:spPr>
        <p:txBody>
          <a:bodyPr wrap="square" lIns="0" tIns="0" rIns="0" bIns="0" rtlCol="0" anchor="t"/>
          <a:lstStyle/>
          <a:p>
            <a:pPr indent="0" marL="0">
              <a:buNone/>
            </a:pPr>
            <a:r>
              <a:rPr lang="ja-JP" altLang="en-US" sz="4000" dirty="0">
                <a:solidFill>
                  <a:srgbClr val="B8432F"/>
                </a:solidFill>
                <a:latin typeface="Hiragino Mincho ProN" pitchFamily="34" charset="0"/>
                <a:ea typeface="Hiragino Mincho ProN" pitchFamily="34" charset="-128"/>
                <a:cs typeface="Hiragino Mincho ProN" pitchFamily="34" charset="-120"/>
              </a:rPr>
              <a:t>02</a:t>
            </a:r>
            <a:endParaRPr lang="ja-JP" sz="4000" dirty="0"/>
          </a:p>
        </p:txBody>
      </p:sp>
      <p:sp>
        <p:nvSpPr>
          <p:cNvPr id="9" name="Text 6"/>
          <p:cNvSpPr txBox="1"/>
          <p:nvPr/>
        </p:nvSpPr>
        <p:spPr>
          <a:xfrm>
            <a:off x="5852160" y="3017520"/>
            <a:ext cx="4206240" cy="822960"/>
          </a:xfrm>
          <a:prstGeom prst="rect">
            <a:avLst/>
          </a:prstGeom>
          <a:noFill/>
          <a:ln/>
        </p:spPr>
        <p:txBody>
          <a:bodyPr wrap="square" lIns="0" tIns="0" rIns="0" bIns="0" rtlCol="0" anchor="t"/>
          <a:lstStyle/>
          <a:p>
            <a:pPr indent="0" marL="0">
              <a:lnSpc>
                <a:spcPct val="110000"/>
              </a:lnSpc>
              <a:buNone/>
            </a:pPr>
            <a:r>
              <a:rPr lang="ja-JP" altLang="en-US" sz="2000" dirty="0">
                <a:solidFill>
                  <a:srgbClr val="FFFFFF"/>
                </a:solidFill>
                <a:latin typeface="Hiragino Mincho ProN" pitchFamily="34" charset="0"/>
                <a:ea typeface="Hiragino Mincho ProN" pitchFamily="34" charset="-128"/>
                <a:cs typeface="Hiragino Mincho ProN" pitchFamily="34" charset="-120"/>
              </a:rPr>
              <a:t>「あなたは何が違うの？」に</a:t>
            </a:r>
            <a:endParaRPr lang="ja-JP" sz="2000" dirty="0"/>
          </a:p>
          <a:p>
            <a:pPr indent="0" marL="0">
              <a:lnSpc>
                <a:spcPct val="110000"/>
              </a:lnSpc>
              <a:buNone/>
            </a:pPr>
            <a:r>
              <a:rPr lang="ja-JP" altLang="en-US" sz="2000" dirty="0">
                <a:solidFill>
                  <a:srgbClr val="FFFFFF"/>
                </a:solidFill>
                <a:latin typeface="Hiragino Mincho ProN" pitchFamily="34" charset="0"/>
                <a:ea typeface="Hiragino Mincho ProN" pitchFamily="34" charset="-128"/>
                <a:cs typeface="Hiragino Mincho ProN" pitchFamily="34" charset="-120"/>
              </a:rPr>
              <a:t>即答できるか</a:t>
            </a:r>
            <a:endParaRPr lang="ja-JP" sz="2000" dirty="0"/>
          </a:p>
        </p:txBody>
      </p:sp>
      <p:sp>
        <p:nvSpPr>
          <p:cNvPr id="10" name="Text 7"/>
          <p:cNvSpPr txBox="1"/>
          <p:nvPr/>
        </p:nvSpPr>
        <p:spPr>
          <a:xfrm>
            <a:off x="5852160" y="3931920"/>
            <a:ext cx="4206240" cy="320040"/>
          </a:xfrm>
          <a:prstGeom prst="rect">
            <a:avLst/>
          </a:prstGeom>
          <a:noFill/>
          <a:ln/>
        </p:spPr>
        <p:txBody>
          <a:bodyPr wrap="square" lIns="0" tIns="0" rIns="0" bIns="0" rtlCol="0" anchor="t"/>
          <a:lstStyle/>
          <a:p>
            <a:pPr indent="0" marL="0">
              <a:buNone/>
            </a:pPr>
            <a:r>
              <a:rPr lang="ja-JP" altLang="en-US" sz="1300" dirty="0">
                <a:solidFill>
                  <a:srgbClr val="C9C2BC"/>
                </a:solidFill>
                <a:latin typeface="Hiragino Kaku Gothic ProN" pitchFamily="34" charset="0"/>
                <a:ea typeface="Hiragino Kaku Gothic ProN" pitchFamily="34" charset="-128"/>
                <a:cs typeface="Hiragino Kaku Gothic ProN" pitchFamily="34" charset="-120"/>
              </a:rPr>
              <a:t>ブランディングは、自分の言葉から始まる</a:t>
            </a:r>
            <a:endParaRPr lang="ja-JP" sz="1300" dirty="0"/>
          </a:p>
        </p:txBody>
      </p:sp>
      <p:sp>
        <p:nvSpPr>
          <p:cNvPr id="11" name="Text 8"/>
          <p:cNvSpPr txBox="1"/>
          <p:nvPr/>
        </p:nvSpPr>
        <p:spPr>
          <a:xfrm>
            <a:off x="4846320" y="4617720"/>
            <a:ext cx="914400" cy="731520"/>
          </a:xfrm>
          <a:prstGeom prst="rect">
            <a:avLst/>
          </a:prstGeom>
          <a:noFill/>
          <a:ln/>
        </p:spPr>
        <p:txBody>
          <a:bodyPr wrap="square" lIns="0" tIns="0" rIns="0" bIns="0" rtlCol="0" anchor="t"/>
          <a:lstStyle/>
          <a:p>
            <a:pPr indent="0" marL="0">
              <a:buNone/>
            </a:pPr>
            <a:r>
              <a:rPr lang="ja-JP" altLang="en-US" sz="4000" dirty="0">
                <a:solidFill>
                  <a:srgbClr val="B8432F"/>
                </a:solidFill>
                <a:latin typeface="Hiragino Mincho ProN" pitchFamily="34" charset="0"/>
                <a:ea typeface="Hiragino Mincho ProN" pitchFamily="34" charset="-128"/>
                <a:cs typeface="Hiragino Mincho ProN" pitchFamily="34" charset="-120"/>
              </a:rPr>
              <a:t>03</a:t>
            </a:r>
            <a:endParaRPr lang="ja-JP" sz="4000" dirty="0"/>
          </a:p>
        </p:txBody>
      </p:sp>
      <p:sp>
        <p:nvSpPr>
          <p:cNvPr id="12" name="Text 9"/>
          <p:cNvSpPr txBox="1"/>
          <p:nvPr/>
        </p:nvSpPr>
        <p:spPr>
          <a:xfrm>
            <a:off x="5852160" y="4663440"/>
            <a:ext cx="4206240" cy="822960"/>
          </a:xfrm>
          <a:prstGeom prst="rect">
            <a:avLst/>
          </a:prstGeom>
          <a:noFill/>
          <a:ln/>
        </p:spPr>
        <p:txBody>
          <a:bodyPr wrap="square" lIns="0" tIns="0" rIns="0" bIns="0" rtlCol="0" anchor="t"/>
          <a:lstStyle/>
          <a:p>
            <a:pPr indent="0" marL="0">
              <a:lnSpc>
                <a:spcPct val="110000"/>
              </a:lnSpc>
              <a:buNone/>
            </a:pPr>
            <a:r>
              <a:rPr lang="ja-JP" altLang="en-US" sz="2000" dirty="0">
                <a:solidFill>
                  <a:srgbClr val="FFFFFF"/>
                </a:solidFill>
                <a:latin typeface="Hiragino Mincho ProN" pitchFamily="34" charset="0"/>
                <a:ea typeface="Hiragino Mincho ProN" pitchFamily="34" charset="-128"/>
                <a:cs typeface="Hiragino Mincho ProN" pitchFamily="34" charset="-120"/>
              </a:rPr>
              <a:t>「発信」は宣伝ではなく、</a:t>
            </a:r>
            <a:endParaRPr lang="ja-JP" sz="2000" dirty="0"/>
          </a:p>
          <a:p>
            <a:pPr indent="0" marL="0">
              <a:lnSpc>
                <a:spcPct val="110000"/>
              </a:lnSpc>
              <a:buNone/>
            </a:pPr>
            <a:r>
              <a:rPr lang="ja-JP" altLang="en-US" sz="2000" dirty="0">
                <a:solidFill>
                  <a:srgbClr val="FFFFFF"/>
                </a:solidFill>
                <a:latin typeface="Hiragino Mincho ProN" pitchFamily="34" charset="0"/>
                <a:ea typeface="Hiragino Mincho ProN" pitchFamily="34" charset="-128"/>
                <a:cs typeface="Hiragino Mincho ProN" pitchFamily="34" charset="-120"/>
              </a:rPr>
              <a:t>使命を届ける行動</a:t>
            </a:r>
            <a:endParaRPr lang="ja-JP" sz="2000" dirty="0"/>
          </a:p>
        </p:txBody>
      </p:sp>
      <p:sp>
        <p:nvSpPr>
          <p:cNvPr id="13" name="Text 10"/>
          <p:cNvSpPr txBox="1"/>
          <p:nvPr/>
        </p:nvSpPr>
        <p:spPr>
          <a:xfrm>
            <a:off x="5852160" y="5577840"/>
            <a:ext cx="4206240" cy="320040"/>
          </a:xfrm>
          <a:prstGeom prst="rect">
            <a:avLst/>
          </a:prstGeom>
          <a:noFill/>
          <a:ln/>
        </p:spPr>
        <p:txBody>
          <a:bodyPr wrap="square" lIns="0" tIns="0" rIns="0" bIns="0" rtlCol="0" anchor="t"/>
          <a:lstStyle/>
          <a:p>
            <a:pPr indent="0" marL="0">
              <a:buNone/>
            </a:pPr>
            <a:r>
              <a:rPr lang="ja-JP" altLang="en-US" sz="1300" dirty="0">
                <a:solidFill>
                  <a:srgbClr val="C9C2BC"/>
                </a:solidFill>
                <a:latin typeface="Hiragino Kaku Gothic ProN" pitchFamily="34" charset="0"/>
                <a:ea typeface="Hiragino Kaku Gothic ProN" pitchFamily="34" charset="-128"/>
                <a:cs typeface="Hiragino Kaku Gothic ProN" pitchFamily="34" charset="-120"/>
              </a:rPr>
              <a:t>誰と出会っても、使命を伝え続ける</a:t>
            </a:r>
            <a:endParaRPr lang="ja-JP"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7315200" cy="274320"/>
          </a:xfrm>
          <a:prstGeom prst="rect">
            <a:avLst/>
          </a:prstGeom>
          <a:noFill/>
          <a:ln/>
        </p:spPr>
        <p:txBody>
          <a:bodyPr wrap="square" lIns="0" tIns="0" rIns="0" bIns="0" rtlCol="0" anchor="ctr"/>
          <a:lstStyle/>
          <a:p>
            <a:pPr indent="0" marL="0">
              <a:buNone/>
            </a:pPr>
            <a:r>
              <a:rPr lang="en-US" sz="1100" b="1" spc="200" kern="0" dirty="0">
                <a:solidFill>
                  <a:srgbClr val="B8432F"/>
                </a:solidFill>
                <a:latin typeface="Hiragino Kaku Gothic ProN" pitchFamily="34" charset="0"/>
                <a:ea typeface="Hiragino Kaku Gothic ProN" pitchFamily="34" charset="-128"/>
                <a:cs typeface="Hiragino Kaku Gothic ProN" pitchFamily="34" charset="-120"/>
              </a:rPr>
              <a:t>MESSAGE 01</a:t>
            </a:r>
            <a:endParaRPr lang="en-US" sz="11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dirty="0">
                <a:solidFill>
                  <a:srgbClr val="1C1A1A"/>
                </a:solidFill>
                <a:latin typeface="Hiragino Mincho ProN" pitchFamily="34" charset="0"/>
                <a:ea typeface="Hiragino Mincho ProN" pitchFamily="34" charset="-128"/>
                <a:cs typeface="Hiragino Mincho ProN" pitchFamily="34" charset="-120"/>
              </a:rPr>
              <a:t>「財産に着目しない」と言い切る勇気</a:t>
            </a:r>
            <a:endParaRPr lang="en-US" sz="3000" dirty="0"/>
          </a:p>
        </p:txBody>
      </p:sp>
      <p:sp>
        <p:nvSpPr>
          <p:cNvPr id="4" name="ghost-number"/>
          <p:cNvSpPr txBox="1"/>
          <p:nvPr/>
        </p:nvSpPr>
        <p:spPr>
          <a:xfrm>
            <a:off x="9052560" y="45720"/>
            <a:ext cx="2743200" cy="1737360"/>
          </a:xfrm>
          <a:prstGeom prst="rect">
            <a:avLst/>
          </a:prstGeom>
          <a:noFill/>
          <a:ln/>
        </p:spPr>
        <p:txBody>
          <a:bodyPr wrap="square" lIns="0" tIns="0" rIns="0" bIns="0" rtlCol="0" anchor="t"/>
          <a:lstStyle/>
          <a:p>
            <a:pPr algn="r" indent="0" marL="0">
              <a:buNone/>
            </a:pPr>
            <a:r>
              <a:rPr lang="ja-JP" altLang="en-US" sz="13000" dirty="0">
                <a:solidFill>
                  <a:srgbClr val="EFE9E4"/>
                </a:solidFill>
                <a:latin typeface="Hiragino Mincho ProN" pitchFamily="34" charset="0"/>
                <a:ea typeface="Hiragino Mincho ProN" pitchFamily="34" charset="-128"/>
                <a:cs typeface="Hiragino Mincho ProN" pitchFamily="34" charset="-120"/>
              </a:rPr>
              <a:t>01</a:t>
            </a:r>
            <a:endParaRPr lang="ja-JP" sz="13000" dirty="0"/>
          </a:p>
        </p:txBody>
      </p:sp>
      <p:sp>
        <p:nvSpPr>
          <p:cNvPr id="5" name="Text 3"/>
          <p:cNvSpPr txBox="1"/>
          <p:nvPr/>
        </p:nvSpPr>
        <p:spPr>
          <a:xfrm>
            <a:off x="548640" y="1783080"/>
            <a:ext cx="5943600" cy="3017520"/>
          </a:xfrm>
          <a:prstGeom prst="rect">
            <a:avLst/>
          </a:prstGeom>
          <a:noFill/>
          <a:ln/>
        </p:spPr>
        <p:txBody>
          <a:bodyPr wrap="square" lIns="0" tIns="0" rIns="0" bIns="0" rtlCol="0" anchor="t"/>
          <a:lstStyle/>
          <a:p>
            <a:pPr indent="0" marL="0">
              <a:lnSpc>
                <a:spcPct val="135000"/>
              </a:lnSpc>
              <a:spcAft>
                <a:spcPts val="1000"/>
              </a:spcAft>
              <a:buNone/>
            </a:pPr>
            <a:r>
              <a:rPr lang="ja-JP" altLang="en-US" sz="1500" dirty="0">
                <a:solidFill>
                  <a:srgbClr val="3A3434"/>
                </a:solidFill>
                <a:latin typeface="Hiragino Kaku Gothic ProN" pitchFamily="34" charset="0"/>
                <a:ea typeface="Hiragino Kaku Gothic ProN" pitchFamily="34" charset="-128"/>
                <a:cs typeface="Hiragino Kaku Gothic ProN" pitchFamily="34" charset="-120"/>
              </a:rPr>
              <a:t>相続ビジネスを営みながら、財産を入り口にしない。一見矛盾するこの姿勢こそが、松本流の最大の強みです。</a:t>
            </a:r>
            <a:endParaRPr lang="ja-JP" sz="1500" dirty="0"/>
          </a:p>
          <a:p>
            <a:pPr indent="0" marL="0">
              <a:lnSpc>
                <a:spcPct val="135000"/>
              </a:lnSpc>
              <a:spcAft>
                <a:spcPts val="1000"/>
              </a:spcAft>
              <a:buNone/>
            </a:pPr>
            <a:r>
              <a:rPr lang="ja-JP" altLang="en-US" sz="1500" dirty="0">
                <a:solidFill>
                  <a:srgbClr val="3A3434"/>
                </a:solidFill>
                <a:latin typeface="Hiragino Kaku Gothic ProN" pitchFamily="34" charset="0"/>
                <a:ea typeface="Hiragino Kaku Gothic ProN" pitchFamily="34" charset="-128"/>
                <a:cs typeface="Hiragino Kaku Gothic ProN" pitchFamily="34" charset="-120"/>
              </a:rPr>
              <a:t>財産を扱わないという意味ではありません。財産の話の前に、その人の人生と家族の幸せを先に考える——という順番の表明です。</a:t>
            </a:r>
            <a:endParaRPr lang="ja-JP" sz="1500" dirty="0"/>
          </a:p>
          <a:p>
            <a:pPr indent="0" marL="0">
              <a:lnSpc>
                <a:spcPct val="135000"/>
              </a:lnSpc>
              <a:spcAft>
                <a:spcPts val="1000"/>
              </a:spcAft>
              <a:buNone/>
            </a:pPr>
            <a:r>
              <a:rPr lang="ja-JP" altLang="en-US" sz="1500" dirty="0">
                <a:solidFill>
                  <a:srgbClr val="3A3434"/>
                </a:solidFill>
                <a:latin typeface="Hiragino Kaku Gothic ProN" pitchFamily="34" charset="0"/>
                <a:ea typeface="Hiragino Kaku Gothic ProN" pitchFamily="34" charset="-128"/>
                <a:cs typeface="Hiragino Kaku Gothic ProN" pitchFamily="34" charset="-120"/>
              </a:rPr>
              <a:t>節税だけを求める人を無理に追いかけないから、専門性と人間性が際立ち、「この人に相談したい」という信頼が自然と生まれます。</a:t>
            </a:r>
            <a:endParaRPr lang="ja-JP" sz="1500" dirty="0"/>
          </a:p>
        </p:txBody>
      </p:sp>
      <p:sp>
        <p:nvSpPr>
          <p:cNvPr id="6" name="Text 4"/>
          <p:cNvSpPr txBox="1"/>
          <p:nvPr/>
        </p:nvSpPr>
        <p:spPr>
          <a:xfrm>
            <a:off x="548640" y="4937760"/>
            <a:ext cx="5943600" cy="1005840"/>
          </a:xfrm>
          <a:prstGeom prst="rect">
            <a:avLst/>
          </a:prstGeom>
          <a:noFill/>
          <a:ln/>
        </p:spPr>
        <p:txBody>
          <a:bodyPr wrap="square" lIns="0" tIns="0" rIns="0" bIns="0" rtlCol="0" anchor="t"/>
          <a:lstStyle/>
          <a:p>
            <a:pPr indent="0" marL="0">
              <a:lnSpc>
                <a:spcPct val="120000"/>
              </a:lnSpc>
              <a:buNone/>
            </a:pPr>
            <a:r>
              <a:rPr lang="ja-JP" altLang="en-US" sz="2100" dirty="0">
                <a:solidFill>
                  <a:srgbClr val="B8432F"/>
                </a:solidFill>
                <a:latin typeface="Hiragino Mincho ProN" pitchFamily="34" charset="0"/>
                <a:ea typeface="Hiragino Mincho ProN" pitchFamily="34" charset="-128"/>
                <a:cs typeface="Hiragino Mincho ProN" pitchFamily="34" charset="-120"/>
              </a:rPr>
              <a:t>「何をするか」より先に、</a:t>
            </a:r>
            <a:endParaRPr lang="ja-JP" sz="2100" dirty="0"/>
          </a:p>
          <a:p>
            <a:pPr indent="0" marL="0">
              <a:lnSpc>
                <a:spcPct val="120000"/>
              </a:lnSpc>
              <a:buNone/>
            </a:pPr>
            <a:r>
              <a:rPr lang="ja-JP" altLang="en-US" sz="2100" dirty="0">
                <a:solidFill>
                  <a:srgbClr val="B8432F"/>
                </a:solidFill>
                <a:latin typeface="Hiragino Mincho ProN" pitchFamily="34" charset="0"/>
                <a:ea typeface="Hiragino Mincho ProN" pitchFamily="34" charset="-128"/>
                <a:cs typeface="Hiragino Mincho ProN" pitchFamily="34" charset="-120"/>
              </a:rPr>
              <a:t>「何のためにするか」を語る。</a:t>
            </a:r>
            <a:endParaRPr lang="ja-JP" sz="2100" dirty="0"/>
          </a:p>
        </p:txBody>
      </p:sp>
      <p:sp>
        <p:nvSpPr>
          <p:cNvPr id="7" name="core-card"/>
          <p:cNvSpPr/>
          <p:nvPr/>
        </p:nvSpPr>
        <p:spPr>
          <a:xfrm>
            <a:off x="7040880" y="1783080"/>
            <a:ext cx="4599432" cy="4343400"/>
          </a:xfrm>
          <a:prstGeom prst="rect">
            <a:avLst/>
          </a:prstGeom>
          <a:solidFill>
            <a:srgbClr val="1C1A1A"/>
          </a:solidFill>
          <a:ln/>
        </p:spPr>
      </p:sp>
      <p:sp>
        <p:nvSpPr>
          <p:cNvPr id="8" name="enso"/>
          <p:cNvSpPr/>
          <p:nvPr/>
        </p:nvSpPr>
        <p:spPr>
          <a:xfrm>
            <a:off x="7406640" y="2148840"/>
            <a:ext cx="182880" cy="182880"/>
          </a:xfrm>
          <a:prstGeom prst="ellipse">
            <a:avLst/>
          </a:prstGeom>
          <a:ln w="19050">
            <a:solidFill>
              <a:srgbClr val="B8432F"/>
            </a:solidFill>
            <a:prstDash val="solid"/>
          </a:ln>
        </p:spPr>
      </p:sp>
      <p:sp>
        <p:nvSpPr>
          <p:cNvPr id="9" name="Text 7"/>
          <p:cNvSpPr txBox="1"/>
          <p:nvPr/>
        </p:nvSpPr>
        <p:spPr>
          <a:xfrm>
            <a:off x="7680960" y="2103120"/>
            <a:ext cx="3200400" cy="274320"/>
          </a:xfrm>
          <a:prstGeom prst="rect">
            <a:avLst/>
          </a:prstGeom>
          <a:noFill/>
          <a:ln/>
        </p:spPr>
        <p:txBody>
          <a:bodyPr wrap="square" lIns="0" tIns="0" rIns="0" bIns="0" rtlCol="0" anchor="ctr"/>
          <a:lstStyle/>
          <a:p>
            <a:pPr indent="0" marL="0">
              <a:buNone/>
            </a:pPr>
            <a:r>
              <a:rPr lang="ja-JP" altLang="en-US" sz="1200" b="1" spc="200" kern="0" dirty="0">
                <a:solidFill>
                  <a:srgbClr val="B8432F"/>
                </a:solidFill>
                <a:latin typeface="Hiragino Kaku Gothic ProN" pitchFamily="34" charset="0"/>
                <a:ea typeface="Hiragino Kaku Gothic ProN" pitchFamily="34" charset="-128"/>
                <a:cs typeface="Hiragino Kaku Gothic ProN" pitchFamily="34" charset="-120"/>
              </a:rPr>
              <a:t>松本流の核心</a:t>
            </a:r>
            <a:endParaRPr lang="ja-JP" sz="1200" dirty="0"/>
          </a:p>
        </p:txBody>
      </p:sp>
      <p:sp>
        <p:nvSpPr>
          <p:cNvPr id="10" name="Text 8"/>
          <p:cNvSpPr txBox="1"/>
          <p:nvPr/>
        </p:nvSpPr>
        <p:spPr>
          <a:xfrm>
            <a:off x="7406640" y="2560320"/>
            <a:ext cx="3931920" cy="1188720"/>
          </a:xfrm>
          <a:prstGeom prst="rect">
            <a:avLst/>
          </a:prstGeom>
          <a:noFill/>
          <a:ln/>
        </p:spPr>
        <p:txBody>
          <a:bodyPr wrap="square" lIns="0" tIns="0" rIns="0" bIns="0" rtlCol="0" anchor="t"/>
          <a:lstStyle/>
          <a:p>
            <a:pPr indent="0" marL="0">
              <a:lnSpc>
                <a:spcPct val="115000"/>
              </a:lnSpc>
              <a:buNone/>
            </a:pPr>
            <a:r>
              <a:rPr lang="ja-JP" altLang="en-US" sz="2800" dirty="0">
                <a:solidFill>
                  <a:srgbClr val="FFFFFF"/>
                </a:solidFill>
                <a:latin typeface="Hiragino Mincho ProN" pitchFamily="34" charset="0"/>
                <a:ea typeface="Hiragino Mincho ProN" pitchFamily="34" charset="-128"/>
                <a:cs typeface="Hiragino Mincho ProN" pitchFamily="34" charset="-120"/>
              </a:rPr>
              <a:t>財産ではなく、</a:t>
            </a:r>
            <a:endParaRPr lang="ja-JP" sz="2800" dirty="0"/>
          </a:p>
          <a:p>
            <a:pPr indent="0" marL="0">
              <a:lnSpc>
                <a:spcPct val="115000"/>
              </a:lnSpc>
              <a:buNone/>
            </a:pPr>
            <a:r>
              <a:rPr lang="ja-JP" altLang="en-US" sz="2800" dirty="0">
                <a:solidFill>
                  <a:srgbClr val="FFFFFF"/>
                </a:solidFill>
                <a:latin typeface="Hiragino Mincho ProN" pitchFamily="34" charset="0"/>
                <a:ea typeface="Hiragino Mincho ProN" pitchFamily="34" charset="-128"/>
                <a:cs typeface="Hiragino Mincho ProN" pitchFamily="34" charset="-120"/>
              </a:rPr>
              <a:t>人生に向き合う。</a:t>
            </a:r>
            <a:endParaRPr lang="ja-JP" sz="2800" dirty="0"/>
          </a:p>
        </p:txBody>
      </p:sp>
      <p:sp>
        <p:nvSpPr>
          <p:cNvPr id="11" name="Text 9"/>
          <p:cNvSpPr txBox="1"/>
          <p:nvPr/>
        </p:nvSpPr>
        <p:spPr>
          <a:xfrm>
            <a:off x="7406640" y="3794760"/>
            <a:ext cx="3931920" cy="548640"/>
          </a:xfrm>
          <a:prstGeom prst="rect">
            <a:avLst/>
          </a:prstGeom>
          <a:noFill/>
          <a:ln/>
        </p:spPr>
        <p:txBody>
          <a:bodyPr wrap="square" lIns="0" tIns="0" rIns="0" bIns="0" rtlCol="0" anchor="t"/>
          <a:lstStyle/>
          <a:p>
            <a:pPr indent="0" marL="0">
              <a:buNone/>
            </a:pPr>
            <a:r>
              <a:rPr lang="ja-JP" altLang="en-US" sz="1300" dirty="0">
                <a:solidFill>
                  <a:srgbClr val="C9C2BC"/>
                </a:solidFill>
                <a:latin typeface="Hiragino Kaku Gothic ProN" pitchFamily="34" charset="0"/>
                <a:ea typeface="Hiragino Kaku Gothic ProN" pitchFamily="34" charset="-128"/>
                <a:cs typeface="Hiragino Kaku Gothic ProN" pitchFamily="34" charset="-120"/>
              </a:rPr>
              <a:t>この一点が、他の相続コンサルタントとの決定的な違いをつくる。</a:t>
            </a:r>
            <a:endParaRPr lang="ja-JP" sz="1300" dirty="0"/>
          </a:p>
        </p:txBody>
      </p:sp>
      <p:sp>
        <p:nvSpPr>
          <p:cNvPr id="12" name="icon-bg"/>
          <p:cNvSpPr/>
          <p:nvPr/>
        </p:nvSpPr>
        <p:spPr>
          <a:xfrm>
            <a:off x="7406640" y="4526280"/>
            <a:ext cx="329184" cy="329184"/>
          </a:xfrm>
          <a:prstGeom prst="ellipse">
            <a:avLst/>
          </a:prstGeom>
          <a:solidFill>
            <a:srgbClr val="B8432F"/>
          </a:solidFill>
          <a:ln/>
        </p:spPr>
      </p:sp>
      <p:pic>
        <p:nvPicPr>
          <p:cNvPr id="13" name="Image 0" descr="preencoded.png">    </p:cNvPr>
          <p:cNvPicPr>
            <a:picLocks noChangeAspect="1"/>
          </p:cNvPicPr>
          <p:nvPr/>
        </p:nvPicPr>
        <p:blipFill>
          <a:blip r:embed="rId1"/>
          <a:stretch>
            <a:fillRect/>
          </a:stretch>
        </p:blipFill>
        <p:spPr>
          <a:xfrm>
            <a:off x="7492228" y="4611868"/>
            <a:ext cx="158008" cy="158008"/>
          </a:xfrm>
          <a:prstGeom prst="rect">
            <a:avLst/>
          </a:prstGeom>
        </p:spPr>
      </p:pic>
      <p:sp>
        <p:nvSpPr>
          <p:cNvPr id="14" name="Text 11"/>
          <p:cNvSpPr txBox="1"/>
          <p:nvPr/>
        </p:nvSpPr>
        <p:spPr>
          <a:xfrm>
            <a:off x="7863840" y="4526280"/>
            <a:ext cx="3611880" cy="329184"/>
          </a:xfrm>
          <a:prstGeom prst="rect">
            <a:avLst/>
          </a:prstGeom>
          <a:noFill/>
          <a:ln/>
        </p:spPr>
        <p:txBody>
          <a:bodyPr wrap="square" lIns="0" tIns="0" rIns="0" bIns="0" rtlCol="0" anchor="ctr"/>
          <a:lstStyle/>
          <a:p>
            <a:pPr indent="0" marL="0">
              <a:buNone/>
            </a:pPr>
            <a:r>
              <a:rPr lang="ja-JP" altLang="en-US" sz="1350" dirty="0">
                <a:solidFill>
                  <a:srgbClr val="FFFFFF"/>
                </a:solidFill>
                <a:latin typeface="Hiragino Kaku Gothic ProN" pitchFamily="34" charset="0"/>
                <a:ea typeface="Hiragino Kaku Gothic ProN" pitchFamily="34" charset="-128"/>
                <a:cs typeface="Hiragino Kaku Gothic ProN" pitchFamily="34" charset="-120"/>
              </a:rPr>
              <a:t>節税だけを求める人を追いかけない</a:t>
            </a:r>
            <a:endParaRPr lang="ja-JP" sz="1350" dirty="0"/>
          </a:p>
        </p:txBody>
      </p:sp>
      <p:sp>
        <p:nvSpPr>
          <p:cNvPr id="15" name="icon-bg"/>
          <p:cNvSpPr/>
          <p:nvPr/>
        </p:nvSpPr>
        <p:spPr>
          <a:xfrm>
            <a:off x="7406640" y="5001768"/>
            <a:ext cx="329184" cy="329184"/>
          </a:xfrm>
          <a:prstGeom prst="ellipse">
            <a:avLst/>
          </a:prstGeom>
          <a:solidFill>
            <a:srgbClr val="B8432F"/>
          </a:solidFill>
          <a:ln/>
        </p:spPr>
      </p:sp>
      <p:pic>
        <p:nvPicPr>
          <p:cNvPr id="16" name="Image 1" descr="preencoded.png">    </p:cNvPr>
          <p:cNvPicPr>
            <a:picLocks noChangeAspect="1"/>
          </p:cNvPicPr>
          <p:nvPr/>
        </p:nvPicPr>
        <p:blipFill>
          <a:blip r:embed="rId2"/>
          <a:stretch>
            <a:fillRect/>
          </a:stretch>
        </p:blipFill>
        <p:spPr>
          <a:xfrm>
            <a:off x="7492228" y="5087356"/>
            <a:ext cx="158008" cy="158008"/>
          </a:xfrm>
          <a:prstGeom prst="rect">
            <a:avLst/>
          </a:prstGeom>
        </p:spPr>
      </p:pic>
      <p:sp>
        <p:nvSpPr>
          <p:cNvPr id="17" name="Text 13"/>
          <p:cNvSpPr txBox="1"/>
          <p:nvPr/>
        </p:nvSpPr>
        <p:spPr>
          <a:xfrm>
            <a:off x="7863840" y="5001768"/>
            <a:ext cx="3611880" cy="329184"/>
          </a:xfrm>
          <a:prstGeom prst="rect">
            <a:avLst/>
          </a:prstGeom>
          <a:noFill/>
          <a:ln/>
        </p:spPr>
        <p:txBody>
          <a:bodyPr wrap="square" lIns="0" tIns="0" rIns="0" bIns="0" rtlCol="0" anchor="ctr"/>
          <a:lstStyle/>
          <a:p>
            <a:pPr indent="0" marL="0">
              <a:buNone/>
            </a:pPr>
            <a:r>
              <a:rPr lang="ja-JP" altLang="en-US" sz="1350" dirty="0">
                <a:solidFill>
                  <a:srgbClr val="FFFFFF"/>
                </a:solidFill>
                <a:latin typeface="Hiragino Kaku Gothic ProN" pitchFamily="34" charset="0"/>
                <a:ea typeface="Hiragino Kaku Gothic ProN" pitchFamily="34" charset="-128"/>
                <a:cs typeface="Hiragino Kaku Gothic ProN" pitchFamily="34" charset="-120"/>
              </a:rPr>
              <a:t>人生・家族・幸せを先に考える姿勢を前に出す</a:t>
            </a:r>
            <a:endParaRPr lang="ja-JP" sz="1350" dirty="0"/>
          </a:p>
        </p:txBody>
      </p:sp>
      <p:sp>
        <p:nvSpPr>
          <p:cNvPr id="18" name="icon-bg"/>
          <p:cNvSpPr/>
          <p:nvPr/>
        </p:nvSpPr>
        <p:spPr>
          <a:xfrm>
            <a:off x="7406640" y="5477256"/>
            <a:ext cx="329184" cy="329184"/>
          </a:xfrm>
          <a:prstGeom prst="ellipse">
            <a:avLst/>
          </a:prstGeom>
          <a:solidFill>
            <a:srgbClr val="B8432F"/>
          </a:solidFill>
          <a:ln/>
        </p:spPr>
      </p:sp>
      <p:pic>
        <p:nvPicPr>
          <p:cNvPr id="19" name="Image 2" descr="preencoded.png">    </p:cNvPr>
          <p:cNvPicPr>
            <a:picLocks noChangeAspect="1"/>
          </p:cNvPicPr>
          <p:nvPr/>
        </p:nvPicPr>
        <p:blipFill>
          <a:blip r:embed="rId3"/>
          <a:stretch>
            <a:fillRect/>
          </a:stretch>
        </p:blipFill>
        <p:spPr>
          <a:xfrm>
            <a:off x="7492228" y="5562844"/>
            <a:ext cx="158008" cy="158008"/>
          </a:xfrm>
          <a:prstGeom prst="rect">
            <a:avLst/>
          </a:prstGeom>
        </p:spPr>
      </p:pic>
      <p:sp>
        <p:nvSpPr>
          <p:cNvPr id="20" name="Text 15"/>
          <p:cNvSpPr txBox="1"/>
          <p:nvPr/>
        </p:nvSpPr>
        <p:spPr>
          <a:xfrm>
            <a:off x="7863840" y="5477256"/>
            <a:ext cx="3611880" cy="329184"/>
          </a:xfrm>
          <a:prstGeom prst="rect">
            <a:avLst/>
          </a:prstGeom>
          <a:noFill/>
          <a:ln/>
        </p:spPr>
        <p:txBody>
          <a:bodyPr wrap="square" lIns="0" tIns="0" rIns="0" bIns="0" rtlCol="0" anchor="ctr"/>
          <a:lstStyle/>
          <a:p>
            <a:pPr indent="0" marL="0">
              <a:buNone/>
            </a:pPr>
            <a:r>
              <a:rPr lang="ja-JP" altLang="en-US" sz="1350" dirty="0">
                <a:solidFill>
                  <a:srgbClr val="FFFFFF"/>
                </a:solidFill>
                <a:latin typeface="Hiragino Kaku Gothic ProN" pitchFamily="34" charset="0"/>
                <a:ea typeface="Hiragino Kaku Gothic ProN" pitchFamily="34" charset="-128"/>
                <a:cs typeface="Hiragino Kaku Gothic ProN" pitchFamily="34" charset="-120"/>
              </a:rPr>
              <a:t>絞り込むことで、専門性と信頼が際立つ</a:t>
            </a:r>
            <a:endParaRPr lang="ja-JP"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7315200" cy="274320"/>
          </a:xfrm>
          <a:prstGeom prst="rect">
            <a:avLst/>
          </a:prstGeom>
          <a:noFill/>
          <a:ln/>
        </p:spPr>
        <p:txBody>
          <a:bodyPr wrap="square" lIns="0" tIns="0" rIns="0" bIns="0" rtlCol="0" anchor="ctr"/>
          <a:lstStyle/>
          <a:p>
            <a:pPr indent="0" marL="0">
              <a:buNone/>
            </a:pPr>
            <a:r>
              <a:rPr lang="en-US" sz="1100" b="1" spc="200" kern="0" dirty="0">
                <a:solidFill>
                  <a:srgbClr val="B8432F"/>
                </a:solidFill>
                <a:latin typeface="Hiragino Kaku Gothic ProN" pitchFamily="34" charset="0"/>
                <a:ea typeface="Hiragino Kaku Gothic ProN" pitchFamily="34" charset="-128"/>
                <a:cs typeface="Hiragino Kaku Gothic ProN" pitchFamily="34" charset="-120"/>
              </a:rPr>
              <a:t>MESSAGE 02</a:t>
            </a:r>
            <a:endParaRPr lang="en-US" sz="11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dirty="0">
                <a:solidFill>
                  <a:srgbClr val="1C1A1A"/>
                </a:solidFill>
                <a:latin typeface="Hiragino Mincho ProN" pitchFamily="34" charset="0"/>
                <a:ea typeface="Hiragino Mincho ProN" pitchFamily="34" charset="-128"/>
                <a:cs typeface="Hiragino Mincho ProN" pitchFamily="34" charset="-120"/>
              </a:rPr>
              <a:t>「あなたは何が違うの？」に即答できるか</a:t>
            </a:r>
            <a:endParaRPr lang="en-US" sz="3000" dirty="0"/>
          </a:p>
        </p:txBody>
      </p:sp>
      <p:sp>
        <p:nvSpPr>
          <p:cNvPr id="4" name="ghost-number"/>
          <p:cNvSpPr txBox="1"/>
          <p:nvPr/>
        </p:nvSpPr>
        <p:spPr>
          <a:xfrm>
            <a:off x="9052560" y="45720"/>
            <a:ext cx="2743200" cy="1737360"/>
          </a:xfrm>
          <a:prstGeom prst="rect">
            <a:avLst/>
          </a:prstGeom>
          <a:noFill/>
          <a:ln/>
        </p:spPr>
        <p:txBody>
          <a:bodyPr wrap="square" lIns="0" tIns="0" rIns="0" bIns="0" rtlCol="0" anchor="t"/>
          <a:lstStyle/>
          <a:p>
            <a:pPr algn="r" indent="0" marL="0">
              <a:buNone/>
            </a:pPr>
            <a:r>
              <a:rPr lang="ja-JP" altLang="en-US" sz="13000" dirty="0">
                <a:solidFill>
                  <a:srgbClr val="EFE9E4"/>
                </a:solidFill>
                <a:latin typeface="Hiragino Mincho ProN" pitchFamily="34" charset="0"/>
                <a:ea typeface="Hiragino Mincho ProN" pitchFamily="34" charset="-128"/>
                <a:cs typeface="Hiragino Mincho ProN" pitchFamily="34" charset="-120"/>
              </a:rPr>
              <a:t>02</a:t>
            </a:r>
            <a:endParaRPr lang="ja-JP" sz="13000" dirty="0"/>
          </a:p>
        </p:txBody>
      </p:sp>
      <p:sp>
        <p:nvSpPr>
          <p:cNvPr id="5" name="Text 3"/>
          <p:cNvSpPr txBox="1"/>
          <p:nvPr/>
        </p:nvSpPr>
        <p:spPr>
          <a:xfrm>
            <a:off x="548640" y="1481328"/>
            <a:ext cx="8412480" cy="594360"/>
          </a:xfrm>
          <a:prstGeom prst="rect">
            <a:avLst/>
          </a:prstGeom>
          <a:noFill/>
          <a:ln/>
        </p:spPr>
        <p:txBody>
          <a:bodyPr wrap="square" lIns="0" tIns="0" rIns="0" bIns="0" rtlCol="0" anchor="t"/>
          <a:lstStyle/>
          <a:p>
            <a:pPr indent="0" marL="0">
              <a:buNone/>
            </a:pPr>
            <a:r>
              <a:rPr lang="ja-JP" altLang="en-US" sz="1400" dirty="0">
                <a:solidFill>
                  <a:srgbClr val="3A3434"/>
                </a:solidFill>
                <a:latin typeface="Hiragino Kaku Gothic ProN" pitchFamily="34" charset="0"/>
                <a:ea typeface="Hiragino Kaku Gothic ProN" pitchFamily="34" charset="-128"/>
                <a:cs typeface="Hiragino Kaku Gothic ProN" pitchFamily="34" charset="-120"/>
              </a:rPr>
              <a:t>資格、経歴、サービス内容の説明は、ブランディングではありません。それは「できること」の説明であって、「あなたである理由」ではないからです。</a:t>
            </a:r>
            <a:endParaRPr lang="ja-JP" sz="1400" dirty="0"/>
          </a:p>
        </p:txBody>
      </p:sp>
      <p:sp>
        <p:nvSpPr>
          <p:cNvPr id="6" name="ng-card"/>
          <p:cNvSpPr/>
          <p:nvPr/>
        </p:nvSpPr>
        <p:spPr>
          <a:xfrm>
            <a:off x="548640" y="2286000"/>
            <a:ext cx="5394960" cy="2423160"/>
          </a:xfrm>
          <a:prstGeom prst="rect">
            <a:avLst/>
          </a:prstGeom>
          <a:solidFill>
            <a:srgbClr val="F4F0EC"/>
          </a:solidFill>
          <a:ln/>
        </p:spPr>
      </p:sp>
      <p:sp>
        <p:nvSpPr>
          <p:cNvPr id="7" name="icon-bg"/>
          <p:cNvSpPr/>
          <p:nvPr/>
        </p:nvSpPr>
        <p:spPr>
          <a:xfrm>
            <a:off x="777240" y="2487168"/>
            <a:ext cx="457200" cy="457200"/>
          </a:xfrm>
          <a:prstGeom prst="ellipse">
            <a:avLst/>
          </a:prstGeom>
          <a:solidFill>
            <a:srgbClr val="A39C98"/>
          </a:solidFill>
          <a:ln/>
        </p:spPr>
      </p:sp>
      <p:pic>
        <p:nvPicPr>
          <p:cNvPr id="8" name="Image 0" descr="preencoded.png">    </p:cNvPr>
          <p:cNvPicPr>
            <a:picLocks noChangeAspect="1"/>
          </p:cNvPicPr>
          <p:nvPr/>
        </p:nvPicPr>
        <p:blipFill>
          <a:blip r:embed="rId1"/>
          <a:stretch>
            <a:fillRect/>
          </a:stretch>
        </p:blipFill>
        <p:spPr>
          <a:xfrm>
            <a:off x="896112" y="2606040"/>
            <a:ext cx="219456" cy="219456"/>
          </a:xfrm>
          <a:prstGeom prst="rect">
            <a:avLst/>
          </a:prstGeom>
        </p:spPr>
      </p:pic>
      <p:sp>
        <p:nvSpPr>
          <p:cNvPr id="9" name="Text 6"/>
          <p:cNvSpPr txBox="1"/>
          <p:nvPr/>
        </p:nvSpPr>
        <p:spPr>
          <a:xfrm>
            <a:off x="1371600" y="2487168"/>
            <a:ext cx="2743200" cy="457200"/>
          </a:xfrm>
          <a:prstGeom prst="rect">
            <a:avLst/>
          </a:prstGeom>
          <a:noFill/>
          <a:ln/>
        </p:spPr>
        <p:txBody>
          <a:bodyPr wrap="square" lIns="0" tIns="0" rIns="0" bIns="0" rtlCol="0" anchor="ctr"/>
          <a:lstStyle/>
          <a:p>
            <a:pPr indent="0" marL="0">
              <a:buNone/>
            </a:pPr>
            <a:r>
              <a:rPr lang="ja-JP" altLang="en-US" sz="1600" b="1" dirty="0">
                <a:solidFill>
                  <a:srgbClr val="8A8380"/>
                </a:solidFill>
                <a:latin typeface="Hiragino Kaku Gothic ProN" pitchFamily="34" charset="0"/>
                <a:ea typeface="Hiragino Kaku Gothic ProN" pitchFamily="34" charset="-128"/>
                <a:cs typeface="Hiragino Kaku Gothic ProN" pitchFamily="34" charset="-120"/>
              </a:rPr>
              <a:t>ありがちな答え</a:t>
            </a:r>
            <a:endParaRPr lang="ja-JP" sz="1600" dirty="0"/>
          </a:p>
        </p:txBody>
      </p:sp>
      <p:sp>
        <p:nvSpPr>
          <p:cNvPr id="10" name="Text 7"/>
          <p:cNvSpPr txBox="1"/>
          <p:nvPr/>
        </p:nvSpPr>
        <p:spPr>
          <a:xfrm>
            <a:off x="777240" y="3108960"/>
            <a:ext cx="4937760" cy="1005840"/>
          </a:xfrm>
          <a:prstGeom prst="rect">
            <a:avLst/>
          </a:prstGeom>
          <a:noFill/>
          <a:ln/>
        </p:spPr>
        <p:txBody>
          <a:bodyPr wrap="square" lIns="0" tIns="0" rIns="0" bIns="0" rtlCol="0" anchor="t"/>
          <a:lstStyle/>
          <a:p>
            <a:pPr indent="0" marL="0">
              <a:spcAft>
                <a:spcPts val="400"/>
              </a:spcAft>
              <a:buNone/>
            </a:pPr>
            <a:r>
              <a:rPr lang="ja-JP" altLang="en-US" sz="1400" dirty="0">
                <a:solidFill>
                  <a:srgbClr val="8A8380"/>
                </a:solidFill>
                <a:latin typeface="Hiragino Kaku Gothic ProN" pitchFamily="34" charset="0"/>
                <a:ea typeface="Hiragino Kaku Gothic ProN" pitchFamily="34" charset="-128"/>
                <a:cs typeface="Hiragino Kaku Gothic ProN" pitchFamily="34" charset="-120"/>
              </a:rPr>
              <a:t>「FP資格を持っていて、相続手続きができます」</a:t>
            </a:r>
            <a:endParaRPr lang="ja-JP" sz="1400" dirty="0"/>
          </a:p>
          <a:p>
            <a:pPr indent="0" marL="0">
              <a:spcAft>
                <a:spcPts val="400"/>
              </a:spcAft>
              <a:buNone/>
            </a:pPr>
            <a:r>
              <a:rPr lang="ja-JP" altLang="en-US" sz="1400" dirty="0">
                <a:solidFill>
                  <a:srgbClr val="8A8380"/>
                </a:solidFill>
                <a:latin typeface="Hiragino Kaku Gothic ProN" pitchFamily="34" charset="0"/>
                <a:ea typeface="Hiragino Kaku Gothic ProN" pitchFamily="34" charset="-128"/>
                <a:cs typeface="Hiragino Kaku Gothic ProN" pitchFamily="34" charset="-120"/>
              </a:rPr>
              <a:t>「10年のキャリアがあります」</a:t>
            </a:r>
            <a:endParaRPr lang="ja-JP" sz="1400" dirty="0"/>
          </a:p>
          <a:p>
            <a:pPr indent="0" marL="0">
              <a:spcAft>
                <a:spcPts val="400"/>
              </a:spcAft>
              <a:buNone/>
            </a:pPr>
            <a:r>
              <a:rPr lang="ja-JP" altLang="en-US" sz="1400" dirty="0">
                <a:solidFill>
                  <a:srgbClr val="8A8380"/>
                </a:solidFill>
                <a:latin typeface="Hiragino Kaku Gothic ProN" pitchFamily="34" charset="0"/>
                <a:ea typeface="Hiragino Kaku Gothic ProN" pitchFamily="34" charset="-128"/>
                <a:cs typeface="Hiragino Kaku Gothic ProN" pitchFamily="34" charset="-120"/>
              </a:rPr>
              <a:t>「ワンストップでサービス提供できます」</a:t>
            </a:r>
            <a:endParaRPr lang="ja-JP" sz="1400" dirty="0"/>
          </a:p>
        </p:txBody>
      </p:sp>
      <p:sp>
        <p:nvSpPr>
          <p:cNvPr id="11" name="Text 8"/>
          <p:cNvSpPr txBox="1"/>
          <p:nvPr/>
        </p:nvSpPr>
        <p:spPr>
          <a:xfrm>
            <a:off x="777240" y="4206240"/>
            <a:ext cx="4937760" cy="320040"/>
          </a:xfrm>
          <a:prstGeom prst="rect">
            <a:avLst/>
          </a:prstGeom>
          <a:noFill/>
          <a:ln/>
        </p:spPr>
        <p:txBody>
          <a:bodyPr wrap="square" lIns="0" tIns="0" rIns="0" bIns="0" rtlCol="0" anchor="t"/>
          <a:lstStyle/>
          <a:p>
            <a:pPr indent="0" marL="0">
              <a:buNone/>
            </a:pPr>
            <a:r>
              <a:rPr lang="ja-JP" altLang="en-US" sz="1250" b="1" dirty="0">
                <a:solidFill>
                  <a:srgbClr val="8A8380"/>
                </a:solidFill>
                <a:latin typeface="Hiragino Kaku Gothic ProN" pitchFamily="34" charset="0"/>
                <a:ea typeface="Hiragino Kaku Gothic ProN" pitchFamily="34" charset="-128"/>
                <a:cs typeface="Hiragino Kaku Gothic ProN" pitchFamily="34" charset="-120"/>
              </a:rPr>
              <a:t>→ 同業者も同じことが言える。差別化にならない。</a:t>
            </a:r>
            <a:endParaRPr lang="ja-JP" sz="1250" dirty="0"/>
          </a:p>
        </p:txBody>
      </p:sp>
      <p:sp>
        <p:nvSpPr>
          <p:cNvPr id="12" name="ok-card"/>
          <p:cNvSpPr/>
          <p:nvPr/>
        </p:nvSpPr>
        <p:spPr>
          <a:xfrm>
            <a:off x="6245352" y="2286000"/>
            <a:ext cx="5394960" cy="2423160"/>
          </a:xfrm>
          <a:prstGeom prst="rect">
            <a:avLst/>
          </a:prstGeom>
          <a:solidFill>
            <a:srgbClr val="FBEDEA"/>
          </a:solidFill>
          <a:ln/>
        </p:spPr>
      </p:sp>
      <p:sp>
        <p:nvSpPr>
          <p:cNvPr id="13" name="icon-bg"/>
          <p:cNvSpPr/>
          <p:nvPr/>
        </p:nvSpPr>
        <p:spPr>
          <a:xfrm>
            <a:off x="6473952" y="2487168"/>
            <a:ext cx="457200" cy="457200"/>
          </a:xfrm>
          <a:prstGeom prst="ellipse">
            <a:avLst/>
          </a:prstGeom>
          <a:solidFill>
            <a:srgbClr val="B8432F"/>
          </a:solidFill>
          <a:ln/>
        </p:spPr>
      </p:sp>
      <p:pic>
        <p:nvPicPr>
          <p:cNvPr id="14" name="Image 1" descr="preencoded.png">    </p:cNvPr>
          <p:cNvPicPr>
            <a:picLocks noChangeAspect="1"/>
          </p:cNvPicPr>
          <p:nvPr/>
        </p:nvPicPr>
        <p:blipFill>
          <a:blip r:embed="rId2"/>
          <a:stretch>
            <a:fillRect/>
          </a:stretch>
        </p:blipFill>
        <p:spPr>
          <a:xfrm>
            <a:off x="6592824" y="2606040"/>
            <a:ext cx="219456" cy="219456"/>
          </a:xfrm>
          <a:prstGeom prst="rect">
            <a:avLst/>
          </a:prstGeom>
        </p:spPr>
      </p:pic>
      <p:sp>
        <p:nvSpPr>
          <p:cNvPr id="15" name="Text 11"/>
          <p:cNvSpPr txBox="1"/>
          <p:nvPr/>
        </p:nvSpPr>
        <p:spPr>
          <a:xfrm>
            <a:off x="7068312" y="2487168"/>
            <a:ext cx="2743200" cy="457200"/>
          </a:xfrm>
          <a:prstGeom prst="rect">
            <a:avLst/>
          </a:prstGeom>
          <a:noFill/>
          <a:ln/>
        </p:spPr>
        <p:txBody>
          <a:bodyPr wrap="square" lIns="0" tIns="0" rIns="0" bIns="0" rtlCol="0" anchor="ctr"/>
          <a:lstStyle/>
          <a:p>
            <a:pPr indent="0" marL="0">
              <a:buNone/>
            </a:pPr>
            <a:r>
              <a:rPr lang="ja-JP" altLang="en-US" sz="1600" b="1" dirty="0">
                <a:solidFill>
                  <a:srgbClr val="B8432F"/>
                </a:solidFill>
                <a:latin typeface="Hiragino Kaku Gothic ProN" pitchFamily="34" charset="0"/>
                <a:ea typeface="Hiragino Kaku Gothic ProN" pitchFamily="34" charset="-128"/>
                <a:cs typeface="Hiragino Kaku Gothic ProN" pitchFamily="34" charset="-120"/>
              </a:rPr>
              <a:t>松本流の答え</a:t>
            </a:r>
            <a:endParaRPr lang="ja-JP" sz="1600" dirty="0"/>
          </a:p>
        </p:txBody>
      </p:sp>
      <p:sp>
        <p:nvSpPr>
          <p:cNvPr id="16" name="Text 12"/>
          <p:cNvSpPr txBox="1"/>
          <p:nvPr/>
        </p:nvSpPr>
        <p:spPr>
          <a:xfrm>
            <a:off x="6473952" y="3108960"/>
            <a:ext cx="4983480" cy="1051560"/>
          </a:xfrm>
          <a:prstGeom prst="rect">
            <a:avLst/>
          </a:prstGeom>
          <a:noFill/>
          <a:ln/>
        </p:spPr>
        <p:txBody>
          <a:bodyPr wrap="square" lIns="0" tIns="0" rIns="0" bIns="0" rtlCol="0" anchor="t"/>
          <a:lstStyle/>
          <a:p>
            <a:pPr indent="0" marL="0">
              <a:lnSpc>
                <a:spcPct val="115000"/>
              </a:lnSpc>
              <a:buNone/>
            </a:pPr>
            <a:r>
              <a:rPr lang="ja-JP" altLang="en-US" sz="1600" dirty="0">
                <a:solidFill>
                  <a:srgbClr val="1C1A1A"/>
                </a:solidFill>
                <a:latin typeface="Hiragino Mincho ProN" pitchFamily="34" charset="0"/>
                <a:ea typeface="Hiragino Mincho ProN" pitchFamily="34" charset="-128"/>
                <a:cs typeface="Hiragino Mincho ProN" pitchFamily="34" charset="-120"/>
              </a:rPr>
              <a:t>「私は、財産に着目しない相続コンサルタントです。財産の前に、その人の人生と家族の幸せを一緒に考えます」</a:t>
            </a:r>
            <a:endParaRPr lang="ja-JP" sz="1600" dirty="0"/>
          </a:p>
        </p:txBody>
      </p:sp>
      <p:sp>
        <p:nvSpPr>
          <p:cNvPr id="17" name="Text 13"/>
          <p:cNvSpPr txBox="1"/>
          <p:nvPr/>
        </p:nvSpPr>
        <p:spPr>
          <a:xfrm>
            <a:off x="6473952" y="4206240"/>
            <a:ext cx="4937760" cy="320040"/>
          </a:xfrm>
          <a:prstGeom prst="rect">
            <a:avLst/>
          </a:prstGeom>
          <a:noFill/>
          <a:ln/>
        </p:spPr>
        <p:txBody>
          <a:bodyPr wrap="square" lIns="0" tIns="0" rIns="0" bIns="0" rtlCol="0" anchor="t"/>
          <a:lstStyle/>
          <a:p>
            <a:pPr indent="0" marL="0">
              <a:buNone/>
            </a:pPr>
            <a:r>
              <a:rPr lang="ja-JP" altLang="en-US" sz="1250" b="1" dirty="0">
                <a:solidFill>
                  <a:srgbClr val="B8432F"/>
                </a:solidFill>
                <a:latin typeface="Hiragino Kaku Gothic ProN" pitchFamily="34" charset="0"/>
                <a:ea typeface="Hiragino Kaku Gothic ProN" pitchFamily="34" charset="-128"/>
                <a:cs typeface="Hiragino Kaku Gothic ProN" pitchFamily="34" charset="-120"/>
              </a:rPr>
              <a:t>→ 会話のきっかけになり、記憶に残り、紹介を生む。</a:t>
            </a:r>
            <a:endParaRPr lang="ja-JP" sz="1250" dirty="0"/>
          </a:p>
        </p:txBody>
      </p:sp>
      <p:sp>
        <p:nvSpPr>
          <p:cNvPr id="18" name="insight"/>
          <p:cNvSpPr/>
          <p:nvPr/>
        </p:nvSpPr>
        <p:spPr>
          <a:xfrm>
            <a:off x="548640" y="4937760"/>
            <a:ext cx="11091672" cy="1188720"/>
          </a:xfrm>
          <a:prstGeom prst="rect">
            <a:avLst/>
          </a:prstGeom>
          <a:solidFill>
            <a:srgbClr val="1C1A1A"/>
          </a:solidFill>
          <a:ln/>
        </p:spPr>
      </p:sp>
      <p:sp>
        <p:nvSpPr>
          <p:cNvPr id="19" name="icon-bg"/>
          <p:cNvSpPr/>
          <p:nvPr/>
        </p:nvSpPr>
        <p:spPr>
          <a:xfrm>
            <a:off x="822960" y="5212080"/>
            <a:ext cx="640080" cy="640080"/>
          </a:xfrm>
          <a:prstGeom prst="ellipse">
            <a:avLst/>
          </a:prstGeom>
          <a:solidFill>
            <a:srgbClr val="B8432F"/>
          </a:solidFill>
          <a:ln/>
        </p:spPr>
      </p:sp>
      <p:pic>
        <p:nvPicPr>
          <p:cNvPr id="20" name="Image 2" descr="preencoded.png">    </p:cNvPr>
          <p:cNvPicPr>
            <a:picLocks noChangeAspect="1"/>
          </p:cNvPicPr>
          <p:nvPr/>
        </p:nvPicPr>
        <p:blipFill>
          <a:blip r:embed="rId3"/>
          <a:stretch>
            <a:fillRect/>
          </a:stretch>
        </p:blipFill>
        <p:spPr>
          <a:xfrm>
            <a:off x="989381" y="5378501"/>
            <a:ext cx="307238" cy="307238"/>
          </a:xfrm>
          <a:prstGeom prst="rect">
            <a:avLst/>
          </a:prstGeom>
        </p:spPr>
      </p:pic>
      <p:sp>
        <p:nvSpPr>
          <p:cNvPr id="21" name="Text 16"/>
          <p:cNvSpPr txBox="1"/>
          <p:nvPr/>
        </p:nvSpPr>
        <p:spPr>
          <a:xfrm>
            <a:off x="1691640" y="5102352"/>
            <a:ext cx="3657600" cy="411480"/>
          </a:xfrm>
          <a:prstGeom prst="rect">
            <a:avLst/>
          </a:prstGeom>
          <a:noFill/>
          <a:ln/>
        </p:spPr>
        <p:txBody>
          <a:bodyPr wrap="square" lIns="0" tIns="0" rIns="0" bIns="0" rtlCol="0" anchor="t"/>
          <a:lstStyle/>
          <a:p>
            <a:pPr indent="0" marL="0">
              <a:buNone/>
            </a:pPr>
            <a:r>
              <a:rPr lang="ja-JP" altLang="en-US" sz="1900" dirty="0">
                <a:solidFill>
                  <a:srgbClr val="FFFFFF"/>
                </a:solidFill>
                <a:latin typeface="Hiragino Mincho ProN" pitchFamily="34" charset="0"/>
                <a:ea typeface="Hiragino Mincho ProN" pitchFamily="34" charset="-128"/>
                <a:cs typeface="Hiragino Mincho ProN" pitchFamily="34" charset="-120"/>
              </a:rPr>
              <a:t>疑問そのものが武器になる</a:t>
            </a:r>
            <a:endParaRPr lang="ja-JP" sz="1900" dirty="0"/>
          </a:p>
        </p:txBody>
      </p:sp>
      <p:sp>
        <p:nvSpPr>
          <p:cNvPr id="22" name="Text 17"/>
          <p:cNvSpPr txBox="1"/>
          <p:nvPr/>
        </p:nvSpPr>
        <p:spPr>
          <a:xfrm>
            <a:off x="1691640" y="5513832"/>
            <a:ext cx="9692640" cy="548640"/>
          </a:xfrm>
          <a:prstGeom prst="rect">
            <a:avLst/>
          </a:prstGeom>
          <a:noFill/>
          <a:ln/>
        </p:spPr>
        <p:txBody>
          <a:bodyPr wrap="square" lIns="0" tIns="0" rIns="0" bIns="0" rtlCol="0" anchor="t"/>
          <a:lstStyle/>
          <a:p>
            <a:pPr indent="0" marL="0">
              <a:buNone/>
            </a:pPr>
            <a:r>
              <a:rPr lang="ja-JP" altLang="en-US" sz="1250" dirty="0">
                <a:solidFill>
                  <a:srgbClr val="C9C2BC"/>
                </a:solidFill>
                <a:latin typeface="Hiragino Kaku Gothic ProN" pitchFamily="34" charset="0"/>
                <a:ea typeface="Hiragino Kaku Gothic ProN" pitchFamily="34" charset="-128"/>
                <a:cs typeface="Hiragino Kaku Gothic ProN" pitchFamily="34" charset="-120"/>
              </a:rPr>
              <a:t>「財産に着目しない相続コンサルタントって、何をする人？」——その疑問が生まれること自体がブランディングの成功。人は“わかりにくいこと”を聞きたがり、それが深い対話へとつながります。</a:t>
            </a:r>
            <a:endParaRPr lang="ja-JP"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7315200" cy="274320"/>
          </a:xfrm>
          <a:prstGeom prst="rect">
            <a:avLst/>
          </a:prstGeom>
          <a:noFill/>
          <a:ln/>
        </p:spPr>
        <p:txBody>
          <a:bodyPr wrap="square" lIns="0" tIns="0" rIns="0" bIns="0" rtlCol="0" anchor="ctr"/>
          <a:lstStyle/>
          <a:p>
            <a:pPr indent="0" marL="0">
              <a:buNone/>
            </a:pPr>
            <a:r>
              <a:rPr lang="en-US" sz="1100" b="1" spc="200" kern="0" dirty="0">
                <a:solidFill>
                  <a:srgbClr val="B8432F"/>
                </a:solidFill>
                <a:latin typeface="Hiragino Kaku Gothic ProN" pitchFamily="34" charset="0"/>
                <a:ea typeface="Hiragino Kaku Gothic ProN" pitchFamily="34" charset="-128"/>
                <a:cs typeface="Hiragino Kaku Gothic ProN" pitchFamily="34" charset="-120"/>
              </a:rPr>
              <a:t>MESSAGE 03</a:t>
            </a:r>
            <a:endParaRPr lang="en-US" sz="11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dirty="0">
                <a:solidFill>
                  <a:srgbClr val="1C1A1A"/>
                </a:solidFill>
                <a:latin typeface="Hiragino Mincho ProN" pitchFamily="34" charset="0"/>
                <a:ea typeface="Hiragino Mincho ProN" pitchFamily="34" charset="-128"/>
                <a:cs typeface="Hiragino Mincho ProN" pitchFamily="34" charset="-120"/>
              </a:rPr>
              <a:t>「発信」は宣伝ではなく、使命を届ける行動</a:t>
            </a:r>
            <a:endParaRPr lang="en-US" sz="3000" dirty="0"/>
          </a:p>
        </p:txBody>
      </p:sp>
      <p:sp>
        <p:nvSpPr>
          <p:cNvPr id="4" name="ghost-number"/>
          <p:cNvSpPr txBox="1"/>
          <p:nvPr/>
        </p:nvSpPr>
        <p:spPr>
          <a:xfrm>
            <a:off x="9052560" y="45720"/>
            <a:ext cx="2743200" cy="1737360"/>
          </a:xfrm>
          <a:prstGeom prst="rect">
            <a:avLst/>
          </a:prstGeom>
          <a:noFill/>
          <a:ln/>
        </p:spPr>
        <p:txBody>
          <a:bodyPr wrap="square" lIns="0" tIns="0" rIns="0" bIns="0" rtlCol="0" anchor="t"/>
          <a:lstStyle/>
          <a:p>
            <a:pPr algn="r" indent="0" marL="0">
              <a:buNone/>
            </a:pPr>
            <a:r>
              <a:rPr lang="ja-JP" altLang="en-US" sz="13000" dirty="0">
                <a:solidFill>
                  <a:srgbClr val="EFE9E4"/>
                </a:solidFill>
                <a:latin typeface="Hiragino Mincho ProN" pitchFamily="34" charset="0"/>
                <a:ea typeface="Hiragino Mincho ProN" pitchFamily="34" charset="-128"/>
                <a:cs typeface="Hiragino Mincho ProN" pitchFamily="34" charset="-120"/>
              </a:rPr>
              <a:t>03</a:t>
            </a:r>
            <a:endParaRPr lang="ja-JP" sz="13000" dirty="0"/>
          </a:p>
        </p:txBody>
      </p:sp>
      <p:sp>
        <p:nvSpPr>
          <p:cNvPr id="5" name="enso"/>
          <p:cNvSpPr/>
          <p:nvPr/>
        </p:nvSpPr>
        <p:spPr>
          <a:xfrm>
            <a:off x="7818120" y="1783080"/>
            <a:ext cx="3931920" cy="3931920"/>
          </a:xfrm>
          <a:prstGeom prst="ellipse">
            <a:avLst/>
          </a:prstGeom>
          <a:ln w="19050">
            <a:solidFill>
              <a:srgbClr val="B8432F"/>
            </a:solidFill>
            <a:prstDash val="solid"/>
          </a:ln>
        </p:spPr>
      </p:sp>
      <p:pic>
        <p:nvPicPr>
          <p:cNvPr id="6" name="Image 0" descr="カフェで名刺を交換する二人">    </p:cNvPr>
          <p:cNvPicPr>
            <a:picLocks noChangeAspect="1"/>
          </p:cNvPicPr>
          <p:nvPr/>
        </p:nvPicPr>
        <p:blipFill>
          <a:blip r:embed="rId1"/>
          <a:stretch>
            <a:fillRect/>
          </a:stretch>
        </p:blipFill>
        <p:spPr>
          <a:xfrm>
            <a:off x="8092440" y="2057400"/>
            <a:ext cx="3383280" cy="3383280"/>
          </a:xfrm>
          <a:prstGeom prst="ellipse">
            <a:avLst/>
          </a:prstGeom>
        </p:spPr>
      </p:pic>
      <p:sp>
        <p:nvSpPr>
          <p:cNvPr id="7" name="Text 4"/>
          <p:cNvSpPr txBox="1"/>
          <p:nvPr/>
        </p:nvSpPr>
        <p:spPr>
          <a:xfrm>
            <a:off x="548640" y="1481328"/>
            <a:ext cx="6766560" cy="868680"/>
          </a:xfrm>
          <a:prstGeom prst="rect">
            <a:avLst/>
          </a:prstGeom>
          <a:noFill/>
          <a:ln/>
        </p:spPr>
        <p:txBody>
          <a:bodyPr wrap="square" lIns="0" tIns="0" rIns="0" bIns="0" rtlCol="0" anchor="t"/>
          <a:lstStyle/>
          <a:p>
            <a:pPr indent="0" marL="0">
              <a:lnSpc>
                <a:spcPct val="120000"/>
              </a:lnSpc>
              <a:buNone/>
            </a:pPr>
            <a:r>
              <a:rPr lang="ja-JP" altLang="en-US" sz="1400" dirty="0">
                <a:solidFill>
                  <a:srgbClr val="3A3434"/>
                </a:solidFill>
                <a:latin typeface="Hiragino Kaku Gothic ProN" pitchFamily="34" charset="0"/>
                <a:ea typeface="Hiragino Kaku Gothic ProN" pitchFamily="34" charset="-128"/>
                <a:cs typeface="Hiragino Kaku Gothic ProN" pitchFamily="34" charset="-120"/>
              </a:rPr>
              <a:t>発信＝集客のための宣伝、ではありません。発信とは、使命を伝え続ける日常の行動。相手がすぐお客様になるかではなく、誰と出会っても使命を伝える。その積み重ねが紹介につながります。</a:t>
            </a:r>
            <a:endParaRPr lang="ja-JP" sz="1400" dirty="0"/>
          </a:p>
        </p:txBody>
      </p:sp>
      <p:sp>
        <p:nvSpPr>
          <p:cNvPr id="8" name="icon-bg"/>
          <p:cNvSpPr/>
          <p:nvPr/>
        </p:nvSpPr>
        <p:spPr>
          <a:xfrm>
            <a:off x="548640" y="2606040"/>
            <a:ext cx="566928" cy="566928"/>
          </a:xfrm>
          <a:prstGeom prst="ellipse">
            <a:avLst/>
          </a:prstGeom>
          <a:solidFill>
            <a:srgbClr val="F4F0EC"/>
          </a:solidFill>
          <a:ln/>
        </p:spPr>
      </p:sp>
      <p:pic>
        <p:nvPicPr>
          <p:cNvPr id="9" name="Image 1" descr="preencoded.png">    </p:cNvPr>
          <p:cNvPicPr>
            <a:picLocks noChangeAspect="1"/>
          </p:cNvPicPr>
          <p:nvPr/>
        </p:nvPicPr>
        <p:blipFill>
          <a:blip r:embed="rId2"/>
          <a:stretch>
            <a:fillRect/>
          </a:stretch>
        </p:blipFill>
        <p:spPr>
          <a:xfrm>
            <a:off x="696041" y="2753441"/>
            <a:ext cx="272125" cy="272125"/>
          </a:xfrm>
          <a:prstGeom prst="rect">
            <a:avLst/>
          </a:prstGeom>
        </p:spPr>
      </p:pic>
      <p:sp>
        <p:nvSpPr>
          <p:cNvPr id="10" name="Text 6"/>
          <p:cNvSpPr txBox="1"/>
          <p:nvPr/>
        </p:nvSpPr>
        <p:spPr>
          <a:xfrm>
            <a:off x="1280160" y="2624328"/>
            <a:ext cx="2651760" cy="320040"/>
          </a:xfrm>
          <a:prstGeom prst="rect">
            <a:avLst/>
          </a:prstGeom>
          <a:noFill/>
          <a:ln/>
        </p:spPr>
        <p:txBody>
          <a:bodyPr wrap="square" lIns="0" tIns="0" rIns="0" bIns="0" rtlCol="0" anchor="t"/>
          <a:lstStyle/>
          <a:p>
            <a:pPr indent="0" marL="0">
              <a:buNone/>
            </a:pPr>
            <a:r>
              <a:rPr lang="ja-JP" altLang="en-US" sz="1500" b="1" dirty="0">
                <a:solidFill>
                  <a:srgbClr val="1C1A1A"/>
                </a:solidFill>
                <a:latin typeface="Hiragino Kaku Gothic ProN" pitchFamily="34" charset="0"/>
                <a:ea typeface="Hiragino Kaku Gothic ProN" pitchFamily="34" charset="-128"/>
                <a:cs typeface="Hiragino Kaku Gothic ProN" pitchFamily="34" charset="-120"/>
              </a:rPr>
              <a:t>名刺交換・個別面談</a:t>
            </a:r>
            <a:endParaRPr lang="ja-JP" sz="1500" dirty="0"/>
          </a:p>
        </p:txBody>
      </p:sp>
      <p:sp>
        <p:nvSpPr>
          <p:cNvPr id="11" name="Text 7"/>
          <p:cNvSpPr txBox="1"/>
          <p:nvPr/>
        </p:nvSpPr>
        <p:spPr>
          <a:xfrm>
            <a:off x="1280160" y="2990088"/>
            <a:ext cx="2651760" cy="548640"/>
          </a:xfrm>
          <a:prstGeom prst="rect">
            <a:avLst/>
          </a:prstGeom>
          <a:noFill/>
          <a:ln/>
        </p:spPr>
        <p:txBody>
          <a:bodyPr wrap="square" lIns="0" tIns="0" rIns="0" bIns="0" rtlCol="0" anchor="t"/>
          <a:lstStyle/>
          <a:p>
            <a:pPr indent="0" marL="0">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一対一の出会いを丁寧に積み重ねる</a:t>
            </a:r>
            <a:endParaRPr lang="ja-JP" sz="1250" dirty="0"/>
          </a:p>
        </p:txBody>
      </p:sp>
      <p:sp>
        <p:nvSpPr>
          <p:cNvPr id="12" name="icon-bg"/>
          <p:cNvSpPr/>
          <p:nvPr/>
        </p:nvSpPr>
        <p:spPr>
          <a:xfrm>
            <a:off x="4023360" y="2606040"/>
            <a:ext cx="566928" cy="566928"/>
          </a:xfrm>
          <a:prstGeom prst="ellipse">
            <a:avLst/>
          </a:prstGeom>
          <a:solidFill>
            <a:srgbClr val="F4F0EC"/>
          </a:solidFill>
          <a:ln/>
        </p:spPr>
      </p:sp>
      <p:pic>
        <p:nvPicPr>
          <p:cNvPr id="13" name="Image 2" descr="preencoded.png">    </p:cNvPr>
          <p:cNvPicPr>
            <a:picLocks noChangeAspect="1"/>
          </p:cNvPicPr>
          <p:nvPr/>
        </p:nvPicPr>
        <p:blipFill>
          <a:blip r:embed="rId3"/>
          <a:stretch>
            <a:fillRect/>
          </a:stretch>
        </p:blipFill>
        <p:spPr>
          <a:xfrm>
            <a:off x="4170761" y="2753441"/>
            <a:ext cx="272125" cy="272125"/>
          </a:xfrm>
          <a:prstGeom prst="rect">
            <a:avLst/>
          </a:prstGeom>
        </p:spPr>
      </p:pic>
      <p:sp>
        <p:nvSpPr>
          <p:cNvPr id="14" name="Text 9"/>
          <p:cNvSpPr txBox="1"/>
          <p:nvPr/>
        </p:nvSpPr>
        <p:spPr>
          <a:xfrm>
            <a:off x="4754880" y="2624328"/>
            <a:ext cx="2651760" cy="320040"/>
          </a:xfrm>
          <a:prstGeom prst="rect">
            <a:avLst/>
          </a:prstGeom>
          <a:noFill/>
          <a:ln/>
        </p:spPr>
        <p:txBody>
          <a:bodyPr wrap="square" lIns="0" tIns="0" rIns="0" bIns="0" rtlCol="0" anchor="t"/>
          <a:lstStyle/>
          <a:p>
            <a:pPr indent="0" marL="0">
              <a:buNone/>
            </a:pPr>
            <a:r>
              <a:rPr lang="ja-JP" altLang="en-US" sz="1500" b="1" dirty="0">
                <a:solidFill>
                  <a:srgbClr val="1C1A1A"/>
                </a:solidFill>
                <a:latin typeface="Hiragino Kaku Gothic ProN" pitchFamily="34" charset="0"/>
                <a:ea typeface="Hiragino Kaku Gothic ProN" pitchFamily="34" charset="-128"/>
                <a:cs typeface="Hiragino Kaku Gothic ProN" pitchFamily="34" charset="-120"/>
              </a:rPr>
              <a:t>メルマガ・SNS</a:t>
            </a:r>
            <a:endParaRPr lang="ja-JP" sz="1500" dirty="0"/>
          </a:p>
        </p:txBody>
      </p:sp>
      <p:sp>
        <p:nvSpPr>
          <p:cNvPr id="15" name="Text 10"/>
          <p:cNvSpPr txBox="1"/>
          <p:nvPr/>
        </p:nvSpPr>
        <p:spPr>
          <a:xfrm>
            <a:off x="4754880" y="2990088"/>
            <a:ext cx="2651760" cy="548640"/>
          </a:xfrm>
          <a:prstGeom prst="rect">
            <a:avLst/>
          </a:prstGeom>
          <a:noFill/>
          <a:ln/>
        </p:spPr>
        <p:txBody>
          <a:bodyPr wrap="square" lIns="0" tIns="0" rIns="0" bIns="0" rtlCol="0" anchor="t"/>
          <a:lstStyle/>
          <a:p>
            <a:pPr indent="0" marL="0">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使命と姿勢を継続的に発信する</a:t>
            </a:r>
            <a:endParaRPr lang="ja-JP" sz="1250" dirty="0"/>
          </a:p>
        </p:txBody>
      </p:sp>
      <p:sp>
        <p:nvSpPr>
          <p:cNvPr id="16" name="icon-bg"/>
          <p:cNvSpPr/>
          <p:nvPr/>
        </p:nvSpPr>
        <p:spPr>
          <a:xfrm>
            <a:off x="548640" y="3886200"/>
            <a:ext cx="566928" cy="566928"/>
          </a:xfrm>
          <a:prstGeom prst="ellipse">
            <a:avLst/>
          </a:prstGeom>
          <a:solidFill>
            <a:srgbClr val="F4F0EC"/>
          </a:solidFill>
          <a:ln/>
        </p:spPr>
      </p:sp>
      <p:pic>
        <p:nvPicPr>
          <p:cNvPr id="17" name="Image 3" descr="preencoded.png">    </p:cNvPr>
          <p:cNvPicPr>
            <a:picLocks noChangeAspect="1"/>
          </p:cNvPicPr>
          <p:nvPr/>
        </p:nvPicPr>
        <p:blipFill>
          <a:blip r:embed="rId4"/>
          <a:stretch>
            <a:fillRect/>
          </a:stretch>
        </p:blipFill>
        <p:spPr>
          <a:xfrm>
            <a:off x="696041" y="4033601"/>
            <a:ext cx="272125" cy="272125"/>
          </a:xfrm>
          <a:prstGeom prst="rect">
            <a:avLst/>
          </a:prstGeom>
        </p:spPr>
      </p:pic>
      <p:sp>
        <p:nvSpPr>
          <p:cNvPr id="18" name="Text 12"/>
          <p:cNvSpPr txBox="1"/>
          <p:nvPr/>
        </p:nvSpPr>
        <p:spPr>
          <a:xfrm>
            <a:off x="1280160" y="3904488"/>
            <a:ext cx="2651760" cy="320040"/>
          </a:xfrm>
          <a:prstGeom prst="rect">
            <a:avLst/>
          </a:prstGeom>
          <a:noFill/>
          <a:ln/>
        </p:spPr>
        <p:txBody>
          <a:bodyPr wrap="square" lIns="0" tIns="0" rIns="0" bIns="0" rtlCol="0" anchor="t"/>
          <a:lstStyle/>
          <a:p>
            <a:pPr indent="0" marL="0">
              <a:buNone/>
            </a:pPr>
            <a:r>
              <a:rPr lang="ja-JP" altLang="en-US" sz="1500" b="1" dirty="0">
                <a:solidFill>
                  <a:srgbClr val="1C1A1A"/>
                </a:solidFill>
                <a:latin typeface="Hiragino Kaku Gothic ProN" pitchFamily="34" charset="0"/>
                <a:ea typeface="Hiragino Kaku Gothic ProN" pitchFamily="34" charset="-128"/>
                <a:cs typeface="Hiragino Kaku Gothic ProN" pitchFamily="34" charset="-120"/>
              </a:rPr>
              <a:t>行政との活動・セミナー</a:t>
            </a:r>
            <a:endParaRPr lang="ja-JP" sz="1500" dirty="0"/>
          </a:p>
        </p:txBody>
      </p:sp>
      <p:sp>
        <p:nvSpPr>
          <p:cNvPr id="19" name="Text 13"/>
          <p:cNvSpPr txBox="1"/>
          <p:nvPr/>
        </p:nvSpPr>
        <p:spPr>
          <a:xfrm>
            <a:off x="1280160" y="4270248"/>
            <a:ext cx="2651760" cy="548640"/>
          </a:xfrm>
          <a:prstGeom prst="rect">
            <a:avLst/>
          </a:prstGeom>
          <a:noFill/>
          <a:ln/>
        </p:spPr>
        <p:txBody>
          <a:bodyPr wrap="square" lIns="0" tIns="0" rIns="0" bIns="0" rtlCol="0" anchor="t"/>
          <a:lstStyle/>
          <a:p>
            <a:pPr indent="0" marL="0">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信頼性と専門性を社会に示す</a:t>
            </a:r>
            <a:endParaRPr lang="ja-JP" sz="1250" dirty="0"/>
          </a:p>
        </p:txBody>
      </p:sp>
      <p:sp>
        <p:nvSpPr>
          <p:cNvPr id="20" name="icon-bg"/>
          <p:cNvSpPr/>
          <p:nvPr/>
        </p:nvSpPr>
        <p:spPr>
          <a:xfrm>
            <a:off x="4023360" y="3886200"/>
            <a:ext cx="566928" cy="566928"/>
          </a:xfrm>
          <a:prstGeom prst="ellipse">
            <a:avLst/>
          </a:prstGeom>
          <a:solidFill>
            <a:srgbClr val="F4F0EC"/>
          </a:solidFill>
          <a:ln/>
        </p:spPr>
      </p:sp>
      <p:pic>
        <p:nvPicPr>
          <p:cNvPr id="21" name="Image 4" descr="preencoded.png">    </p:cNvPr>
          <p:cNvPicPr>
            <a:picLocks noChangeAspect="1"/>
          </p:cNvPicPr>
          <p:nvPr/>
        </p:nvPicPr>
        <p:blipFill>
          <a:blip r:embed="rId5"/>
          <a:stretch>
            <a:fillRect/>
          </a:stretch>
        </p:blipFill>
        <p:spPr>
          <a:xfrm>
            <a:off x="4170761" y="4033601"/>
            <a:ext cx="272125" cy="272125"/>
          </a:xfrm>
          <a:prstGeom prst="rect">
            <a:avLst/>
          </a:prstGeom>
        </p:spPr>
      </p:pic>
      <p:sp>
        <p:nvSpPr>
          <p:cNvPr id="22" name="Text 15"/>
          <p:cNvSpPr txBox="1"/>
          <p:nvPr/>
        </p:nvSpPr>
        <p:spPr>
          <a:xfrm>
            <a:off x="4754880" y="3904488"/>
            <a:ext cx="2651760" cy="320040"/>
          </a:xfrm>
          <a:prstGeom prst="rect">
            <a:avLst/>
          </a:prstGeom>
          <a:noFill/>
          <a:ln/>
        </p:spPr>
        <p:txBody>
          <a:bodyPr wrap="square" lIns="0" tIns="0" rIns="0" bIns="0" rtlCol="0" anchor="t"/>
          <a:lstStyle/>
          <a:p>
            <a:pPr indent="0" marL="0">
              <a:buNone/>
            </a:pPr>
            <a:r>
              <a:rPr lang="ja-JP" altLang="en-US" sz="1500" b="1" dirty="0">
                <a:solidFill>
                  <a:srgbClr val="1C1A1A"/>
                </a:solidFill>
                <a:latin typeface="Hiragino Kaku Gothic ProN" pitchFamily="34" charset="0"/>
                <a:ea typeface="Hiragino Kaku Gothic ProN" pitchFamily="34" charset="-128"/>
                <a:cs typeface="Hiragino Kaku Gothic ProN" pitchFamily="34" charset="-120"/>
              </a:rPr>
              <a:t>異業種の経営者との会話</a:t>
            </a:r>
            <a:endParaRPr lang="ja-JP" sz="1500" dirty="0"/>
          </a:p>
        </p:txBody>
      </p:sp>
      <p:sp>
        <p:nvSpPr>
          <p:cNvPr id="23" name="Text 16"/>
          <p:cNvSpPr txBox="1"/>
          <p:nvPr/>
        </p:nvSpPr>
        <p:spPr>
          <a:xfrm>
            <a:off x="4754880" y="4270248"/>
            <a:ext cx="2651760" cy="548640"/>
          </a:xfrm>
          <a:prstGeom prst="rect">
            <a:avLst/>
          </a:prstGeom>
          <a:noFill/>
          <a:ln/>
        </p:spPr>
        <p:txBody>
          <a:bodyPr wrap="square" lIns="0" tIns="0" rIns="0" bIns="0" rtlCol="0" anchor="t"/>
          <a:lstStyle/>
          <a:p>
            <a:pPr indent="0" marL="0">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異なる分野からの紹介につながる</a:t>
            </a:r>
            <a:endParaRPr lang="ja-JP" sz="1250" dirty="0"/>
          </a:p>
        </p:txBody>
      </p:sp>
      <p:sp>
        <p:nvSpPr>
          <p:cNvPr id="24" name="Text 17"/>
          <p:cNvSpPr txBox="1"/>
          <p:nvPr/>
        </p:nvSpPr>
        <p:spPr>
          <a:xfrm>
            <a:off x="548640" y="5257800"/>
            <a:ext cx="6766560" cy="868680"/>
          </a:xfrm>
          <a:prstGeom prst="rect">
            <a:avLst/>
          </a:prstGeom>
          <a:noFill/>
          <a:ln/>
        </p:spPr>
        <p:txBody>
          <a:bodyPr wrap="square" lIns="0" tIns="0" rIns="0" bIns="0" rtlCol="0" anchor="t"/>
          <a:lstStyle/>
          <a:p>
            <a:pPr indent="0" marL="0">
              <a:buNone/>
            </a:pPr>
            <a:r>
              <a:rPr lang="ja-JP" altLang="en-US" sz="2000" dirty="0">
                <a:solidFill>
                  <a:srgbClr val="B8432F"/>
                </a:solidFill>
                <a:latin typeface="Hiragino Mincho ProN" pitchFamily="34" charset="0"/>
                <a:ea typeface="Hiragino Mincho ProN" pitchFamily="34" charset="-128"/>
                <a:cs typeface="Hiragino Mincho ProN" pitchFamily="34" charset="-120"/>
              </a:rPr>
              <a:t>宣伝しなくても、</a:t>
            </a:r>
            <a:endParaRPr lang="ja-JP" sz="2000" dirty="0"/>
          </a:p>
          <a:p>
            <a:pPr indent="0" marL="0">
              <a:buNone/>
            </a:pPr>
            <a:r>
              <a:rPr lang="ja-JP" altLang="en-US" sz="2000" dirty="0">
                <a:solidFill>
                  <a:srgbClr val="B8432F"/>
                </a:solidFill>
                <a:latin typeface="Hiragino Mincho ProN" pitchFamily="34" charset="0"/>
                <a:ea typeface="Hiragino Mincho ProN" pitchFamily="34" charset="-128"/>
                <a:cs typeface="Hiragino Mincho ProN" pitchFamily="34" charset="-120"/>
              </a:rPr>
              <a:t>使命を語り続けることが最強の集客。</a:t>
            </a:r>
            <a:endParaRPr lang="ja-JP"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914400"/>
            <a:ext cx="4572000" cy="274320"/>
          </a:xfrm>
          <a:prstGeom prst="rect">
            <a:avLst/>
          </a:prstGeom>
          <a:noFill/>
          <a:ln/>
        </p:spPr>
        <p:txBody>
          <a:bodyPr wrap="square" lIns="0" tIns="0" rIns="0" bIns="0" rtlCol="0" anchor="t"/>
          <a:lstStyle/>
          <a:p>
            <a:pPr indent="0" marL="0">
              <a:buNone/>
            </a:pPr>
            <a:r>
              <a:rPr lang="ja-JP" altLang="en-US" sz="1200" b="1" spc="400" kern="0" dirty="0">
                <a:solidFill>
                  <a:srgbClr val="B8432F"/>
                </a:solidFill>
                <a:latin typeface="Hiragino Kaku Gothic ProN" pitchFamily="34" charset="0"/>
                <a:ea typeface="Hiragino Kaku Gothic ProN" pitchFamily="34" charset="-128"/>
                <a:cs typeface="Hiragino Kaku Gothic ProN" pitchFamily="34" charset="-120"/>
              </a:rPr>
              <a:t>WORKSHEET</a:t>
            </a:r>
            <a:endParaRPr lang="ja-JP" sz="1200" dirty="0"/>
          </a:p>
        </p:txBody>
      </p:sp>
      <p:sp>
        <p:nvSpPr>
          <p:cNvPr id="3" name="Text 1"/>
          <p:cNvSpPr txBox="1"/>
          <p:nvPr/>
        </p:nvSpPr>
        <p:spPr>
          <a:xfrm>
            <a:off x="731520" y="1371600"/>
            <a:ext cx="5760720" cy="1554480"/>
          </a:xfrm>
          <a:prstGeom prst="rect">
            <a:avLst/>
          </a:prstGeom>
          <a:noFill/>
          <a:ln/>
        </p:spPr>
        <p:txBody>
          <a:bodyPr wrap="square" lIns="0" tIns="0" rIns="0" bIns="0" rtlCol="0" anchor="t"/>
          <a:lstStyle/>
          <a:p>
            <a:pPr indent="0" marL="0">
              <a:lnSpc>
                <a:spcPct val="115000"/>
              </a:lnSpc>
              <a:buNone/>
            </a:pPr>
            <a:r>
              <a:rPr lang="ja-JP" altLang="en-US" sz="4000" dirty="0">
                <a:solidFill>
                  <a:srgbClr val="FFFFFF"/>
                </a:solidFill>
                <a:latin typeface="Hiragino Mincho ProN" pitchFamily="34" charset="0"/>
                <a:ea typeface="Hiragino Mincho ProN" pitchFamily="34" charset="-128"/>
                <a:cs typeface="Hiragino Mincho ProN" pitchFamily="34" charset="-120"/>
              </a:rPr>
              <a:t>自分のブランドを、</a:t>
            </a:r>
            <a:endParaRPr lang="ja-JP" sz="4000" dirty="0"/>
          </a:p>
          <a:p>
            <a:pPr indent="0" marL="0">
              <a:lnSpc>
                <a:spcPct val="115000"/>
              </a:lnSpc>
              <a:buNone/>
            </a:pPr>
            <a:r>
              <a:rPr lang="ja-JP" altLang="en-US" sz="4000" dirty="0">
                <a:solidFill>
                  <a:srgbClr val="FFFFFF"/>
                </a:solidFill>
                <a:latin typeface="Hiragino Mincho ProN" pitchFamily="34" charset="0"/>
                <a:ea typeface="Hiragino Mincho ProN" pitchFamily="34" charset="-128"/>
                <a:cs typeface="Hiragino Mincho ProN" pitchFamily="34" charset="-120"/>
              </a:rPr>
              <a:t>自分の言葉で。</a:t>
            </a:r>
            <a:endParaRPr lang="ja-JP" sz="4000" dirty="0"/>
          </a:p>
        </p:txBody>
      </p:sp>
      <p:sp>
        <p:nvSpPr>
          <p:cNvPr id="4" name="Text 2"/>
          <p:cNvSpPr txBox="1"/>
          <p:nvPr/>
        </p:nvSpPr>
        <p:spPr>
          <a:xfrm>
            <a:off x="731520" y="3063240"/>
            <a:ext cx="5760720" cy="365760"/>
          </a:xfrm>
          <a:prstGeom prst="rect">
            <a:avLst/>
          </a:prstGeom>
          <a:noFill/>
          <a:ln/>
        </p:spPr>
        <p:txBody>
          <a:bodyPr wrap="square" lIns="0" tIns="0" rIns="0" bIns="0" rtlCol="0" anchor="t"/>
          <a:lstStyle/>
          <a:p>
            <a:pPr indent="0" marL="0">
              <a:buNone/>
            </a:pPr>
            <a:r>
              <a:rPr lang="ja-JP" altLang="en-US" sz="1600" dirty="0">
                <a:solidFill>
                  <a:srgbClr val="C9C2BC"/>
                </a:solidFill>
                <a:latin typeface="Hiragino Kaku Gothic ProN" pitchFamily="34" charset="0"/>
                <a:ea typeface="Hiragino Kaku Gothic ProN" pitchFamily="34" charset="-128"/>
                <a:cs typeface="Hiragino Kaku Gothic ProN" pitchFamily="34" charset="-120"/>
              </a:rPr>
              <a:t>私のブランド・マーケティング設計シート（全5枚）</a:t>
            </a:r>
            <a:endParaRPr lang="ja-JP" sz="1600" dirty="0"/>
          </a:p>
        </p:txBody>
      </p:sp>
      <p:sp>
        <p:nvSpPr>
          <p:cNvPr id="5" name="enso"/>
          <p:cNvSpPr/>
          <p:nvPr/>
        </p:nvSpPr>
        <p:spPr>
          <a:xfrm>
            <a:off x="731520" y="3977640"/>
            <a:ext cx="274320" cy="274320"/>
          </a:xfrm>
          <a:prstGeom prst="ellipse">
            <a:avLst/>
          </a:prstGeom>
          <a:ln w="15875">
            <a:solidFill>
              <a:srgbClr val="B8432F"/>
            </a:solidFill>
            <a:prstDash val="solid"/>
          </a:ln>
        </p:spPr>
      </p:sp>
      <p:sp>
        <p:nvSpPr>
          <p:cNvPr id="6" name="Text 4"/>
          <p:cNvSpPr txBox="1"/>
          <p:nvPr/>
        </p:nvSpPr>
        <p:spPr>
          <a:xfrm>
            <a:off x="731520" y="3977640"/>
            <a:ext cx="274320" cy="274320"/>
          </a:xfrm>
          <a:prstGeom prst="rect">
            <a:avLst/>
          </a:prstGeom>
          <a:noFill/>
          <a:ln/>
        </p:spPr>
        <p:txBody>
          <a:bodyPr wrap="square" lIns="0" tIns="0" rIns="0" bIns="0" rtlCol="0" anchor="ctr"/>
          <a:lstStyle/>
          <a:p>
            <a:pPr algn="ctr" indent="0" marL="0">
              <a:buNone/>
            </a:pPr>
            <a:r>
              <a:rPr lang="ja-JP" altLang="en-US" sz="1100" dirty="0">
                <a:solidFill>
                  <a:srgbClr val="B8432F"/>
                </a:solidFill>
                <a:latin typeface="Hiragino Kaku Gothic ProN" pitchFamily="34" charset="0"/>
                <a:ea typeface="Hiragino Kaku Gothic ProN" pitchFamily="34" charset="-128"/>
                <a:cs typeface="Hiragino Kaku Gothic ProN" pitchFamily="34" charset="-120"/>
              </a:rPr>
              <a:t>1</a:t>
            </a:r>
            <a:endParaRPr lang="ja-JP" sz="1100" dirty="0"/>
          </a:p>
        </p:txBody>
      </p:sp>
      <p:sp>
        <p:nvSpPr>
          <p:cNvPr id="7" name="Text 5"/>
          <p:cNvSpPr txBox="1"/>
          <p:nvPr/>
        </p:nvSpPr>
        <p:spPr>
          <a:xfrm>
            <a:off x="1188720" y="3931920"/>
            <a:ext cx="5120640" cy="365760"/>
          </a:xfrm>
          <a:prstGeom prst="rect">
            <a:avLst/>
          </a:prstGeom>
          <a:noFill/>
          <a:ln/>
        </p:spPr>
        <p:txBody>
          <a:bodyPr wrap="square" lIns="0" tIns="0" rIns="0" bIns="0" rtlCol="0" anchor="ctr"/>
          <a:lstStyle/>
          <a:p>
            <a:pPr indent="0" marL="0">
              <a:buNone/>
            </a:pPr>
            <a:r>
              <a:rPr lang="ja-JP" altLang="en-US" sz="1500" dirty="0">
                <a:solidFill>
                  <a:srgbClr val="FFFFFF"/>
                </a:solidFill>
                <a:latin typeface="Hiragino Kaku Gothic ProN" pitchFamily="34" charset="0"/>
                <a:ea typeface="Hiragino Kaku Gothic ProN" pitchFamily="34" charset="-128"/>
                <a:cs typeface="Hiragino Kaku Gothic ProN" pitchFamily="34" charset="-120"/>
              </a:rPr>
              <a:t>正解はありません。</a:t>
            </a:r>
            <a:endParaRPr lang="ja-JP" sz="1500" dirty="0"/>
          </a:p>
        </p:txBody>
      </p:sp>
      <p:sp>
        <p:nvSpPr>
          <p:cNvPr id="8" name="enso"/>
          <p:cNvSpPr/>
          <p:nvPr/>
        </p:nvSpPr>
        <p:spPr>
          <a:xfrm>
            <a:off x="731520" y="4526280"/>
            <a:ext cx="274320" cy="274320"/>
          </a:xfrm>
          <a:prstGeom prst="ellipse">
            <a:avLst/>
          </a:prstGeom>
          <a:ln w="15875">
            <a:solidFill>
              <a:srgbClr val="B8432F"/>
            </a:solidFill>
            <a:prstDash val="solid"/>
          </a:ln>
        </p:spPr>
      </p:sp>
      <p:sp>
        <p:nvSpPr>
          <p:cNvPr id="9" name="Text 7"/>
          <p:cNvSpPr txBox="1"/>
          <p:nvPr/>
        </p:nvSpPr>
        <p:spPr>
          <a:xfrm>
            <a:off x="731520" y="4526280"/>
            <a:ext cx="274320" cy="274320"/>
          </a:xfrm>
          <a:prstGeom prst="rect">
            <a:avLst/>
          </a:prstGeom>
          <a:noFill/>
          <a:ln/>
        </p:spPr>
        <p:txBody>
          <a:bodyPr wrap="square" lIns="0" tIns="0" rIns="0" bIns="0" rtlCol="0" anchor="ctr"/>
          <a:lstStyle/>
          <a:p>
            <a:pPr algn="ctr" indent="0" marL="0">
              <a:buNone/>
            </a:pPr>
            <a:r>
              <a:rPr lang="ja-JP" altLang="en-US" sz="1100" dirty="0">
                <a:solidFill>
                  <a:srgbClr val="B8432F"/>
                </a:solidFill>
                <a:latin typeface="Hiragino Kaku Gothic ProN" pitchFamily="34" charset="0"/>
                <a:ea typeface="Hiragino Kaku Gothic ProN" pitchFamily="34" charset="-128"/>
                <a:cs typeface="Hiragino Kaku Gothic ProN" pitchFamily="34" charset="-120"/>
              </a:rPr>
              <a:t>2</a:t>
            </a:r>
            <a:endParaRPr lang="ja-JP" sz="1100" dirty="0"/>
          </a:p>
        </p:txBody>
      </p:sp>
      <p:sp>
        <p:nvSpPr>
          <p:cNvPr id="10" name="Text 8"/>
          <p:cNvSpPr txBox="1"/>
          <p:nvPr/>
        </p:nvSpPr>
        <p:spPr>
          <a:xfrm>
            <a:off x="1188720" y="4480560"/>
            <a:ext cx="5120640" cy="365760"/>
          </a:xfrm>
          <a:prstGeom prst="rect">
            <a:avLst/>
          </a:prstGeom>
          <a:noFill/>
          <a:ln/>
        </p:spPr>
        <p:txBody>
          <a:bodyPr wrap="square" lIns="0" tIns="0" rIns="0" bIns="0" rtlCol="0" anchor="ctr"/>
          <a:lstStyle/>
          <a:p>
            <a:pPr indent="0" marL="0">
              <a:buNone/>
            </a:pPr>
            <a:r>
              <a:rPr lang="ja-JP" altLang="en-US" sz="1500" dirty="0">
                <a:solidFill>
                  <a:srgbClr val="FFFFFF"/>
                </a:solidFill>
                <a:latin typeface="Hiragino Kaku Gothic ProN" pitchFamily="34" charset="0"/>
                <a:ea typeface="Hiragino Kaku Gothic ProN" pitchFamily="34" charset="-128"/>
                <a:cs typeface="Hiragino Kaku Gothic ProN" pitchFamily="34" charset="-120"/>
              </a:rPr>
              <a:t>資格や経歴ではなく、使命と姿勢で書く。</a:t>
            </a:r>
            <a:endParaRPr lang="ja-JP" sz="1500" dirty="0"/>
          </a:p>
        </p:txBody>
      </p:sp>
      <p:sp>
        <p:nvSpPr>
          <p:cNvPr id="11" name="enso"/>
          <p:cNvSpPr/>
          <p:nvPr/>
        </p:nvSpPr>
        <p:spPr>
          <a:xfrm>
            <a:off x="731520" y="5074920"/>
            <a:ext cx="274320" cy="274320"/>
          </a:xfrm>
          <a:prstGeom prst="ellipse">
            <a:avLst/>
          </a:prstGeom>
          <a:ln w="15875">
            <a:solidFill>
              <a:srgbClr val="B8432F"/>
            </a:solidFill>
            <a:prstDash val="solid"/>
          </a:ln>
        </p:spPr>
      </p:sp>
      <p:sp>
        <p:nvSpPr>
          <p:cNvPr id="12" name="Text 10"/>
          <p:cNvSpPr txBox="1"/>
          <p:nvPr/>
        </p:nvSpPr>
        <p:spPr>
          <a:xfrm>
            <a:off x="731520" y="5074920"/>
            <a:ext cx="274320" cy="274320"/>
          </a:xfrm>
          <a:prstGeom prst="rect">
            <a:avLst/>
          </a:prstGeom>
          <a:noFill/>
          <a:ln/>
        </p:spPr>
        <p:txBody>
          <a:bodyPr wrap="square" lIns="0" tIns="0" rIns="0" bIns="0" rtlCol="0" anchor="ctr"/>
          <a:lstStyle/>
          <a:p>
            <a:pPr algn="ctr" indent="0" marL="0">
              <a:buNone/>
            </a:pPr>
            <a:r>
              <a:rPr lang="ja-JP" altLang="en-US" sz="1100" dirty="0">
                <a:solidFill>
                  <a:srgbClr val="B8432F"/>
                </a:solidFill>
                <a:latin typeface="Hiragino Kaku Gothic ProN" pitchFamily="34" charset="0"/>
                <a:ea typeface="Hiragino Kaku Gothic ProN" pitchFamily="34" charset="-128"/>
                <a:cs typeface="Hiragino Kaku Gothic ProN" pitchFamily="34" charset="-120"/>
              </a:rPr>
              <a:t>3</a:t>
            </a:r>
            <a:endParaRPr lang="ja-JP" sz="1100" dirty="0"/>
          </a:p>
        </p:txBody>
      </p:sp>
      <p:sp>
        <p:nvSpPr>
          <p:cNvPr id="13" name="Text 11"/>
          <p:cNvSpPr txBox="1"/>
          <p:nvPr/>
        </p:nvSpPr>
        <p:spPr>
          <a:xfrm>
            <a:off x="1188720" y="5029200"/>
            <a:ext cx="5120640" cy="365760"/>
          </a:xfrm>
          <a:prstGeom prst="rect">
            <a:avLst/>
          </a:prstGeom>
          <a:noFill/>
          <a:ln/>
        </p:spPr>
        <p:txBody>
          <a:bodyPr wrap="square" lIns="0" tIns="0" rIns="0" bIns="0" rtlCol="0" anchor="ctr"/>
          <a:lstStyle/>
          <a:p>
            <a:pPr indent="0" marL="0">
              <a:buNone/>
            </a:pPr>
            <a:r>
              <a:rPr lang="ja-JP" altLang="en-US" sz="1500" dirty="0">
                <a:solidFill>
                  <a:srgbClr val="FFFFFF"/>
                </a:solidFill>
                <a:latin typeface="Hiragino Kaku Gothic ProN" pitchFamily="34" charset="0"/>
                <a:ea typeface="Hiragino Kaku Gothic ProN" pitchFamily="34" charset="-128"/>
                <a:cs typeface="Hiragino Kaku Gothic ProN" pitchFamily="34" charset="-120"/>
              </a:rPr>
              <a:t>きれいでなくていい。短く、正直に。</a:t>
            </a:r>
            <a:endParaRPr lang="ja-JP" sz="1500" dirty="0"/>
          </a:p>
        </p:txBody>
      </p:sp>
      <p:sp>
        <p:nvSpPr>
          <p:cNvPr id="14" name="enso"/>
          <p:cNvSpPr/>
          <p:nvPr/>
        </p:nvSpPr>
        <p:spPr>
          <a:xfrm>
            <a:off x="6903720" y="1143000"/>
            <a:ext cx="4572000" cy="4572000"/>
          </a:xfrm>
          <a:prstGeom prst="ellipse">
            <a:avLst/>
          </a:prstGeom>
          <a:ln w="28575">
            <a:solidFill>
              <a:srgbClr val="B8432F"/>
            </a:solidFill>
            <a:prstDash val="solid"/>
          </a:ln>
        </p:spPr>
      </p:sp>
      <p:sp>
        <p:nvSpPr>
          <p:cNvPr id="15" name="Text 13"/>
          <p:cNvSpPr txBox="1"/>
          <p:nvPr/>
        </p:nvSpPr>
        <p:spPr>
          <a:xfrm>
            <a:off x="7635240" y="2011680"/>
            <a:ext cx="640080" cy="457200"/>
          </a:xfrm>
          <a:prstGeom prst="rect">
            <a:avLst/>
          </a:prstGeom>
          <a:noFill/>
          <a:ln/>
        </p:spPr>
        <p:txBody>
          <a:bodyPr wrap="square" lIns="0" tIns="0" rIns="0" bIns="0" rtlCol="0" anchor="ctr"/>
          <a:lstStyle/>
          <a:p>
            <a:pPr indent="0" marL="0">
              <a:buNone/>
            </a:pPr>
            <a:r>
              <a:rPr lang="ja-JP" altLang="en-US" sz="1800" dirty="0">
                <a:solidFill>
                  <a:srgbClr val="B8432F"/>
                </a:solidFill>
                <a:latin typeface="Hiragino Mincho ProN" pitchFamily="34" charset="0"/>
                <a:ea typeface="Hiragino Mincho ProN" pitchFamily="34" charset="-128"/>
                <a:cs typeface="Hiragino Mincho ProN" pitchFamily="34" charset="-120"/>
              </a:rPr>
              <a:t>01</a:t>
            </a:r>
            <a:endParaRPr lang="ja-JP" sz="1800" dirty="0"/>
          </a:p>
        </p:txBody>
      </p:sp>
      <p:sp>
        <p:nvSpPr>
          <p:cNvPr id="16" name="Text 14"/>
          <p:cNvSpPr txBox="1"/>
          <p:nvPr/>
        </p:nvSpPr>
        <p:spPr>
          <a:xfrm>
            <a:off x="8275320" y="2011680"/>
            <a:ext cx="2926080" cy="457200"/>
          </a:xfrm>
          <a:prstGeom prst="rect">
            <a:avLst/>
          </a:prstGeom>
          <a:noFill/>
          <a:ln/>
        </p:spPr>
        <p:txBody>
          <a:bodyPr wrap="square" lIns="0" tIns="0" rIns="0" bIns="0" rtlCol="0" anchor="ctr"/>
          <a:lstStyle/>
          <a:p>
            <a:pPr indent="0" marL="0">
              <a:buNone/>
            </a:pPr>
            <a:r>
              <a:rPr lang="ja-JP" altLang="en-US" sz="1700" dirty="0">
                <a:solidFill>
                  <a:srgbClr val="FFFFFF"/>
                </a:solidFill>
                <a:latin typeface="Hiragino Mincho ProN" pitchFamily="34" charset="0"/>
                <a:ea typeface="Hiragino Mincho ProN" pitchFamily="34" charset="-128"/>
                <a:cs typeface="Hiragino Mincho ProN" pitchFamily="34" charset="-120"/>
              </a:rPr>
              <a:t>使命を言語化する</a:t>
            </a:r>
            <a:endParaRPr lang="ja-JP" sz="1700" dirty="0"/>
          </a:p>
        </p:txBody>
      </p:sp>
      <p:sp>
        <p:nvSpPr>
          <p:cNvPr id="17" name="Text 15"/>
          <p:cNvSpPr txBox="1"/>
          <p:nvPr/>
        </p:nvSpPr>
        <p:spPr>
          <a:xfrm>
            <a:off x="7635240" y="2596896"/>
            <a:ext cx="640080" cy="457200"/>
          </a:xfrm>
          <a:prstGeom prst="rect">
            <a:avLst/>
          </a:prstGeom>
          <a:noFill/>
          <a:ln/>
        </p:spPr>
        <p:txBody>
          <a:bodyPr wrap="square" lIns="0" tIns="0" rIns="0" bIns="0" rtlCol="0" anchor="ctr"/>
          <a:lstStyle/>
          <a:p>
            <a:pPr indent="0" marL="0">
              <a:buNone/>
            </a:pPr>
            <a:r>
              <a:rPr lang="ja-JP" altLang="en-US" sz="1800" dirty="0">
                <a:solidFill>
                  <a:srgbClr val="B8432F"/>
                </a:solidFill>
                <a:latin typeface="Hiragino Mincho ProN" pitchFamily="34" charset="0"/>
                <a:ea typeface="Hiragino Mincho ProN" pitchFamily="34" charset="-128"/>
                <a:cs typeface="Hiragino Mincho ProN" pitchFamily="34" charset="-120"/>
              </a:rPr>
              <a:t>02</a:t>
            </a:r>
            <a:endParaRPr lang="ja-JP" sz="1800" dirty="0"/>
          </a:p>
        </p:txBody>
      </p:sp>
      <p:sp>
        <p:nvSpPr>
          <p:cNvPr id="18" name="Text 16"/>
          <p:cNvSpPr txBox="1"/>
          <p:nvPr/>
        </p:nvSpPr>
        <p:spPr>
          <a:xfrm>
            <a:off x="8275320" y="2596896"/>
            <a:ext cx="2926080" cy="457200"/>
          </a:xfrm>
          <a:prstGeom prst="rect">
            <a:avLst/>
          </a:prstGeom>
          <a:noFill/>
          <a:ln/>
        </p:spPr>
        <p:txBody>
          <a:bodyPr wrap="square" lIns="0" tIns="0" rIns="0" bIns="0" rtlCol="0" anchor="ctr"/>
          <a:lstStyle/>
          <a:p>
            <a:pPr indent="0" marL="0">
              <a:buNone/>
            </a:pPr>
            <a:r>
              <a:rPr lang="ja-JP" altLang="en-US" sz="1700" dirty="0">
                <a:solidFill>
                  <a:srgbClr val="FFFFFF"/>
                </a:solidFill>
                <a:latin typeface="Hiragino Mincho ProN" pitchFamily="34" charset="0"/>
                <a:ea typeface="Hiragino Mincho ProN" pitchFamily="34" charset="-128"/>
                <a:cs typeface="Hiragino Mincho ProN" pitchFamily="34" charset="-120"/>
              </a:rPr>
              <a:t>「しないこと」を決める</a:t>
            </a:r>
            <a:endParaRPr lang="ja-JP" sz="1700" dirty="0"/>
          </a:p>
        </p:txBody>
      </p:sp>
      <p:sp>
        <p:nvSpPr>
          <p:cNvPr id="19" name="Text 17"/>
          <p:cNvSpPr txBox="1"/>
          <p:nvPr/>
        </p:nvSpPr>
        <p:spPr>
          <a:xfrm>
            <a:off x="7635240" y="3182112"/>
            <a:ext cx="640080" cy="457200"/>
          </a:xfrm>
          <a:prstGeom prst="rect">
            <a:avLst/>
          </a:prstGeom>
          <a:noFill/>
          <a:ln/>
        </p:spPr>
        <p:txBody>
          <a:bodyPr wrap="square" lIns="0" tIns="0" rIns="0" bIns="0" rtlCol="0" anchor="ctr"/>
          <a:lstStyle/>
          <a:p>
            <a:pPr indent="0" marL="0">
              <a:buNone/>
            </a:pPr>
            <a:r>
              <a:rPr lang="ja-JP" altLang="en-US" sz="1800" dirty="0">
                <a:solidFill>
                  <a:srgbClr val="B8432F"/>
                </a:solidFill>
                <a:latin typeface="Hiragino Mincho ProN" pitchFamily="34" charset="0"/>
                <a:ea typeface="Hiragino Mincho ProN" pitchFamily="34" charset="-128"/>
                <a:cs typeface="Hiragino Mincho ProN" pitchFamily="34" charset="-120"/>
              </a:rPr>
              <a:t>03</a:t>
            </a:r>
            <a:endParaRPr lang="ja-JP" sz="1800" dirty="0"/>
          </a:p>
        </p:txBody>
      </p:sp>
      <p:sp>
        <p:nvSpPr>
          <p:cNvPr id="20" name="Text 18"/>
          <p:cNvSpPr txBox="1"/>
          <p:nvPr/>
        </p:nvSpPr>
        <p:spPr>
          <a:xfrm>
            <a:off x="8275320" y="3182112"/>
            <a:ext cx="2926080" cy="457200"/>
          </a:xfrm>
          <a:prstGeom prst="rect">
            <a:avLst/>
          </a:prstGeom>
          <a:noFill/>
          <a:ln/>
        </p:spPr>
        <p:txBody>
          <a:bodyPr wrap="square" lIns="0" tIns="0" rIns="0" bIns="0" rtlCol="0" anchor="ctr"/>
          <a:lstStyle/>
          <a:p>
            <a:pPr indent="0" marL="0">
              <a:buNone/>
            </a:pPr>
            <a:r>
              <a:rPr lang="ja-JP" altLang="en-US" sz="1700" dirty="0">
                <a:solidFill>
                  <a:srgbClr val="FFFFFF"/>
                </a:solidFill>
                <a:latin typeface="Hiragino Mincho ProN" pitchFamily="34" charset="0"/>
                <a:ea typeface="Hiragino Mincho ProN" pitchFamily="34" charset="-128"/>
                <a:cs typeface="Hiragino Mincho ProN" pitchFamily="34" charset="-120"/>
              </a:rPr>
              <a:t>たった一人の相手を描く</a:t>
            </a:r>
            <a:endParaRPr lang="ja-JP" sz="1700" dirty="0"/>
          </a:p>
        </p:txBody>
      </p:sp>
      <p:sp>
        <p:nvSpPr>
          <p:cNvPr id="21" name="Text 19"/>
          <p:cNvSpPr txBox="1"/>
          <p:nvPr/>
        </p:nvSpPr>
        <p:spPr>
          <a:xfrm>
            <a:off x="7635240" y="3767328"/>
            <a:ext cx="640080" cy="457200"/>
          </a:xfrm>
          <a:prstGeom prst="rect">
            <a:avLst/>
          </a:prstGeom>
          <a:noFill/>
          <a:ln/>
        </p:spPr>
        <p:txBody>
          <a:bodyPr wrap="square" lIns="0" tIns="0" rIns="0" bIns="0" rtlCol="0" anchor="ctr"/>
          <a:lstStyle/>
          <a:p>
            <a:pPr indent="0" marL="0">
              <a:buNone/>
            </a:pPr>
            <a:r>
              <a:rPr lang="ja-JP" altLang="en-US" sz="1800" dirty="0">
                <a:solidFill>
                  <a:srgbClr val="B8432F"/>
                </a:solidFill>
                <a:latin typeface="Hiragino Mincho ProN" pitchFamily="34" charset="0"/>
                <a:ea typeface="Hiragino Mincho ProN" pitchFamily="34" charset="-128"/>
                <a:cs typeface="Hiragino Mincho ProN" pitchFamily="34" charset="-120"/>
              </a:rPr>
              <a:t>04</a:t>
            </a:r>
            <a:endParaRPr lang="ja-JP" sz="1800" dirty="0"/>
          </a:p>
        </p:txBody>
      </p:sp>
      <p:sp>
        <p:nvSpPr>
          <p:cNvPr id="22" name="Text 20"/>
          <p:cNvSpPr txBox="1"/>
          <p:nvPr/>
        </p:nvSpPr>
        <p:spPr>
          <a:xfrm>
            <a:off x="8275320" y="3767328"/>
            <a:ext cx="2926080" cy="457200"/>
          </a:xfrm>
          <a:prstGeom prst="rect">
            <a:avLst/>
          </a:prstGeom>
          <a:noFill/>
          <a:ln/>
        </p:spPr>
        <p:txBody>
          <a:bodyPr wrap="square" lIns="0" tIns="0" rIns="0" bIns="0" rtlCol="0" anchor="ctr"/>
          <a:lstStyle/>
          <a:p>
            <a:pPr indent="0" marL="0">
              <a:buNone/>
            </a:pPr>
            <a:r>
              <a:rPr lang="ja-JP" altLang="en-US" sz="1700" dirty="0">
                <a:solidFill>
                  <a:srgbClr val="FFFFFF"/>
                </a:solidFill>
                <a:latin typeface="Hiragino Mincho ProN" pitchFamily="34" charset="0"/>
                <a:ea typeface="Hiragino Mincho ProN" pitchFamily="34" charset="-128"/>
                <a:cs typeface="Hiragino Mincho ProN" pitchFamily="34" charset="-120"/>
              </a:rPr>
              <a:t>出会いの導線を設計する</a:t>
            </a:r>
            <a:endParaRPr lang="ja-JP" sz="1700" dirty="0"/>
          </a:p>
        </p:txBody>
      </p:sp>
      <p:sp>
        <p:nvSpPr>
          <p:cNvPr id="23" name="Text 21"/>
          <p:cNvSpPr txBox="1"/>
          <p:nvPr/>
        </p:nvSpPr>
        <p:spPr>
          <a:xfrm>
            <a:off x="7635240" y="4352544"/>
            <a:ext cx="640080" cy="457200"/>
          </a:xfrm>
          <a:prstGeom prst="rect">
            <a:avLst/>
          </a:prstGeom>
          <a:noFill/>
          <a:ln/>
        </p:spPr>
        <p:txBody>
          <a:bodyPr wrap="square" lIns="0" tIns="0" rIns="0" bIns="0" rtlCol="0" anchor="ctr"/>
          <a:lstStyle/>
          <a:p>
            <a:pPr indent="0" marL="0">
              <a:buNone/>
            </a:pPr>
            <a:r>
              <a:rPr lang="ja-JP" altLang="en-US" sz="1800" dirty="0">
                <a:solidFill>
                  <a:srgbClr val="B8432F"/>
                </a:solidFill>
                <a:latin typeface="Hiragino Mincho ProN" pitchFamily="34" charset="0"/>
                <a:ea typeface="Hiragino Mincho ProN" pitchFamily="34" charset="-128"/>
                <a:cs typeface="Hiragino Mincho ProN" pitchFamily="34" charset="-120"/>
              </a:rPr>
              <a:t>05</a:t>
            </a:r>
            <a:endParaRPr lang="ja-JP" sz="1800" dirty="0"/>
          </a:p>
        </p:txBody>
      </p:sp>
      <p:sp>
        <p:nvSpPr>
          <p:cNvPr id="24" name="Text 22"/>
          <p:cNvSpPr txBox="1"/>
          <p:nvPr/>
        </p:nvSpPr>
        <p:spPr>
          <a:xfrm>
            <a:off x="8275320" y="4352544"/>
            <a:ext cx="2926080" cy="457200"/>
          </a:xfrm>
          <a:prstGeom prst="rect">
            <a:avLst/>
          </a:prstGeom>
          <a:noFill/>
          <a:ln/>
        </p:spPr>
        <p:txBody>
          <a:bodyPr wrap="square" lIns="0" tIns="0" rIns="0" bIns="0" rtlCol="0" anchor="ctr"/>
          <a:lstStyle/>
          <a:p>
            <a:pPr indent="0" marL="0">
              <a:buNone/>
            </a:pPr>
            <a:r>
              <a:rPr lang="ja-JP" altLang="en-US" sz="1700" dirty="0">
                <a:solidFill>
                  <a:srgbClr val="FFFFFF"/>
                </a:solidFill>
                <a:latin typeface="Hiragino Mincho ProN" pitchFamily="34" charset="0"/>
                <a:ea typeface="Hiragino Mincho ProN" pitchFamily="34" charset="-128"/>
                <a:cs typeface="Hiragino Mincho ProN" pitchFamily="34" charset="-120"/>
              </a:rPr>
              <a:t>明日からの行動宣言</a:t>
            </a:r>
            <a:endParaRPr lang="ja-JP"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6858000" cy="274320"/>
          </a:xfrm>
          <a:prstGeom prst="rect">
            <a:avLst/>
          </a:prstGeom>
          <a:noFill/>
          <a:ln/>
        </p:spPr>
        <p:txBody>
          <a:bodyPr wrap="square" lIns="0" tIns="0" rIns="0" bIns="0" rtlCol="0" anchor="ctr"/>
          <a:lstStyle/>
          <a:p>
            <a:pPr indent="0" marL="0">
              <a:buNone/>
            </a:pPr>
            <a:r>
              <a:rPr lang="en-US" sz="1100" b="1" spc="200" kern="0" dirty="0">
                <a:solidFill>
                  <a:srgbClr val="B8432F"/>
                </a:solidFill>
                <a:latin typeface="Hiragino Kaku Gothic ProN" pitchFamily="34" charset="0"/>
                <a:ea typeface="Hiragino Kaku Gothic ProN" pitchFamily="34" charset="-128"/>
                <a:cs typeface="Hiragino Kaku Gothic ProN" pitchFamily="34" charset="-120"/>
              </a:rPr>
              <a:t>WORKSHEET 01 ｜ MISSION</a:t>
            </a:r>
            <a:endParaRPr lang="en-US" sz="1100" dirty="0"/>
          </a:p>
        </p:txBody>
      </p:sp>
      <p:sp>
        <p:nvSpPr>
          <p:cNvPr id="3" name="Text 0"/>
          <p:cNvSpPr/>
          <p:nvPr>
            <p:ph idx="101" type="title" hasCustomPrompt="1"/>
          </p:nvPr>
        </p:nvSpPr>
        <p:spPr>
          <a:xfrm>
            <a:off x="548640" y="658368"/>
            <a:ext cx="7680960" cy="731520"/>
          </a:xfrm>
          <a:prstGeom prst="rect">
            <a:avLst/>
          </a:prstGeom>
          <a:noFill/>
          <a:ln/>
        </p:spPr>
        <p:txBody>
          <a:bodyPr wrap="square" lIns="0" tIns="0" rIns="0" bIns="0" rtlCol="0" anchor="ctr"/>
          <a:lstStyle/>
          <a:p>
            <a:pPr algn="l" indent="0" marL="0">
              <a:buNone/>
            </a:pPr>
            <a:r>
              <a:rPr lang="en-US" sz="3000" dirty="0">
                <a:solidFill>
                  <a:srgbClr val="1C1A1A"/>
                </a:solidFill>
                <a:latin typeface="Hiragino Mincho ProN" pitchFamily="34" charset="0"/>
                <a:ea typeface="Hiragino Mincho ProN" pitchFamily="34" charset="-128"/>
                <a:cs typeface="Hiragino Mincho ProN" pitchFamily="34" charset="-120"/>
              </a:rPr>
              <a:t>使命を言語化する</a:t>
            </a:r>
            <a:endParaRPr lang="en-US" sz="3000" dirty="0"/>
          </a:p>
        </p:txBody>
      </p:sp>
      <p:sp>
        <p:nvSpPr>
          <p:cNvPr id="4" name="field"/>
          <p:cNvSpPr/>
          <p:nvPr/>
        </p:nvSpPr>
        <p:spPr>
          <a:xfrm>
            <a:off x="548640" y="1600200"/>
            <a:ext cx="11091672" cy="1508760"/>
          </a:xfrm>
          <a:prstGeom prst="rect">
            <a:avLst/>
          </a:prstGeom>
          <a:solidFill>
            <a:srgbClr val="FBEDEA"/>
          </a:solidFill>
          <a:ln w="9525">
            <a:solidFill>
              <a:srgbClr val="EBCFC8"/>
            </a:solidFill>
            <a:prstDash val="solid"/>
          </a:ln>
        </p:spPr>
      </p:sp>
      <p:sp>
        <p:nvSpPr>
          <p:cNvPr id="5" name="Text 3"/>
          <p:cNvSpPr txBox="1"/>
          <p:nvPr/>
        </p:nvSpPr>
        <p:spPr>
          <a:xfrm>
            <a:off x="777240" y="1755648"/>
            <a:ext cx="5486400" cy="320040"/>
          </a:xfrm>
          <a:prstGeom prst="rect">
            <a:avLst/>
          </a:prstGeom>
          <a:noFill/>
          <a:ln/>
        </p:spPr>
        <p:txBody>
          <a:bodyPr wrap="square" lIns="0" tIns="0" rIns="0" bIns="0" rtlCol="0" anchor="t"/>
          <a:lstStyle/>
          <a:p>
            <a:pPr indent="0" marL="0">
              <a:buNone/>
            </a:pPr>
            <a:r>
              <a:rPr lang="ja-JP" altLang="en-US" sz="1400" b="1" dirty="0">
                <a:solidFill>
                  <a:srgbClr val="B8432F"/>
                </a:solidFill>
                <a:latin typeface="Hiragino Kaku Gothic ProN" pitchFamily="34" charset="0"/>
                <a:ea typeface="Hiragino Kaku Gothic ProN" pitchFamily="34" charset="-128"/>
                <a:cs typeface="Hiragino Kaku Gothic ProN" pitchFamily="34" charset="-120"/>
              </a:rPr>
              <a:t>あなたの使命を、一文で</a:t>
            </a:r>
            <a:endParaRPr lang="ja-JP" sz="1400" dirty="0"/>
          </a:p>
        </p:txBody>
      </p:sp>
      <p:sp>
        <p:nvSpPr>
          <p:cNvPr id="6" name="Text 4"/>
          <p:cNvSpPr txBox="1"/>
          <p:nvPr/>
        </p:nvSpPr>
        <p:spPr>
          <a:xfrm>
            <a:off x="777240" y="2240280"/>
            <a:ext cx="10698480" cy="640080"/>
          </a:xfrm>
          <a:prstGeom prst="rect">
            <a:avLst/>
          </a:prstGeom>
          <a:noFill/>
          <a:ln/>
        </p:spPr>
        <p:txBody>
          <a:bodyPr wrap="square" lIns="0" tIns="0" rIns="0" bIns="0" rtlCol="0" anchor="ctr"/>
          <a:lstStyle/>
          <a:p>
            <a:pPr indent="0" marL="0">
              <a:buNone/>
            </a:pPr>
            <a:r>
              <a:rPr lang="ja-JP" altLang="en-US" sz="2200" dirty="0">
                <a:solidFill>
                  <a:srgbClr val="1C1A1A"/>
                </a:solidFill>
                <a:latin typeface="Hiragino Mincho ProN" pitchFamily="34" charset="0"/>
                <a:ea typeface="Hiragino Mincho ProN" pitchFamily="34" charset="-128"/>
                <a:cs typeface="Hiragino Mincho ProN" pitchFamily="34" charset="-120"/>
              </a:rPr>
              <a:t>私は</a:t>
            </a:r>
            <a:pPr indent="0" marL="0">
              <a:buNone/>
            </a:pPr>
            <a:r>
              <a:rPr lang="ja-JP" altLang="en-US" sz="2200" u="sng" dirty="0">
                <a:solidFill>
                  <a:srgbClr val="1C1A1A"/>
                </a:solidFill>
                <a:uFill>
                  <a:solidFill>
                    <a:srgbClr val="1C1A1A"/>
                  </a:solidFill>
                </a:uFill>
                <a:latin typeface="Hiragino Mincho ProN" pitchFamily="34" charset="0"/>
                <a:ea typeface="Hiragino Mincho ProN" pitchFamily="34" charset="-128"/>
                <a:cs typeface="Hiragino Mincho ProN" pitchFamily="34" charset="-120"/>
              </a:rPr>
              <a:t>　　　　　　　　　　</a:t>
            </a:r>
            <a:pPr indent="0" marL="0">
              <a:buNone/>
            </a:pPr>
            <a:r>
              <a:rPr lang="ja-JP" altLang="en-US" sz="2200" dirty="0">
                <a:solidFill>
                  <a:srgbClr val="1C1A1A"/>
                </a:solidFill>
                <a:latin typeface="Hiragino Mincho ProN" pitchFamily="34" charset="0"/>
                <a:ea typeface="Hiragino Mincho ProN" pitchFamily="34" charset="-128"/>
                <a:cs typeface="Hiragino Mincho ProN" pitchFamily="34" charset="-120"/>
              </a:rPr>
              <a:t>のために、</a:t>
            </a:r>
            <a:pPr indent="0" marL="0">
              <a:buNone/>
            </a:pPr>
            <a:r>
              <a:rPr lang="ja-JP" altLang="en-US" sz="2200" u="sng" dirty="0">
                <a:solidFill>
                  <a:srgbClr val="1C1A1A"/>
                </a:solidFill>
                <a:uFill>
                  <a:solidFill>
                    <a:srgbClr val="1C1A1A"/>
                  </a:solidFill>
                </a:uFill>
                <a:latin typeface="Hiragino Mincho ProN" pitchFamily="34" charset="0"/>
                <a:ea typeface="Hiragino Mincho ProN" pitchFamily="34" charset="-128"/>
                <a:cs typeface="Hiragino Mincho ProN" pitchFamily="34" charset="-120"/>
              </a:rPr>
              <a:t>　　　　　　　　　　</a:t>
            </a:r>
            <a:pPr indent="0" marL="0">
              <a:buNone/>
            </a:pPr>
            <a:r>
              <a:rPr lang="ja-JP" altLang="en-US" sz="2200" dirty="0">
                <a:solidFill>
                  <a:srgbClr val="1C1A1A"/>
                </a:solidFill>
                <a:latin typeface="Hiragino Mincho ProN" pitchFamily="34" charset="0"/>
                <a:ea typeface="Hiragino Mincho ProN" pitchFamily="34" charset="-128"/>
                <a:cs typeface="Hiragino Mincho ProN" pitchFamily="34" charset="-120"/>
              </a:rPr>
              <a:t>をしない専門家です。</a:t>
            </a:r>
            <a:endParaRPr lang="ja-JP" sz="2200" dirty="0"/>
          </a:p>
        </p:txBody>
      </p:sp>
      <p:sp>
        <p:nvSpPr>
          <p:cNvPr id="7" name="field"/>
          <p:cNvSpPr/>
          <p:nvPr/>
        </p:nvSpPr>
        <p:spPr>
          <a:xfrm>
            <a:off x="548640" y="3291840"/>
            <a:ext cx="5440680" cy="2834640"/>
          </a:xfrm>
          <a:prstGeom prst="rect">
            <a:avLst/>
          </a:prstGeom>
          <a:solidFill>
            <a:srgbClr val="FFFFFF"/>
          </a:solidFill>
          <a:ln w="9525">
            <a:solidFill>
              <a:srgbClr val="D9D2CC"/>
            </a:solidFill>
            <a:prstDash val="solid"/>
          </a:ln>
        </p:spPr>
      </p:sp>
      <p:sp>
        <p:nvSpPr>
          <p:cNvPr id="8" name="Text 6"/>
          <p:cNvSpPr txBox="1"/>
          <p:nvPr/>
        </p:nvSpPr>
        <p:spPr>
          <a:xfrm>
            <a:off x="731520" y="3447288"/>
            <a:ext cx="5074920"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なぜ、この仕事をしているのですか？</a:t>
            </a:r>
            <a:endParaRPr lang="ja-JP" sz="1400" dirty="0"/>
          </a:p>
        </p:txBody>
      </p:sp>
      <p:sp>
        <p:nvSpPr>
          <p:cNvPr id="9" name="Text 7"/>
          <p:cNvSpPr txBox="1"/>
          <p:nvPr/>
        </p:nvSpPr>
        <p:spPr>
          <a:xfrm>
            <a:off x="731520" y="3794760"/>
            <a:ext cx="5074920"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きっかけになった出来事・原体験・忘れられないお客様</a:t>
            </a:r>
            <a:endParaRPr lang="ja-JP" sz="1050" dirty="0"/>
          </a:p>
        </p:txBody>
      </p:sp>
      <p:sp>
        <p:nvSpPr>
          <p:cNvPr id="10" name="Shape 8"/>
          <p:cNvSpPr/>
          <p:nvPr/>
        </p:nvSpPr>
        <p:spPr>
          <a:xfrm>
            <a:off x="731520" y="4544568"/>
            <a:ext cx="5074920" cy="0"/>
          </a:xfrm>
          <a:prstGeom prst="line">
            <a:avLst/>
          </a:prstGeom>
          <a:noFill/>
          <a:ln w="9525">
            <a:solidFill>
              <a:srgbClr val="D9D2CC"/>
            </a:solidFill>
            <a:prstDash val="dash"/>
          </a:ln>
        </p:spPr>
      </p:sp>
      <p:sp>
        <p:nvSpPr>
          <p:cNvPr id="11" name="Shape 9"/>
          <p:cNvSpPr/>
          <p:nvPr/>
        </p:nvSpPr>
        <p:spPr>
          <a:xfrm>
            <a:off x="731520" y="4946904"/>
            <a:ext cx="5074920" cy="0"/>
          </a:xfrm>
          <a:prstGeom prst="line">
            <a:avLst/>
          </a:prstGeom>
          <a:noFill/>
          <a:ln w="9525">
            <a:solidFill>
              <a:srgbClr val="D9D2CC"/>
            </a:solidFill>
            <a:prstDash val="dash"/>
          </a:ln>
        </p:spPr>
      </p:sp>
      <p:sp>
        <p:nvSpPr>
          <p:cNvPr id="12" name="Shape 10"/>
          <p:cNvSpPr/>
          <p:nvPr/>
        </p:nvSpPr>
        <p:spPr>
          <a:xfrm>
            <a:off x="731520" y="5349240"/>
            <a:ext cx="5074920" cy="0"/>
          </a:xfrm>
          <a:prstGeom prst="line">
            <a:avLst/>
          </a:prstGeom>
          <a:noFill/>
          <a:ln w="9525">
            <a:solidFill>
              <a:srgbClr val="D9D2CC"/>
            </a:solidFill>
            <a:prstDash val="dash"/>
          </a:ln>
        </p:spPr>
      </p:sp>
      <p:sp>
        <p:nvSpPr>
          <p:cNvPr id="13" name="Shape 11"/>
          <p:cNvSpPr/>
          <p:nvPr/>
        </p:nvSpPr>
        <p:spPr>
          <a:xfrm>
            <a:off x="731520" y="5751576"/>
            <a:ext cx="5074920" cy="0"/>
          </a:xfrm>
          <a:prstGeom prst="line">
            <a:avLst/>
          </a:prstGeom>
          <a:noFill/>
          <a:ln w="9525">
            <a:solidFill>
              <a:srgbClr val="D9D2CC"/>
            </a:solidFill>
            <a:prstDash val="dash"/>
          </a:ln>
        </p:spPr>
      </p:sp>
      <p:sp>
        <p:nvSpPr>
          <p:cNvPr id="14" name="field"/>
          <p:cNvSpPr/>
          <p:nvPr/>
        </p:nvSpPr>
        <p:spPr>
          <a:xfrm>
            <a:off x="6199632" y="3291840"/>
            <a:ext cx="5440680" cy="2834640"/>
          </a:xfrm>
          <a:prstGeom prst="rect">
            <a:avLst/>
          </a:prstGeom>
          <a:solidFill>
            <a:srgbClr val="FFFFFF"/>
          </a:solidFill>
          <a:ln w="9525">
            <a:solidFill>
              <a:srgbClr val="D9D2CC"/>
            </a:solidFill>
            <a:prstDash val="solid"/>
          </a:ln>
        </p:spPr>
      </p:sp>
      <p:sp>
        <p:nvSpPr>
          <p:cNvPr id="15" name="Text 13"/>
          <p:cNvSpPr txBox="1"/>
          <p:nvPr/>
        </p:nvSpPr>
        <p:spPr>
          <a:xfrm>
            <a:off x="6382512" y="3447288"/>
            <a:ext cx="5074920"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大切にしている価値観を3つ</a:t>
            </a:r>
            <a:endParaRPr lang="ja-JP" sz="1400" dirty="0"/>
          </a:p>
        </p:txBody>
      </p:sp>
      <p:sp>
        <p:nvSpPr>
          <p:cNvPr id="16" name="Text 14"/>
          <p:cNvSpPr txBox="1"/>
          <p:nvPr/>
        </p:nvSpPr>
        <p:spPr>
          <a:xfrm>
            <a:off x="6382512" y="3794760"/>
            <a:ext cx="5074920"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例：家族の対話／その人らしい最期／誠実さ</a:t>
            </a:r>
            <a:endParaRPr lang="ja-JP" sz="1050" dirty="0"/>
          </a:p>
        </p:txBody>
      </p:sp>
      <p:sp>
        <p:nvSpPr>
          <p:cNvPr id="17" name="Text 15"/>
          <p:cNvSpPr txBox="1"/>
          <p:nvPr/>
        </p:nvSpPr>
        <p:spPr>
          <a:xfrm>
            <a:off x="6382512" y="4050792"/>
            <a:ext cx="365760" cy="292608"/>
          </a:xfrm>
          <a:prstGeom prst="rect">
            <a:avLst/>
          </a:prstGeom>
          <a:noFill/>
          <a:ln/>
        </p:spPr>
        <p:txBody>
          <a:bodyPr wrap="square" lIns="0" tIns="0" rIns="0" bIns="0" rtlCol="0" anchor="t"/>
          <a:lstStyle/>
          <a:p>
            <a:pPr indent="0" marL="0">
              <a:buNone/>
            </a:pPr>
            <a:r>
              <a:rPr lang="ja-JP" altLang="en-US" sz="1500" dirty="0">
                <a:solidFill>
                  <a:srgbClr val="B8432F"/>
                </a:solidFill>
                <a:latin typeface="Hiragino Mincho ProN" pitchFamily="34" charset="0"/>
                <a:ea typeface="Hiragino Mincho ProN" pitchFamily="34" charset="-128"/>
                <a:cs typeface="Hiragino Mincho ProN" pitchFamily="34" charset="-120"/>
              </a:rPr>
              <a:t>①</a:t>
            </a:r>
            <a:endParaRPr lang="ja-JP" sz="1500" dirty="0"/>
          </a:p>
        </p:txBody>
      </p:sp>
      <p:sp>
        <p:nvSpPr>
          <p:cNvPr id="18" name="Shape 16"/>
          <p:cNvSpPr/>
          <p:nvPr/>
        </p:nvSpPr>
        <p:spPr>
          <a:xfrm>
            <a:off x="6766560" y="4343400"/>
            <a:ext cx="4690872" cy="0"/>
          </a:xfrm>
          <a:prstGeom prst="line">
            <a:avLst/>
          </a:prstGeom>
          <a:noFill/>
          <a:ln w="9525">
            <a:solidFill>
              <a:srgbClr val="D9D2CC"/>
            </a:solidFill>
            <a:prstDash val="dash"/>
          </a:ln>
        </p:spPr>
      </p:sp>
      <p:sp>
        <p:nvSpPr>
          <p:cNvPr id="19" name="Text 17"/>
          <p:cNvSpPr txBox="1"/>
          <p:nvPr/>
        </p:nvSpPr>
        <p:spPr>
          <a:xfrm>
            <a:off x="6382512" y="4599432"/>
            <a:ext cx="365760" cy="292608"/>
          </a:xfrm>
          <a:prstGeom prst="rect">
            <a:avLst/>
          </a:prstGeom>
          <a:noFill/>
          <a:ln/>
        </p:spPr>
        <p:txBody>
          <a:bodyPr wrap="square" lIns="0" tIns="0" rIns="0" bIns="0" rtlCol="0" anchor="t"/>
          <a:lstStyle/>
          <a:p>
            <a:pPr indent="0" marL="0">
              <a:buNone/>
            </a:pPr>
            <a:r>
              <a:rPr lang="ja-JP" altLang="en-US" sz="1500" dirty="0">
                <a:solidFill>
                  <a:srgbClr val="B8432F"/>
                </a:solidFill>
                <a:latin typeface="Hiragino Mincho ProN" pitchFamily="34" charset="0"/>
                <a:ea typeface="Hiragino Mincho ProN" pitchFamily="34" charset="-128"/>
                <a:cs typeface="Hiragino Mincho ProN" pitchFamily="34" charset="-120"/>
              </a:rPr>
              <a:t>②</a:t>
            </a:r>
            <a:endParaRPr lang="ja-JP" sz="1500" dirty="0"/>
          </a:p>
        </p:txBody>
      </p:sp>
      <p:sp>
        <p:nvSpPr>
          <p:cNvPr id="20" name="Shape 18"/>
          <p:cNvSpPr/>
          <p:nvPr/>
        </p:nvSpPr>
        <p:spPr>
          <a:xfrm>
            <a:off x="6766560" y="4892040"/>
            <a:ext cx="4690872" cy="0"/>
          </a:xfrm>
          <a:prstGeom prst="line">
            <a:avLst/>
          </a:prstGeom>
          <a:noFill/>
          <a:ln w="9525">
            <a:solidFill>
              <a:srgbClr val="D9D2CC"/>
            </a:solidFill>
            <a:prstDash val="dash"/>
          </a:ln>
        </p:spPr>
      </p:sp>
      <p:sp>
        <p:nvSpPr>
          <p:cNvPr id="21" name="Text 19"/>
          <p:cNvSpPr txBox="1"/>
          <p:nvPr/>
        </p:nvSpPr>
        <p:spPr>
          <a:xfrm>
            <a:off x="6382512" y="5148072"/>
            <a:ext cx="365760" cy="292608"/>
          </a:xfrm>
          <a:prstGeom prst="rect">
            <a:avLst/>
          </a:prstGeom>
          <a:noFill/>
          <a:ln/>
        </p:spPr>
        <p:txBody>
          <a:bodyPr wrap="square" lIns="0" tIns="0" rIns="0" bIns="0" rtlCol="0" anchor="t"/>
          <a:lstStyle/>
          <a:p>
            <a:pPr indent="0" marL="0">
              <a:buNone/>
            </a:pPr>
            <a:r>
              <a:rPr lang="ja-JP" altLang="en-US" sz="1500" dirty="0">
                <a:solidFill>
                  <a:srgbClr val="B8432F"/>
                </a:solidFill>
                <a:latin typeface="Hiragino Mincho ProN" pitchFamily="34" charset="0"/>
                <a:ea typeface="Hiragino Mincho ProN" pitchFamily="34" charset="-128"/>
                <a:cs typeface="Hiragino Mincho ProN" pitchFamily="34" charset="-120"/>
              </a:rPr>
              <a:t>③</a:t>
            </a:r>
            <a:endParaRPr lang="ja-JP" sz="1500" dirty="0"/>
          </a:p>
        </p:txBody>
      </p:sp>
      <p:sp>
        <p:nvSpPr>
          <p:cNvPr id="22" name="Shape 20"/>
          <p:cNvSpPr/>
          <p:nvPr/>
        </p:nvSpPr>
        <p:spPr>
          <a:xfrm>
            <a:off x="6766560" y="5440680"/>
            <a:ext cx="4690872" cy="0"/>
          </a:xfrm>
          <a:prstGeom prst="line">
            <a:avLst/>
          </a:prstGeom>
          <a:noFill/>
          <a:ln w="9525">
            <a:solidFill>
              <a:srgbClr val="D9D2CC"/>
            </a:solidFill>
            <a:prstDash val="dash"/>
          </a:ln>
        </p:spPr>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6858000" cy="274320"/>
          </a:xfrm>
          <a:prstGeom prst="rect">
            <a:avLst/>
          </a:prstGeom>
          <a:noFill/>
          <a:ln/>
        </p:spPr>
        <p:txBody>
          <a:bodyPr wrap="square" lIns="0" tIns="0" rIns="0" bIns="0" rtlCol="0" anchor="ctr"/>
          <a:lstStyle/>
          <a:p>
            <a:pPr indent="0" marL="0">
              <a:buNone/>
            </a:pPr>
            <a:r>
              <a:rPr lang="en-US" sz="1100" b="1" spc="200" kern="0" dirty="0">
                <a:solidFill>
                  <a:srgbClr val="B8432F"/>
                </a:solidFill>
                <a:latin typeface="Hiragino Kaku Gothic ProN" pitchFamily="34" charset="0"/>
                <a:ea typeface="Hiragino Kaku Gothic ProN" pitchFamily="34" charset="-128"/>
                <a:cs typeface="Hiragino Kaku Gothic ProN" pitchFamily="34" charset="-120"/>
              </a:rPr>
              <a:t>WORKSHEET 02 ｜ BRANDING</a:t>
            </a:r>
            <a:endParaRPr lang="en-US" sz="1100" dirty="0"/>
          </a:p>
        </p:txBody>
      </p:sp>
      <p:sp>
        <p:nvSpPr>
          <p:cNvPr id="3" name="Text 0"/>
          <p:cNvSpPr/>
          <p:nvPr>
            <p:ph idx="101" type="title" hasCustomPrompt="1"/>
          </p:nvPr>
        </p:nvSpPr>
        <p:spPr>
          <a:xfrm>
            <a:off x="548640" y="658368"/>
            <a:ext cx="7680960" cy="731520"/>
          </a:xfrm>
          <a:prstGeom prst="rect">
            <a:avLst/>
          </a:prstGeom>
          <a:noFill/>
          <a:ln/>
        </p:spPr>
        <p:txBody>
          <a:bodyPr wrap="square" lIns="0" tIns="0" rIns="0" bIns="0" rtlCol="0" anchor="ctr"/>
          <a:lstStyle/>
          <a:p>
            <a:pPr algn="l" indent="0" marL="0">
              <a:buNone/>
            </a:pPr>
            <a:r>
              <a:rPr lang="en-US" sz="3000" dirty="0">
                <a:solidFill>
                  <a:srgbClr val="1C1A1A"/>
                </a:solidFill>
                <a:latin typeface="Hiragino Mincho ProN" pitchFamily="34" charset="0"/>
                <a:ea typeface="Hiragino Mincho ProN" pitchFamily="34" charset="-128"/>
                <a:cs typeface="Hiragino Mincho ProN" pitchFamily="34" charset="-120"/>
              </a:rPr>
              <a:t>「しないこと」を決める</a:t>
            </a:r>
            <a:endParaRPr lang="en-US" sz="3000" dirty="0"/>
          </a:p>
        </p:txBody>
      </p:sp>
      <p:sp>
        <p:nvSpPr>
          <p:cNvPr id="4" name="field"/>
          <p:cNvSpPr/>
          <p:nvPr/>
        </p:nvSpPr>
        <p:spPr>
          <a:xfrm>
            <a:off x="548640" y="1600200"/>
            <a:ext cx="3566160" cy="2194560"/>
          </a:xfrm>
          <a:prstGeom prst="rect">
            <a:avLst/>
          </a:prstGeom>
          <a:solidFill>
            <a:srgbClr val="FFFFFF"/>
          </a:solidFill>
          <a:ln w="9525">
            <a:solidFill>
              <a:srgbClr val="D9D2CC"/>
            </a:solidFill>
            <a:prstDash val="solid"/>
          </a:ln>
        </p:spPr>
      </p:sp>
      <p:sp>
        <p:nvSpPr>
          <p:cNvPr id="5" name="Shape 3"/>
          <p:cNvSpPr/>
          <p:nvPr/>
        </p:nvSpPr>
        <p:spPr>
          <a:xfrm>
            <a:off x="731520" y="1764792"/>
            <a:ext cx="292608" cy="292608"/>
          </a:xfrm>
          <a:prstGeom prst="ellipse">
            <a:avLst/>
          </a:prstGeom>
          <a:solidFill>
            <a:srgbClr val="B8432F"/>
          </a:solidFill>
          <a:ln/>
        </p:spPr>
      </p:sp>
      <p:sp>
        <p:nvSpPr>
          <p:cNvPr id="6" name="Text 4"/>
          <p:cNvSpPr txBox="1"/>
          <p:nvPr/>
        </p:nvSpPr>
        <p:spPr>
          <a:xfrm>
            <a:off x="731520" y="1764792"/>
            <a:ext cx="292608" cy="292608"/>
          </a:xfrm>
          <a:prstGeom prst="rect">
            <a:avLst/>
          </a:prstGeom>
          <a:noFill/>
          <a:ln/>
        </p:spPr>
        <p:txBody>
          <a:bodyPr wrap="square" lIns="0" tIns="0" rIns="0" bIns="0" rtlCol="0" anchor="ctr"/>
          <a:lstStyle/>
          <a:p>
            <a:pPr algn="ctr" indent="0" marL="0">
              <a:buNone/>
            </a:pPr>
            <a:r>
              <a:rPr lang="ja-JP" altLang="en-US" sz="1100" b="1" dirty="0">
                <a:solidFill>
                  <a:srgbClr val="FFFFFF"/>
                </a:solidFill>
                <a:latin typeface="Hiragino Kaku Gothic ProN" pitchFamily="34" charset="0"/>
                <a:ea typeface="Hiragino Kaku Gothic ProN" pitchFamily="34" charset="-128"/>
                <a:cs typeface="Hiragino Kaku Gothic ProN" pitchFamily="34" charset="-120"/>
              </a:rPr>
              <a:t>1</a:t>
            </a:r>
            <a:endParaRPr lang="ja-JP" sz="1100" dirty="0"/>
          </a:p>
        </p:txBody>
      </p:sp>
      <p:sp>
        <p:nvSpPr>
          <p:cNvPr id="7" name="Text 5"/>
          <p:cNvSpPr txBox="1"/>
          <p:nvPr/>
        </p:nvSpPr>
        <p:spPr>
          <a:xfrm>
            <a:off x="1115568" y="1755648"/>
            <a:ext cx="2816352"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あえて引き受けない仕事</a:t>
            </a:r>
            <a:endParaRPr lang="ja-JP" sz="1400" dirty="0"/>
          </a:p>
        </p:txBody>
      </p:sp>
      <p:sp>
        <p:nvSpPr>
          <p:cNvPr id="8" name="Text 6"/>
          <p:cNvSpPr txBox="1"/>
          <p:nvPr/>
        </p:nvSpPr>
        <p:spPr>
          <a:xfrm>
            <a:off x="731520" y="2103120"/>
            <a:ext cx="3200400"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専門外・方針に合わない依頼など</a:t>
            </a:r>
            <a:endParaRPr lang="ja-JP" sz="1050" dirty="0"/>
          </a:p>
        </p:txBody>
      </p:sp>
      <p:sp>
        <p:nvSpPr>
          <p:cNvPr id="9" name="Shape 7"/>
          <p:cNvSpPr/>
          <p:nvPr/>
        </p:nvSpPr>
        <p:spPr>
          <a:xfrm>
            <a:off x="731520" y="2852928"/>
            <a:ext cx="3200400" cy="0"/>
          </a:xfrm>
          <a:prstGeom prst="line">
            <a:avLst/>
          </a:prstGeom>
          <a:noFill/>
          <a:ln w="9525">
            <a:solidFill>
              <a:srgbClr val="D9D2CC"/>
            </a:solidFill>
            <a:prstDash val="dash"/>
          </a:ln>
        </p:spPr>
      </p:sp>
      <p:sp>
        <p:nvSpPr>
          <p:cNvPr id="10" name="Shape 8"/>
          <p:cNvSpPr/>
          <p:nvPr/>
        </p:nvSpPr>
        <p:spPr>
          <a:xfrm>
            <a:off x="731520" y="3255264"/>
            <a:ext cx="3200400" cy="0"/>
          </a:xfrm>
          <a:prstGeom prst="line">
            <a:avLst/>
          </a:prstGeom>
          <a:noFill/>
          <a:ln w="9525">
            <a:solidFill>
              <a:srgbClr val="D9D2CC"/>
            </a:solidFill>
            <a:prstDash val="dash"/>
          </a:ln>
        </p:spPr>
      </p:sp>
      <p:sp>
        <p:nvSpPr>
          <p:cNvPr id="11" name="field"/>
          <p:cNvSpPr/>
          <p:nvPr/>
        </p:nvSpPr>
        <p:spPr>
          <a:xfrm>
            <a:off x="4315968" y="1600200"/>
            <a:ext cx="3566160" cy="2194560"/>
          </a:xfrm>
          <a:prstGeom prst="rect">
            <a:avLst/>
          </a:prstGeom>
          <a:solidFill>
            <a:srgbClr val="FFFFFF"/>
          </a:solidFill>
          <a:ln w="9525">
            <a:solidFill>
              <a:srgbClr val="D9D2CC"/>
            </a:solidFill>
            <a:prstDash val="solid"/>
          </a:ln>
        </p:spPr>
      </p:sp>
      <p:sp>
        <p:nvSpPr>
          <p:cNvPr id="12" name="Shape 10"/>
          <p:cNvSpPr/>
          <p:nvPr/>
        </p:nvSpPr>
        <p:spPr>
          <a:xfrm>
            <a:off x="4498848" y="1764792"/>
            <a:ext cx="292608" cy="292608"/>
          </a:xfrm>
          <a:prstGeom prst="ellipse">
            <a:avLst/>
          </a:prstGeom>
          <a:solidFill>
            <a:srgbClr val="B8432F"/>
          </a:solidFill>
          <a:ln/>
        </p:spPr>
      </p:sp>
      <p:sp>
        <p:nvSpPr>
          <p:cNvPr id="13" name="Text 11"/>
          <p:cNvSpPr txBox="1"/>
          <p:nvPr/>
        </p:nvSpPr>
        <p:spPr>
          <a:xfrm>
            <a:off x="4498848" y="1764792"/>
            <a:ext cx="292608" cy="292608"/>
          </a:xfrm>
          <a:prstGeom prst="rect">
            <a:avLst/>
          </a:prstGeom>
          <a:noFill/>
          <a:ln/>
        </p:spPr>
        <p:txBody>
          <a:bodyPr wrap="square" lIns="0" tIns="0" rIns="0" bIns="0" rtlCol="0" anchor="ctr"/>
          <a:lstStyle/>
          <a:p>
            <a:pPr algn="ctr" indent="0" marL="0">
              <a:buNone/>
            </a:pPr>
            <a:r>
              <a:rPr lang="ja-JP" altLang="en-US" sz="1100" b="1" dirty="0">
                <a:solidFill>
                  <a:srgbClr val="FFFFFF"/>
                </a:solidFill>
                <a:latin typeface="Hiragino Kaku Gothic ProN" pitchFamily="34" charset="0"/>
                <a:ea typeface="Hiragino Kaku Gothic ProN" pitchFamily="34" charset="-128"/>
                <a:cs typeface="Hiragino Kaku Gothic ProN" pitchFamily="34" charset="-120"/>
              </a:rPr>
              <a:t>2</a:t>
            </a:r>
            <a:endParaRPr lang="ja-JP" sz="1100" dirty="0"/>
          </a:p>
        </p:txBody>
      </p:sp>
      <p:sp>
        <p:nvSpPr>
          <p:cNvPr id="14" name="Text 12"/>
          <p:cNvSpPr txBox="1"/>
          <p:nvPr/>
        </p:nvSpPr>
        <p:spPr>
          <a:xfrm>
            <a:off x="4882896" y="1755648"/>
            <a:ext cx="2816352"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追いかけないお客様</a:t>
            </a:r>
            <a:endParaRPr lang="ja-JP" sz="1400" dirty="0"/>
          </a:p>
        </p:txBody>
      </p:sp>
      <p:sp>
        <p:nvSpPr>
          <p:cNvPr id="15" name="Text 13"/>
          <p:cNvSpPr txBox="1"/>
          <p:nvPr/>
        </p:nvSpPr>
        <p:spPr>
          <a:xfrm>
            <a:off x="4498848" y="2103120"/>
            <a:ext cx="3200400"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例：節税だけが目的の人</a:t>
            </a:r>
            <a:endParaRPr lang="ja-JP" sz="1050" dirty="0"/>
          </a:p>
        </p:txBody>
      </p:sp>
      <p:sp>
        <p:nvSpPr>
          <p:cNvPr id="16" name="Shape 14"/>
          <p:cNvSpPr/>
          <p:nvPr/>
        </p:nvSpPr>
        <p:spPr>
          <a:xfrm>
            <a:off x="4498848" y="2852928"/>
            <a:ext cx="3200400" cy="0"/>
          </a:xfrm>
          <a:prstGeom prst="line">
            <a:avLst/>
          </a:prstGeom>
          <a:noFill/>
          <a:ln w="9525">
            <a:solidFill>
              <a:srgbClr val="D9D2CC"/>
            </a:solidFill>
            <a:prstDash val="dash"/>
          </a:ln>
        </p:spPr>
      </p:sp>
      <p:sp>
        <p:nvSpPr>
          <p:cNvPr id="17" name="Shape 15"/>
          <p:cNvSpPr/>
          <p:nvPr/>
        </p:nvSpPr>
        <p:spPr>
          <a:xfrm>
            <a:off x="4498848" y="3255264"/>
            <a:ext cx="3200400" cy="0"/>
          </a:xfrm>
          <a:prstGeom prst="line">
            <a:avLst/>
          </a:prstGeom>
          <a:noFill/>
          <a:ln w="9525">
            <a:solidFill>
              <a:srgbClr val="D9D2CC"/>
            </a:solidFill>
            <a:prstDash val="dash"/>
          </a:ln>
        </p:spPr>
      </p:sp>
      <p:sp>
        <p:nvSpPr>
          <p:cNvPr id="18" name="field"/>
          <p:cNvSpPr/>
          <p:nvPr/>
        </p:nvSpPr>
        <p:spPr>
          <a:xfrm>
            <a:off x="8074152" y="1600200"/>
            <a:ext cx="3566160" cy="2194560"/>
          </a:xfrm>
          <a:prstGeom prst="rect">
            <a:avLst/>
          </a:prstGeom>
          <a:solidFill>
            <a:srgbClr val="FFFFFF"/>
          </a:solidFill>
          <a:ln w="9525">
            <a:solidFill>
              <a:srgbClr val="D9D2CC"/>
            </a:solidFill>
            <a:prstDash val="solid"/>
          </a:ln>
        </p:spPr>
      </p:sp>
      <p:sp>
        <p:nvSpPr>
          <p:cNvPr id="19" name="Shape 17"/>
          <p:cNvSpPr/>
          <p:nvPr/>
        </p:nvSpPr>
        <p:spPr>
          <a:xfrm>
            <a:off x="8257032" y="1764792"/>
            <a:ext cx="292608" cy="292608"/>
          </a:xfrm>
          <a:prstGeom prst="ellipse">
            <a:avLst/>
          </a:prstGeom>
          <a:solidFill>
            <a:srgbClr val="B8432F"/>
          </a:solidFill>
          <a:ln/>
        </p:spPr>
      </p:sp>
      <p:sp>
        <p:nvSpPr>
          <p:cNvPr id="20" name="Text 18"/>
          <p:cNvSpPr txBox="1"/>
          <p:nvPr/>
        </p:nvSpPr>
        <p:spPr>
          <a:xfrm>
            <a:off x="8257032" y="1764792"/>
            <a:ext cx="292608" cy="292608"/>
          </a:xfrm>
          <a:prstGeom prst="rect">
            <a:avLst/>
          </a:prstGeom>
          <a:noFill/>
          <a:ln/>
        </p:spPr>
        <p:txBody>
          <a:bodyPr wrap="square" lIns="0" tIns="0" rIns="0" bIns="0" rtlCol="0" anchor="ctr"/>
          <a:lstStyle/>
          <a:p>
            <a:pPr algn="ctr" indent="0" marL="0">
              <a:buNone/>
            </a:pPr>
            <a:r>
              <a:rPr lang="ja-JP" altLang="en-US" sz="1100" b="1" dirty="0">
                <a:solidFill>
                  <a:srgbClr val="FFFFFF"/>
                </a:solidFill>
                <a:latin typeface="Hiragino Kaku Gothic ProN" pitchFamily="34" charset="0"/>
                <a:ea typeface="Hiragino Kaku Gothic ProN" pitchFamily="34" charset="-128"/>
                <a:cs typeface="Hiragino Kaku Gothic ProN" pitchFamily="34" charset="-120"/>
              </a:rPr>
              <a:t>3</a:t>
            </a:r>
            <a:endParaRPr lang="ja-JP" sz="1100" dirty="0"/>
          </a:p>
        </p:txBody>
      </p:sp>
      <p:sp>
        <p:nvSpPr>
          <p:cNvPr id="21" name="Text 19"/>
          <p:cNvSpPr txBox="1"/>
          <p:nvPr/>
        </p:nvSpPr>
        <p:spPr>
          <a:xfrm>
            <a:off x="8641080" y="1755648"/>
            <a:ext cx="2816352"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同業者がよく言う自己紹介</a:t>
            </a:r>
            <a:endParaRPr lang="ja-JP" sz="1400" dirty="0"/>
          </a:p>
        </p:txBody>
      </p:sp>
      <p:sp>
        <p:nvSpPr>
          <p:cNvPr id="22" name="Text 20"/>
          <p:cNvSpPr txBox="1"/>
          <p:nvPr/>
        </p:nvSpPr>
        <p:spPr>
          <a:xfrm>
            <a:off x="8257032" y="2103120"/>
            <a:ext cx="3200400"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＝あなたが言わなくていい言葉</a:t>
            </a:r>
            <a:endParaRPr lang="ja-JP" sz="1050" dirty="0"/>
          </a:p>
        </p:txBody>
      </p:sp>
      <p:sp>
        <p:nvSpPr>
          <p:cNvPr id="23" name="Shape 21"/>
          <p:cNvSpPr/>
          <p:nvPr/>
        </p:nvSpPr>
        <p:spPr>
          <a:xfrm>
            <a:off x="8257032" y="2852928"/>
            <a:ext cx="3200400" cy="0"/>
          </a:xfrm>
          <a:prstGeom prst="line">
            <a:avLst/>
          </a:prstGeom>
          <a:noFill/>
          <a:ln w="9525">
            <a:solidFill>
              <a:srgbClr val="D9D2CC"/>
            </a:solidFill>
            <a:prstDash val="dash"/>
          </a:ln>
        </p:spPr>
      </p:sp>
      <p:sp>
        <p:nvSpPr>
          <p:cNvPr id="24" name="Shape 22"/>
          <p:cNvSpPr/>
          <p:nvPr/>
        </p:nvSpPr>
        <p:spPr>
          <a:xfrm>
            <a:off x="8257032" y="3255264"/>
            <a:ext cx="3200400" cy="0"/>
          </a:xfrm>
          <a:prstGeom prst="line">
            <a:avLst/>
          </a:prstGeom>
          <a:noFill/>
          <a:ln w="9525">
            <a:solidFill>
              <a:srgbClr val="D9D2CC"/>
            </a:solidFill>
            <a:prstDash val="dash"/>
          </a:ln>
        </p:spPr>
      </p:sp>
      <p:sp>
        <p:nvSpPr>
          <p:cNvPr id="25" name="field"/>
          <p:cNvSpPr/>
          <p:nvPr/>
        </p:nvSpPr>
        <p:spPr>
          <a:xfrm>
            <a:off x="548640" y="3977640"/>
            <a:ext cx="11091672" cy="2148840"/>
          </a:xfrm>
          <a:prstGeom prst="rect">
            <a:avLst/>
          </a:prstGeom>
          <a:solidFill>
            <a:srgbClr val="FBEDEA"/>
          </a:solidFill>
          <a:ln w="9525">
            <a:solidFill>
              <a:srgbClr val="EBCFC8"/>
            </a:solidFill>
            <a:prstDash val="solid"/>
          </a:ln>
        </p:spPr>
      </p:sp>
      <p:sp>
        <p:nvSpPr>
          <p:cNvPr id="26" name="Shape 24"/>
          <p:cNvSpPr/>
          <p:nvPr/>
        </p:nvSpPr>
        <p:spPr>
          <a:xfrm>
            <a:off x="731520" y="4142232"/>
            <a:ext cx="292608" cy="292608"/>
          </a:xfrm>
          <a:prstGeom prst="ellipse">
            <a:avLst/>
          </a:prstGeom>
          <a:solidFill>
            <a:srgbClr val="B8432F"/>
          </a:solidFill>
          <a:ln/>
        </p:spPr>
      </p:sp>
      <p:sp>
        <p:nvSpPr>
          <p:cNvPr id="27" name="Text 25"/>
          <p:cNvSpPr txBox="1"/>
          <p:nvPr/>
        </p:nvSpPr>
        <p:spPr>
          <a:xfrm>
            <a:off x="731520" y="4142232"/>
            <a:ext cx="292608" cy="292608"/>
          </a:xfrm>
          <a:prstGeom prst="rect">
            <a:avLst/>
          </a:prstGeom>
          <a:noFill/>
          <a:ln/>
        </p:spPr>
        <p:txBody>
          <a:bodyPr wrap="square" lIns="0" tIns="0" rIns="0" bIns="0" rtlCol="0" anchor="ctr"/>
          <a:lstStyle/>
          <a:p>
            <a:pPr algn="ctr" indent="0" marL="0">
              <a:buNone/>
            </a:pPr>
            <a:r>
              <a:rPr lang="ja-JP" altLang="en-US" sz="1100" b="1" dirty="0">
                <a:solidFill>
                  <a:srgbClr val="FFFFFF"/>
                </a:solidFill>
                <a:latin typeface="Hiragino Kaku Gothic ProN" pitchFamily="34" charset="0"/>
                <a:ea typeface="Hiragino Kaku Gothic ProN" pitchFamily="34" charset="-128"/>
                <a:cs typeface="Hiragino Kaku Gothic ProN" pitchFamily="34" charset="-120"/>
              </a:rPr>
              <a:t>4</a:t>
            </a:r>
            <a:endParaRPr lang="ja-JP" sz="1100" dirty="0"/>
          </a:p>
        </p:txBody>
      </p:sp>
      <p:sp>
        <p:nvSpPr>
          <p:cNvPr id="28" name="Text 26"/>
          <p:cNvSpPr txBox="1"/>
          <p:nvPr/>
        </p:nvSpPr>
        <p:spPr>
          <a:xfrm>
            <a:off x="1115568" y="4133088"/>
            <a:ext cx="10341864"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「え、どういうこと？」と聞き返される、あなたの一言</a:t>
            </a:r>
            <a:endParaRPr lang="ja-JP" sz="1400" dirty="0"/>
          </a:p>
        </p:txBody>
      </p:sp>
      <p:sp>
        <p:nvSpPr>
          <p:cNvPr id="29" name="Text 27"/>
          <p:cNvSpPr txBox="1"/>
          <p:nvPr/>
        </p:nvSpPr>
        <p:spPr>
          <a:xfrm>
            <a:off x="731520" y="4480560"/>
            <a:ext cx="10725912"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例：「私は、財産に着目しない相続コンサルタントです」</a:t>
            </a:r>
            <a:endParaRPr lang="ja-JP" sz="1050" dirty="0"/>
          </a:p>
        </p:txBody>
      </p:sp>
      <p:sp>
        <p:nvSpPr>
          <p:cNvPr id="30" name="Shape 28"/>
          <p:cNvSpPr/>
          <p:nvPr/>
        </p:nvSpPr>
        <p:spPr>
          <a:xfrm>
            <a:off x="731520" y="5230368"/>
            <a:ext cx="10725912" cy="0"/>
          </a:xfrm>
          <a:prstGeom prst="line">
            <a:avLst/>
          </a:prstGeom>
          <a:noFill/>
          <a:ln w="9525">
            <a:solidFill>
              <a:srgbClr val="D9D2CC"/>
            </a:solidFill>
            <a:prstDash val="dash"/>
          </a:ln>
        </p:spPr>
      </p:sp>
      <p:sp>
        <p:nvSpPr>
          <p:cNvPr id="31" name="Shape 29"/>
          <p:cNvSpPr/>
          <p:nvPr/>
        </p:nvSpPr>
        <p:spPr>
          <a:xfrm>
            <a:off x="731520" y="5632704"/>
            <a:ext cx="10725912" cy="0"/>
          </a:xfrm>
          <a:prstGeom prst="line">
            <a:avLst/>
          </a:prstGeom>
          <a:noFill/>
          <a:ln w="9525">
            <a:solidFill>
              <a:srgbClr val="D9D2CC"/>
            </a:solidFill>
            <a:prstDash val="dash"/>
          </a:ln>
        </p:spPr>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6858000" cy="274320"/>
          </a:xfrm>
          <a:prstGeom prst="rect">
            <a:avLst/>
          </a:prstGeom>
          <a:noFill/>
          <a:ln/>
        </p:spPr>
        <p:txBody>
          <a:bodyPr wrap="square" lIns="0" tIns="0" rIns="0" bIns="0" rtlCol="0" anchor="ctr"/>
          <a:lstStyle/>
          <a:p>
            <a:pPr indent="0" marL="0">
              <a:buNone/>
            </a:pPr>
            <a:r>
              <a:rPr lang="en-US" sz="1100" b="1" spc="200" kern="0" dirty="0">
                <a:solidFill>
                  <a:srgbClr val="B8432F"/>
                </a:solidFill>
                <a:latin typeface="Hiragino Kaku Gothic ProN" pitchFamily="34" charset="0"/>
                <a:ea typeface="Hiragino Kaku Gothic ProN" pitchFamily="34" charset="-128"/>
                <a:cs typeface="Hiragino Kaku Gothic ProN" pitchFamily="34" charset="-120"/>
              </a:rPr>
              <a:t>WORKSHEET 03 ｜ PERSONA</a:t>
            </a:r>
            <a:endParaRPr lang="en-US" sz="1100" dirty="0"/>
          </a:p>
        </p:txBody>
      </p:sp>
      <p:sp>
        <p:nvSpPr>
          <p:cNvPr id="3" name="Text 0"/>
          <p:cNvSpPr/>
          <p:nvPr>
            <p:ph idx="101" type="title" hasCustomPrompt="1"/>
          </p:nvPr>
        </p:nvSpPr>
        <p:spPr>
          <a:xfrm>
            <a:off x="548640" y="658368"/>
            <a:ext cx="7680960" cy="731520"/>
          </a:xfrm>
          <a:prstGeom prst="rect">
            <a:avLst/>
          </a:prstGeom>
          <a:noFill/>
          <a:ln/>
        </p:spPr>
        <p:txBody>
          <a:bodyPr wrap="square" lIns="0" tIns="0" rIns="0" bIns="0" rtlCol="0" anchor="ctr"/>
          <a:lstStyle/>
          <a:p>
            <a:pPr algn="l" indent="0" marL="0">
              <a:buNone/>
            </a:pPr>
            <a:r>
              <a:rPr lang="en-US" sz="3000" dirty="0">
                <a:solidFill>
                  <a:srgbClr val="1C1A1A"/>
                </a:solidFill>
                <a:latin typeface="Hiragino Mincho ProN" pitchFamily="34" charset="0"/>
                <a:ea typeface="Hiragino Mincho ProN" pitchFamily="34" charset="-128"/>
                <a:cs typeface="Hiragino Mincho ProN" pitchFamily="34" charset="-120"/>
              </a:rPr>
              <a:t>たった一人の相手を描く</a:t>
            </a:r>
            <a:endParaRPr lang="en-US" sz="3000" dirty="0"/>
          </a:p>
        </p:txBody>
      </p:sp>
      <p:sp>
        <p:nvSpPr>
          <p:cNvPr id="4" name="persona-card"/>
          <p:cNvSpPr/>
          <p:nvPr/>
        </p:nvSpPr>
        <p:spPr>
          <a:xfrm>
            <a:off x="548640" y="1600200"/>
            <a:ext cx="3383280" cy="4526280"/>
          </a:xfrm>
          <a:prstGeom prst="rect">
            <a:avLst/>
          </a:prstGeom>
          <a:solidFill>
            <a:srgbClr val="F4F0EC"/>
          </a:solidFill>
          <a:ln/>
        </p:spPr>
      </p:sp>
      <p:sp>
        <p:nvSpPr>
          <p:cNvPr id="5" name="icon-bg"/>
          <p:cNvSpPr/>
          <p:nvPr/>
        </p:nvSpPr>
        <p:spPr>
          <a:xfrm>
            <a:off x="1783080" y="1828800"/>
            <a:ext cx="914400" cy="91440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2020824" y="2066544"/>
            <a:ext cx="438912" cy="438912"/>
          </a:xfrm>
          <a:prstGeom prst="rect">
            <a:avLst/>
          </a:prstGeom>
        </p:spPr>
      </p:pic>
      <p:sp>
        <p:nvSpPr>
          <p:cNvPr id="7" name="Text 4"/>
          <p:cNvSpPr txBox="1"/>
          <p:nvPr/>
        </p:nvSpPr>
        <p:spPr>
          <a:xfrm>
            <a:off x="777240" y="2971800"/>
            <a:ext cx="2926080" cy="274320"/>
          </a:xfrm>
          <a:prstGeom prst="rect">
            <a:avLst/>
          </a:prstGeom>
          <a:noFill/>
          <a:ln/>
        </p:spPr>
        <p:txBody>
          <a:bodyPr wrap="square" lIns="0" tIns="0" rIns="0" bIns="0" rtlCol="0" anchor="t"/>
          <a:lstStyle/>
          <a:p>
            <a:pPr indent="0" marL="0">
              <a:buNone/>
            </a:pPr>
            <a:r>
              <a:rPr lang="ja-JP" altLang="en-US" sz="1200" b="1" dirty="0">
                <a:solidFill>
                  <a:srgbClr val="8C6E63"/>
                </a:solidFill>
                <a:latin typeface="Hiragino Kaku Gothic ProN" pitchFamily="34" charset="0"/>
                <a:ea typeface="Hiragino Kaku Gothic ProN" pitchFamily="34" charset="-128"/>
                <a:cs typeface="Hiragino Kaku Gothic ProN" pitchFamily="34" charset="-120"/>
              </a:rPr>
              <a:t>名前（仮）</a:t>
            </a:r>
            <a:endParaRPr lang="ja-JP" sz="1200" dirty="0"/>
          </a:p>
        </p:txBody>
      </p:sp>
      <p:sp>
        <p:nvSpPr>
          <p:cNvPr id="8" name="Shape 5"/>
          <p:cNvSpPr/>
          <p:nvPr/>
        </p:nvSpPr>
        <p:spPr>
          <a:xfrm>
            <a:off x="777240" y="3611880"/>
            <a:ext cx="2926080" cy="0"/>
          </a:xfrm>
          <a:prstGeom prst="line">
            <a:avLst/>
          </a:prstGeom>
          <a:noFill/>
          <a:ln w="9525">
            <a:solidFill>
              <a:srgbClr val="C9C2BC"/>
            </a:solidFill>
            <a:prstDash val="solid"/>
          </a:ln>
        </p:spPr>
      </p:sp>
      <p:sp>
        <p:nvSpPr>
          <p:cNvPr id="9" name="Text 6"/>
          <p:cNvSpPr txBox="1"/>
          <p:nvPr/>
        </p:nvSpPr>
        <p:spPr>
          <a:xfrm>
            <a:off x="777240" y="3739896"/>
            <a:ext cx="2926080" cy="274320"/>
          </a:xfrm>
          <a:prstGeom prst="rect">
            <a:avLst/>
          </a:prstGeom>
          <a:noFill/>
          <a:ln/>
        </p:spPr>
        <p:txBody>
          <a:bodyPr wrap="square" lIns="0" tIns="0" rIns="0" bIns="0" rtlCol="0" anchor="t"/>
          <a:lstStyle/>
          <a:p>
            <a:pPr indent="0" marL="0">
              <a:buNone/>
            </a:pPr>
            <a:r>
              <a:rPr lang="ja-JP" altLang="en-US" sz="1200" b="1" dirty="0">
                <a:solidFill>
                  <a:srgbClr val="8C6E63"/>
                </a:solidFill>
                <a:latin typeface="Hiragino Kaku Gothic ProN" pitchFamily="34" charset="0"/>
                <a:ea typeface="Hiragino Kaku Gothic ProN" pitchFamily="34" charset="-128"/>
                <a:cs typeface="Hiragino Kaku Gothic ProN" pitchFamily="34" charset="-120"/>
              </a:rPr>
              <a:t>年代・性別</a:t>
            </a:r>
            <a:endParaRPr lang="ja-JP" sz="1200" dirty="0"/>
          </a:p>
        </p:txBody>
      </p:sp>
      <p:sp>
        <p:nvSpPr>
          <p:cNvPr id="10" name="Shape 7"/>
          <p:cNvSpPr/>
          <p:nvPr/>
        </p:nvSpPr>
        <p:spPr>
          <a:xfrm>
            <a:off x="777240" y="4379976"/>
            <a:ext cx="2926080" cy="0"/>
          </a:xfrm>
          <a:prstGeom prst="line">
            <a:avLst/>
          </a:prstGeom>
          <a:noFill/>
          <a:ln w="9525">
            <a:solidFill>
              <a:srgbClr val="C9C2BC"/>
            </a:solidFill>
            <a:prstDash val="solid"/>
          </a:ln>
        </p:spPr>
      </p:sp>
      <p:sp>
        <p:nvSpPr>
          <p:cNvPr id="11" name="Text 8"/>
          <p:cNvSpPr txBox="1"/>
          <p:nvPr/>
        </p:nvSpPr>
        <p:spPr>
          <a:xfrm>
            <a:off x="777240" y="4507992"/>
            <a:ext cx="2926080" cy="274320"/>
          </a:xfrm>
          <a:prstGeom prst="rect">
            <a:avLst/>
          </a:prstGeom>
          <a:noFill/>
          <a:ln/>
        </p:spPr>
        <p:txBody>
          <a:bodyPr wrap="square" lIns="0" tIns="0" rIns="0" bIns="0" rtlCol="0" anchor="t"/>
          <a:lstStyle/>
          <a:p>
            <a:pPr indent="0" marL="0">
              <a:buNone/>
            </a:pPr>
            <a:r>
              <a:rPr lang="ja-JP" altLang="en-US" sz="1200" b="1" dirty="0">
                <a:solidFill>
                  <a:srgbClr val="8C6E63"/>
                </a:solidFill>
                <a:latin typeface="Hiragino Kaku Gothic ProN" pitchFamily="34" charset="0"/>
                <a:ea typeface="Hiragino Kaku Gothic ProN" pitchFamily="34" charset="-128"/>
                <a:cs typeface="Hiragino Kaku Gothic ProN" pitchFamily="34" charset="-120"/>
              </a:rPr>
              <a:t>家族構成</a:t>
            </a:r>
            <a:endParaRPr lang="ja-JP" sz="1200" dirty="0"/>
          </a:p>
        </p:txBody>
      </p:sp>
      <p:sp>
        <p:nvSpPr>
          <p:cNvPr id="12" name="Shape 9"/>
          <p:cNvSpPr/>
          <p:nvPr/>
        </p:nvSpPr>
        <p:spPr>
          <a:xfrm>
            <a:off x="777240" y="5148072"/>
            <a:ext cx="2926080" cy="0"/>
          </a:xfrm>
          <a:prstGeom prst="line">
            <a:avLst/>
          </a:prstGeom>
          <a:noFill/>
          <a:ln w="9525">
            <a:solidFill>
              <a:srgbClr val="C9C2BC"/>
            </a:solidFill>
            <a:prstDash val="solid"/>
          </a:ln>
        </p:spPr>
      </p:sp>
      <p:sp>
        <p:nvSpPr>
          <p:cNvPr id="13" name="Text 10"/>
          <p:cNvSpPr txBox="1"/>
          <p:nvPr/>
        </p:nvSpPr>
        <p:spPr>
          <a:xfrm>
            <a:off x="777240" y="5276088"/>
            <a:ext cx="2926080" cy="274320"/>
          </a:xfrm>
          <a:prstGeom prst="rect">
            <a:avLst/>
          </a:prstGeom>
          <a:noFill/>
          <a:ln/>
        </p:spPr>
        <p:txBody>
          <a:bodyPr wrap="square" lIns="0" tIns="0" rIns="0" bIns="0" rtlCol="0" anchor="t"/>
          <a:lstStyle/>
          <a:p>
            <a:pPr indent="0" marL="0">
              <a:buNone/>
            </a:pPr>
            <a:r>
              <a:rPr lang="ja-JP" altLang="en-US" sz="1200" b="1" dirty="0">
                <a:solidFill>
                  <a:srgbClr val="8C6E63"/>
                </a:solidFill>
                <a:latin typeface="Hiragino Kaku Gothic ProN" pitchFamily="34" charset="0"/>
                <a:ea typeface="Hiragino Kaku Gothic ProN" pitchFamily="34" charset="-128"/>
                <a:cs typeface="Hiragino Kaku Gothic ProN" pitchFamily="34" charset="-120"/>
              </a:rPr>
              <a:t>仕事・暮らし</a:t>
            </a:r>
            <a:endParaRPr lang="ja-JP" sz="1200" dirty="0"/>
          </a:p>
        </p:txBody>
      </p:sp>
      <p:sp>
        <p:nvSpPr>
          <p:cNvPr id="14" name="Shape 11"/>
          <p:cNvSpPr/>
          <p:nvPr/>
        </p:nvSpPr>
        <p:spPr>
          <a:xfrm>
            <a:off x="777240" y="5916168"/>
            <a:ext cx="2926080" cy="0"/>
          </a:xfrm>
          <a:prstGeom prst="line">
            <a:avLst/>
          </a:prstGeom>
          <a:noFill/>
          <a:ln w="9525">
            <a:solidFill>
              <a:srgbClr val="C9C2BC"/>
            </a:solidFill>
            <a:prstDash val="solid"/>
          </a:ln>
        </p:spPr>
      </p:sp>
      <p:sp>
        <p:nvSpPr>
          <p:cNvPr id="15" name="field"/>
          <p:cNvSpPr/>
          <p:nvPr/>
        </p:nvSpPr>
        <p:spPr>
          <a:xfrm>
            <a:off x="4114800" y="1600200"/>
            <a:ext cx="3675888" cy="2176272"/>
          </a:xfrm>
          <a:prstGeom prst="rect">
            <a:avLst/>
          </a:prstGeom>
          <a:solidFill>
            <a:srgbClr val="FFFFFF"/>
          </a:solidFill>
          <a:ln w="9525">
            <a:solidFill>
              <a:srgbClr val="D9D2CC"/>
            </a:solidFill>
            <a:prstDash val="solid"/>
          </a:ln>
        </p:spPr>
      </p:sp>
      <p:sp>
        <p:nvSpPr>
          <p:cNvPr id="16" name="Text 13"/>
          <p:cNvSpPr txBox="1"/>
          <p:nvPr/>
        </p:nvSpPr>
        <p:spPr>
          <a:xfrm>
            <a:off x="4297680" y="1755648"/>
            <a:ext cx="3310128"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今、抱えている悩み・不安</a:t>
            </a:r>
            <a:endParaRPr lang="ja-JP" sz="1400" dirty="0"/>
          </a:p>
        </p:txBody>
      </p:sp>
      <p:sp>
        <p:nvSpPr>
          <p:cNvPr id="17" name="Text 14"/>
          <p:cNvSpPr txBox="1"/>
          <p:nvPr/>
        </p:nvSpPr>
        <p:spPr>
          <a:xfrm>
            <a:off x="4297680" y="2103120"/>
            <a:ext cx="3310128"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例：親の介護と財産管理が心配</a:t>
            </a:r>
            <a:endParaRPr lang="ja-JP" sz="1050" dirty="0"/>
          </a:p>
        </p:txBody>
      </p:sp>
      <p:sp>
        <p:nvSpPr>
          <p:cNvPr id="18" name="Shape 15"/>
          <p:cNvSpPr/>
          <p:nvPr/>
        </p:nvSpPr>
        <p:spPr>
          <a:xfrm>
            <a:off x="4297680" y="2852928"/>
            <a:ext cx="3310128" cy="0"/>
          </a:xfrm>
          <a:prstGeom prst="line">
            <a:avLst/>
          </a:prstGeom>
          <a:noFill/>
          <a:ln w="9525">
            <a:solidFill>
              <a:srgbClr val="D9D2CC"/>
            </a:solidFill>
            <a:prstDash val="dash"/>
          </a:ln>
        </p:spPr>
      </p:sp>
      <p:sp>
        <p:nvSpPr>
          <p:cNvPr id="19" name="Shape 16"/>
          <p:cNvSpPr/>
          <p:nvPr/>
        </p:nvSpPr>
        <p:spPr>
          <a:xfrm>
            <a:off x="4297680" y="3255264"/>
            <a:ext cx="3310128" cy="0"/>
          </a:xfrm>
          <a:prstGeom prst="line">
            <a:avLst/>
          </a:prstGeom>
          <a:noFill/>
          <a:ln w="9525">
            <a:solidFill>
              <a:srgbClr val="D9D2CC"/>
            </a:solidFill>
            <a:prstDash val="dash"/>
          </a:ln>
        </p:spPr>
      </p:sp>
      <p:sp>
        <p:nvSpPr>
          <p:cNvPr id="20" name="field"/>
          <p:cNvSpPr/>
          <p:nvPr/>
        </p:nvSpPr>
        <p:spPr>
          <a:xfrm>
            <a:off x="7973568" y="1600200"/>
            <a:ext cx="3666744" cy="2176272"/>
          </a:xfrm>
          <a:prstGeom prst="rect">
            <a:avLst/>
          </a:prstGeom>
          <a:solidFill>
            <a:srgbClr val="FFFFFF"/>
          </a:solidFill>
          <a:ln w="9525">
            <a:solidFill>
              <a:srgbClr val="D9D2CC"/>
            </a:solidFill>
            <a:prstDash val="solid"/>
          </a:ln>
        </p:spPr>
      </p:sp>
      <p:sp>
        <p:nvSpPr>
          <p:cNvPr id="21" name="Text 18"/>
          <p:cNvSpPr txBox="1"/>
          <p:nvPr/>
        </p:nvSpPr>
        <p:spPr>
          <a:xfrm>
            <a:off x="8156448" y="1755648"/>
            <a:ext cx="3300984"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心の中のつぶやき</a:t>
            </a:r>
            <a:endParaRPr lang="ja-JP" sz="1400" dirty="0"/>
          </a:p>
        </p:txBody>
      </p:sp>
      <p:sp>
        <p:nvSpPr>
          <p:cNvPr id="22" name="Text 19"/>
          <p:cNvSpPr txBox="1"/>
          <p:nvPr/>
        </p:nvSpPr>
        <p:spPr>
          <a:xfrm>
            <a:off x="8156448" y="2103120"/>
            <a:ext cx="3300984"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例：「元気なうちに、何から話せば…」</a:t>
            </a:r>
            <a:endParaRPr lang="ja-JP" sz="1050" dirty="0"/>
          </a:p>
        </p:txBody>
      </p:sp>
      <p:sp>
        <p:nvSpPr>
          <p:cNvPr id="23" name="Shape 20"/>
          <p:cNvSpPr/>
          <p:nvPr/>
        </p:nvSpPr>
        <p:spPr>
          <a:xfrm>
            <a:off x="8156448" y="2852928"/>
            <a:ext cx="3300984" cy="0"/>
          </a:xfrm>
          <a:prstGeom prst="line">
            <a:avLst/>
          </a:prstGeom>
          <a:noFill/>
          <a:ln w="9525">
            <a:solidFill>
              <a:srgbClr val="D9D2CC"/>
            </a:solidFill>
            <a:prstDash val="dash"/>
          </a:ln>
        </p:spPr>
      </p:sp>
      <p:sp>
        <p:nvSpPr>
          <p:cNvPr id="24" name="Shape 21"/>
          <p:cNvSpPr/>
          <p:nvPr/>
        </p:nvSpPr>
        <p:spPr>
          <a:xfrm>
            <a:off x="8156448" y="3255264"/>
            <a:ext cx="3300984" cy="0"/>
          </a:xfrm>
          <a:prstGeom prst="line">
            <a:avLst/>
          </a:prstGeom>
          <a:noFill/>
          <a:ln w="9525">
            <a:solidFill>
              <a:srgbClr val="D9D2CC"/>
            </a:solidFill>
            <a:prstDash val="dash"/>
          </a:ln>
        </p:spPr>
      </p:sp>
      <p:sp>
        <p:nvSpPr>
          <p:cNvPr id="25" name="field"/>
          <p:cNvSpPr/>
          <p:nvPr/>
        </p:nvSpPr>
        <p:spPr>
          <a:xfrm>
            <a:off x="4114800" y="3950208"/>
            <a:ext cx="3675888" cy="2176272"/>
          </a:xfrm>
          <a:prstGeom prst="rect">
            <a:avLst/>
          </a:prstGeom>
          <a:solidFill>
            <a:srgbClr val="FFFFFF"/>
          </a:solidFill>
          <a:ln w="9525">
            <a:solidFill>
              <a:srgbClr val="D9D2CC"/>
            </a:solidFill>
            <a:prstDash val="solid"/>
          </a:ln>
        </p:spPr>
      </p:sp>
      <p:sp>
        <p:nvSpPr>
          <p:cNvPr id="26" name="Text 23"/>
          <p:cNvSpPr txBox="1"/>
          <p:nvPr/>
        </p:nvSpPr>
        <p:spPr>
          <a:xfrm>
            <a:off x="4297680" y="4105656"/>
            <a:ext cx="3310128"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本当に望んでいる未来</a:t>
            </a:r>
            <a:endParaRPr lang="ja-JP" sz="1400" dirty="0"/>
          </a:p>
        </p:txBody>
      </p:sp>
      <p:sp>
        <p:nvSpPr>
          <p:cNvPr id="27" name="Text 24"/>
          <p:cNvSpPr txBox="1"/>
          <p:nvPr/>
        </p:nvSpPr>
        <p:spPr>
          <a:xfrm>
            <a:off x="4297680" y="4453128"/>
            <a:ext cx="3310128"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悩みが解決したら、どんな毎日になる？</a:t>
            </a:r>
            <a:endParaRPr lang="ja-JP" sz="1050" dirty="0"/>
          </a:p>
        </p:txBody>
      </p:sp>
      <p:sp>
        <p:nvSpPr>
          <p:cNvPr id="28" name="Shape 25"/>
          <p:cNvSpPr/>
          <p:nvPr/>
        </p:nvSpPr>
        <p:spPr>
          <a:xfrm>
            <a:off x="4297680" y="5202936"/>
            <a:ext cx="3310128" cy="0"/>
          </a:xfrm>
          <a:prstGeom prst="line">
            <a:avLst/>
          </a:prstGeom>
          <a:noFill/>
          <a:ln w="9525">
            <a:solidFill>
              <a:srgbClr val="D9D2CC"/>
            </a:solidFill>
            <a:prstDash val="dash"/>
          </a:ln>
        </p:spPr>
      </p:sp>
      <p:sp>
        <p:nvSpPr>
          <p:cNvPr id="29" name="Shape 26"/>
          <p:cNvSpPr/>
          <p:nvPr/>
        </p:nvSpPr>
        <p:spPr>
          <a:xfrm>
            <a:off x="4297680" y="5605272"/>
            <a:ext cx="3310128" cy="0"/>
          </a:xfrm>
          <a:prstGeom prst="line">
            <a:avLst/>
          </a:prstGeom>
          <a:noFill/>
          <a:ln w="9525">
            <a:solidFill>
              <a:srgbClr val="D9D2CC"/>
            </a:solidFill>
            <a:prstDash val="dash"/>
          </a:ln>
        </p:spPr>
      </p:sp>
      <p:sp>
        <p:nvSpPr>
          <p:cNvPr id="30" name="field"/>
          <p:cNvSpPr/>
          <p:nvPr/>
        </p:nvSpPr>
        <p:spPr>
          <a:xfrm>
            <a:off x="7973568" y="3950208"/>
            <a:ext cx="3666744" cy="2176272"/>
          </a:xfrm>
          <a:prstGeom prst="rect">
            <a:avLst/>
          </a:prstGeom>
          <a:solidFill>
            <a:srgbClr val="FFFFFF"/>
          </a:solidFill>
          <a:ln w="9525">
            <a:solidFill>
              <a:srgbClr val="D9D2CC"/>
            </a:solidFill>
            <a:prstDash val="solid"/>
          </a:ln>
        </p:spPr>
      </p:sp>
      <p:sp>
        <p:nvSpPr>
          <p:cNvPr id="31" name="Text 28"/>
          <p:cNvSpPr txBox="1"/>
          <p:nvPr/>
        </p:nvSpPr>
        <p:spPr>
          <a:xfrm>
            <a:off x="8156448" y="4105656"/>
            <a:ext cx="3300984"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今、誰に相談している？</a:t>
            </a:r>
            <a:endParaRPr lang="ja-JP" sz="1400" dirty="0"/>
          </a:p>
        </p:txBody>
      </p:sp>
      <p:sp>
        <p:nvSpPr>
          <p:cNvPr id="32" name="Text 29"/>
          <p:cNvSpPr txBox="1"/>
          <p:nvPr/>
        </p:nvSpPr>
        <p:spPr>
          <a:xfrm>
            <a:off x="8156448" y="4453128"/>
            <a:ext cx="3300984"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その人が頼っている人・場所</a:t>
            </a:r>
            <a:endParaRPr lang="ja-JP" sz="1050" dirty="0"/>
          </a:p>
        </p:txBody>
      </p:sp>
      <p:sp>
        <p:nvSpPr>
          <p:cNvPr id="33" name="Shape 30"/>
          <p:cNvSpPr/>
          <p:nvPr/>
        </p:nvSpPr>
        <p:spPr>
          <a:xfrm>
            <a:off x="8156448" y="5202936"/>
            <a:ext cx="3300984" cy="0"/>
          </a:xfrm>
          <a:prstGeom prst="line">
            <a:avLst/>
          </a:prstGeom>
          <a:noFill/>
          <a:ln w="9525">
            <a:solidFill>
              <a:srgbClr val="D9D2CC"/>
            </a:solidFill>
            <a:prstDash val="dash"/>
          </a:ln>
        </p:spPr>
      </p:sp>
      <p:sp>
        <p:nvSpPr>
          <p:cNvPr id="34" name="Shape 31"/>
          <p:cNvSpPr/>
          <p:nvPr/>
        </p:nvSpPr>
        <p:spPr>
          <a:xfrm>
            <a:off x="8156448" y="5605272"/>
            <a:ext cx="3300984" cy="0"/>
          </a:xfrm>
          <a:prstGeom prst="line">
            <a:avLst/>
          </a:prstGeom>
          <a:noFill/>
          <a:ln w="9525">
            <a:solidFill>
              <a:srgbClr val="D9D2CC"/>
            </a:solidFill>
            <a:prstDash val="dash"/>
          </a:ln>
        </p:spPr>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6858000" cy="274320"/>
          </a:xfrm>
          <a:prstGeom prst="rect">
            <a:avLst/>
          </a:prstGeom>
          <a:noFill/>
          <a:ln/>
        </p:spPr>
        <p:txBody>
          <a:bodyPr wrap="square" lIns="0" tIns="0" rIns="0" bIns="0" rtlCol="0" anchor="ctr"/>
          <a:lstStyle/>
          <a:p>
            <a:pPr indent="0" marL="0">
              <a:buNone/>
            </a:pPr>
            <a:r>
              <a:rPr lang="en-US" sz="1100" b="1" spc="200" kern="0" dirty="0">
                <a:solidFill>
                  <a:srgbClr val="B8432F"/>
                </a:solidFill>
                <a:latin typeface="Hiragino Kaku Gothic ProN" pitchFamily="34" charset="0"/>
                <a:ea typeface="Hiragino Kaku Gothic ProN" pitchFamily="34" charset="-128"/>
                <a:cs typeface="Hiragino Kaku Gothic ProN" pitchFamily="34" charset="-120"/>
              </a:rPr>
              <a:t>WORKSHEET 04 ｜ MARKETING</a:t>
            </a:r>
            <a:endParaRPr lang="en-US" sz="1100" dirty="0"/>
          </a:p>
        </p:txBody>
      </p:sp>
      <p:sp>
        <p:nvSpPr>
          <p:cNvPr id="3" name="Text 0"/>
          <p:cNvSpPr/>
          <p:nvPr>
            <p:ph idx="101" type="title" hasCustomPrompt="1"/>
          </p:nvPr>
        </p:nvSpPr>
        <p:spPr>
          <a:xfrm>
            <a:off x="548640" y="658368"/>
            <a:ext cx="7680960" cy="731520"/>
          </a:xfrm>
          <a:prstGeom prst="rect">
            <a:avLst/>
          </a:prstGeom>
          <a:noFill/>
          <a:ln/>
        </p:spPr>
        <p:txBody>
          <a:bodyPr wrap="square" lIns="0" tIns="0" rIns="0" bIns="0" rtlCol="0" anchor="ctr"/>
          <a:lstStyle/>
          <a:p>
            <a:pPr algn="l" indent="0" marL="0">
              <a:buNone/>
            </a:pPr>
            <a:r>
              <a:rPr lang="en-US" sz="3000" dirty="0">
                <a:solidFill>
                  <a:srgbClr val="1C1A1A"/>
                </a:solidFill>
                <a:latin typeface="Hiragino Mincho ProN" pitchFamily="34" charset="0"/>
                <a:ea typeface="Hiragino Mincho ProN" pitchFamily="34" charset="-128"/>
                <a:cs typeface="Hiragino Mincho ProN" pitchFamily="34" charset="-120"/>
              </a:rPr>
              <a:t>出会いの導線を設計する</a:t>
            </a:r>
            <a:endParaRPr lang="en-US" sz="3000" dirty="0"/>
          </a:p>
        </p:txBody>
      </p:sp>
      <p:sp>
        <p:nvSpPr>
          <p:cNvPr id="4" name="field"/>
          <p:cNvSpPr/>
          <p:nvPr/>
        </p:nvSpPr>
        <p:spPr>
          <a:xfrm>
            <a:off x="548640" y="1600200"/>
            <a:ext cx="3456432" cy="2331720"/>
          </a:xfrm>
          <a:prstGeom prst="rect">
            <a:avLst/>
          </a:prstGeom>
          <a:solidFill>
            <a:srgbClr val="FFFFFF"/>
          </a:solidFill>
          <a:ln w="9525">
            <a:solidFill>
              <a:srgbClr val="D9D2CC"/>
            </a:solidFill>
            <a:prstDash val="solid"/>
          </a:ln>
        </p:spPr>
      </p:sp>
      <p:sp>
        <p:nvSpPr>
          <p:cNvPr id="5" name="Shape 3"/>
          <p:cNvSpPr/>
          <p:nvPr/>
        </p:nvSpPr>
        <p:spPr>
          <a:xfrm>
            <a:off x="731520" y="1764792"/>
            <a:ext cx="292608" cy="292608"/>
          </a:xfrm>
          <a:prstGeom prst="ellipse">
            <a:avLst/>
          </a:prstGeom>
          <a:solidFill>
            <a:srgbClr val="B8432F"/>
          </a:solidFill>
          <a:ln/>
        </p:spPr>
      </p:sp>
      <p:sp>
        <p:nvSpPr>
          <p:cNvPr id="6" name="Text 4"/>
          <p:cNvSpPr txBox="1"/>
          <p:nvPr/>
        </p:nvSpPr>
        <p:spPr>
          <a:xfrm>
            <a:off x="731520" y="1764792"/>
            <a:ext cx="292608" cy="292608"/>
          </a:xfrm>
          <a:prstGeom prst="rect">
            <a:avLst/>
          </a:prstGeom>
          <a:noFill/>
          <a:ln/>
        </p:spPr>
        <p:txBody>
          <a:bodyPr wrap="square" lIns="0" tIns="0" rIns="0" bIns="0" rtlCol="0" anchor="ctr"/>
          <a:lstStyle/>
          <a:p>
            <a:pPr algn="ctr" indent="0" marL="0">
              <a:buNone/>
            </a:pPr>
            <a:r>
              <a:rPr lang="ja-JP" altLang="en-US" sz="1100" b="1" dirty="0">
                <a:solidFill>
                  <a:srgbClr val="FFFFFF"/>
                </a:solidFill>
                <a:latin typeface="Hiragino Kaku Gothic ProN" pitchFamily="34" charset="0"/>
                <a:ea typeface="Hiragino Kaku Gothic ProN" pitchFamily="34" charset="-128"/>
                <a:cs typeface="Hiragino Kaku Gothic ProN" pitchFamily="34" charset="-120"/>
              </a:rPr>
              <a:t>1</a:t>
            </a:r>
            <a:endParaRPr lang="ja-JP" sz="1100" dirty="0"/>
          </a:p>
        </p:txBody>
      </p:sp>
      <p:sp>
        <p:nvSpPr>
          <p:cNvPr id="7" name="Text 5"/>
          <p:cNvSpPr txBox="1"/>
          <p:nvPr/>
        </p:nvSpPr>
        <p:spPr>
          <a:xfrm>
            <a:off x="1115568" y="1755648"/>
            <a:ext cx="2706624"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知ってもらう</a:t>
            </a:r>
            <a:endParaRPr lang="ja-JP" sz="1400" dirty="0"/>
          </a:p>
        </p:txBody>
      </p:sp>
      <p:sp>
        <p:nvSpPr>
          <p:cNvPr id="8" name="Text 6"/>
          <p:cNvSpPr txBox="1"/>
          <p:nvPr/>
        </p:nvSpPr>
        <p:spPr>
          <a:xfrm>
            <a:off x="731520" y="2103120"/>
            <a:ext cx="3090672"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その人と出会う場所・きっかけ</a:t>
            </a:r>
            <a:endParaRPr lang="ja-JP" sz="1050" dirty="0"/>
          </a:p>
        </p:txBody>
      </p:sp>
      <p:sp>
        <p:nvSpPr>
          <p:cNvPr id="9" name="Shape 7"/>
          <p:cNvSpPr/>
          <p:nvPr/>
        </p:nvSpPr>
        <p:spPr>
          <a:xfrm>
            <a:off x="731520" y="2852928"/>
            <a:ext cx="3090672" cy="0"/>
          </a:xfrm>
          <a:prstGeom prst="line">
            <a:avLst/>
          </a:prstGeom>
          <a:noFill/>
          <a:ln w="9525">
            <a:solidFill>
              <a:srgbClr val="D9D2CC"/>
            </a:solidFill>
            <a:prstDash val="dash"/>
          </a:ln>
        </p:spPr>
      </p:sp>
      <p:sp>
        <p:nvSpPr>
          <p:cNvPr id="10" name="Shape 8"/>
          <p:cNvSpPr/>
          <p:nvPr/>
        </p:nvSpPr>
        <p:spPr>
          <a:xfrm>
            <a:off x="731520" y="3255264"/>
            <a:ext cx="3090672" cy="0"/>
          </a:xfrm>
          <a:prstGeom prst="line">
            <a:avLst/>
          </a:prstGeom>
          <a:noFill/>
          <a:ln w="9525">
            <a:solidFill>
              <a:srgbClr val="D9D2CC"/>
            </a:solidFill>
            <a:prstDash val="dash"/>
          </a:ln>
        </p:spPr>
      </p:sp>
      <p:sp>
        <p:nvSpPr>
          <p:cNvPr id="11" name="Shape 9"/>
          <p:cNvSpPr/>
          <p:nvPr/>
        </p:nvSpPr>
        <p:spPr>
          <a:xfrm>
            <a:off x="731520" y="3657600"/>
            <a:ext cx="3090672" cy="0"/>
          </a:xfrm>
          <a:prstGeom prst="line">
            <a:avLst/>
          </a:prstGeom>
          <a:noFill/>
          <a:ln w="9525">
            <a:solidFill>
              <a:srgbClr val="D9D2CC"/>
            </a:solidFill>
            <a:prstDash val="dash"/>
          </a:ln>
        </p:spPr>
      </p:sp>
      <p:pic>
        <p:nvPicPr>
          <p:cNvPr id="12" name="Image 0" descr="preencoded.png">    </p:cNvPr>
          <p:cNvPicPr>
            <a:picLocks noChangeAspect="1"/>
          </p:cNvPicPr>
          <p:nvPr/>
        </p:nvPicPr>
        <p:blipFill>
          <a:blip r:embed="rId1"/>
          <a:stretch>
            <a:fillRect/>
          </a:stretch>
        </p:blipFill>
        <p:spPr>
          <a:xfrm>
            <a:off x="4041648" y="2606040"/>
            <a:ext cx="292608" cy="292608"/>
          </a:xfrm>
          <a:prstGeom prst="rect">
            <a:avLst/>
          </a:prstGeom>
        </p:spPr>
      </p:pic>
      <p:sp>
        <p:nvSpPr>
          <p:cNvPr id="13" name="field"/>
          <p:cNvSpPr/>
          <p:nvPr/>
        </p:nvSpPr>
        <p:spPr>
          <a:xfrm>
            <a:off x="4370832" y="1600200"/>
            <a:ext cx="3456432" cy="2331720"/>
          </a:xfrm>
          <a:prstGeom prst="rect">
            <a:avLst/>
          </a:prstGeom>
          <a:solidFill>
            <a:srgbClr val="FFFFFF"/>
          </a:solidFill>
          <a:ln w="9525">
            <a:solidFill>
              <a:srgbClr val="D9D2CC"/>
            </a:solidFill>
            <a:prstDash val="solid"/>
          </a:ln>
        </p:spPr>
      </p:sp>
      <p:sp>
        <p:nvSpPr>
          <p:cNvPr id="14" name="Shape 11"/>
          <p:cNvSpPr/>
          <p:nvPr/>
        </p:nvSpPr>
        <p:spPr>
          <a:xfrm>
            <a:off x="4553712" y="1764792"/>
            <a:ext cx="292608" cy="292608"/>
          </a:xfrm>
          <a:prstGeom prst="ellipse">
            <a:avLst/>
          </a:prstGeom>
          <a:solidFill>
            <a:srgbClr val="B8432F"/>
          </a:solidFill>
          <a:ln/>
        </p:spPr>
      </p:sp>
      <p:sp>
        <p:nvSpPr>
          <p:cNvPr id="15" name="Text 12"/>
          <p:cNvSpPr txBox="1"/>
          <p:nvPr/>
        </p:nvSpPr>
        <p:spPr>
          <a:xfrm>
            <a:off x="4553712" y="1764792"/>
            <a:ext cx="292608" cy="292608"/>
          </a:xfrm>
          <a:prstGeom prst="rect">
            <a:avLst/>
          </a:prstGeom>
          <a:noFill/>
          <a:ln/>
        </p:spPr>
        <p:txBody>
          <a:bodyPr wrap="square" lIns="0" tIns="0" rIns="0" bIns="0" rtlCol="0" anchor="ctr"/>
          <a:lstStyle/>
          <a:p>
            <a:pPr algn="ctr" indent="0" marL="0">
              <a:buNone/>
            </a:pPr>
            <a:r>
              <a:rPr lang="ja-JP" altLang="en-US" sz="1100" b="1" dirty="0">
                <a:solidFill>
                  <a:srgbClr val="FFFFFF"/>
                </a:solidFill>
                <a:latin typeface="Hiragino Kaku Gothic ProN" pitchFamily="34" charset="0"/>
                <a:ea typeface="Hiragino Kaku Gothic ProN" pitchFamily="34" charset="-128"/>
                <a:cs typeface="Hiragino Kaku Gothic ProN" pitchFamily="34" charset="-120"/>
              </a:rPr>
              <a:t>2</a:t>
            </a:r>
            <a:endParaRPr lang="ja-JP" sz="1100" dirty="0"/>
          </a:p>
        </p:txBody>
      </p:sp>
      <p:sp>
        <p:nvSpPr>
          <p:cNvPr id="16" name="Text 13"/>
          <p:cNvSpPr txBox="1"/>
          <p:nvPr/>
        </p:nvSpPr>
        <p:spPr>
          <a:xfrm>
            <a:off x="4937760" y="1755648"/>
            <a:ext cx="2706624"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共感してもらう</a:t>
            </a:r>
            <a:endParaRPr lang="ja-JP" sz="1400" dirty="0"/>
          </a:p>
        </p:txBody>
      </p:sp>
      <p:sp>
        <p:nvSpPr>
          <p:cNvPr id="17" name="Text 14"/>
          <p:cNvSpPr txBox="1"/>
          <p:nvPr/>
        </p:nvSpPr>
        <p:spPr>
          <a:xfrm>
            <a:off x="4553712" y="2103120"/>
            <a:ext cx="3090672"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使命を伝える手段（メルマガ・SNS・セミナー）</a:t>
            </a:r>
            <a:endParaRPr lang="ja-JP" sz="1050" dirty="0"/>
          </a:p>
        </p:txBody>
      </p:sp>
      <p:sp>
        <p:nvSpPr>
          <p:cNvPr id="18" name="Shape 15"/>
          <p:cNvSpPr/>
          <p:nvPr/>
        </p:nvSpPr>
        <p:spPr>
          <a:xfrm>
            <a:off x="4553712" y="2852928"/>
            <a:ext cx="3090672" cy="0"/>
          </a:xfrm>
          <a:prstGeom prst="line">
            <a:avLst/>
          </a:prstGeom>
          <a:noFill/>
          <a:ln w="9525">
            <a:solidFill>
              <a:srgbClr val="D9D2CC"/>
            </a:solidFill>
            <a:prstDash val="dash"/>
          </a:ln>
        </p:spPr>
      </p:sp>
      <p:sp>
        <p:nvSpPr>
          <p:cNvPr id="19" name="Shape 16"/>
          <p:cNvSpPr/>
          <p:nvPr/>
        </p:nvSpPr>
        <p:spPr>
          <a:xfrm>
            <a:off x="4553712" y="3255264"/>
            <a:ext cx="3090672" cy="0"/>
          </a:xfrm>
          <a:prstGeom prst="line">
            <a:avLst/>
          </a:prstGeom>
          <a:noFill/>
          <a:ln w="9525">
            <a:solidFill>
              <a:srgbClr val="D9D2CC"/>
            </a:solidFill>
            <a:prstDash val="dash"/>
          </a:ln>
        </p:spPr>
      </p:sp>
      <p:sp>
        <p:nvSpPr>
          <p:cNvPr id="20" name="Shape 17"/>
          <p:cNvSpPr/>
          <p:nvPr/>
        </p:nvSpPr>
        <p:spPr>
          <a:xfrm>
            <a:off x="4553712" y="3657600"/>
            <a:ext cx="3090672" cy="0"/>
          </a:xfrm>
          <a:prstGeom prst="line">
            <a:avLst/>
          </a:prstGeom>
          <a:noFill/>
          <a:ln w="9525">
            <a:solidFill>
              <a:srgbClr val="D9D2CC"/>
            </a:solidFill>
            <a:prstDash val="dash"/>
          </a:ln>
        </p:spPr>
      </p:sp>
      <p:pic>
        <p:nvPicPr>
          <p:cNvPr id="21" name="Image 1" descr="preencoded.png">    </p:cNvPr>
          <p:cNvPicPr>
            <a:picLocks noChangeAspect="1"/>
          </p:cNvPicPr>
          <p:nvPr/>
        </p:nvPicPr>
        <p:blipFill>
          <a:blip r:embed="rId2"/>
          <a:stretch>
            <a:fillRect/>
          </a:stretch>
        </p:blipFill>
        <p:spPr>
          <a:xfrm>
            <a:off x="7863840" y="2606040"/>
            <a:ext cx="292608" cy="292608"/>
          </a:xfrm>
          <a:prstGeom prst="rect">
            <a:avLst/>
          </a:prstGeom>
        </p:spPr>
      </p:pic>
      <p:sp>
        <p:nvSpPr>
          <p:cNvPr id="22" name="field"/>
          <p:cNvSpPr/>
          <p:nvPr/>
        </p:nvSpPr>
        <p:spPr>
          <a:xfrm>
            <a:off x="8193024" y="1600200"/>
            <a:ext cx="3456432" cy="2331720"/>
          </a:xfrm>
          <a:prstGeom prst="rect">
            <a:avLst/>
          </a:prstGeom>
          <a:solidFill>
            <a:srgbClr val="FBEDEA"/>
          </a:solidFill>
          <a:ln w="9525">
            <a:solidFill>
              <a:srgbClr val="EBCFC8"/>
            </a:solidFill>
            <a:prstDash val="solid"/>
          </a:ln>
        </p:spPr>
      </p:sp>
      <p:sp>
        <p:nvSpPr>
          <p:cNvPr id="23" name="Shape 19"/>
          <p:cNvSpPr/>
          <p:nvPr/>
        </p:nvSpPr>
        <p:spPr>
          <a:xfrm>
            <a:off x="8375904" y="1764792"/>
            <a:ext cx="292608" cy="292608"/>
          </a:xfrm>
          <a:prstGeom prst="ellipse">
            <a:avLst/>
          </a:prstGeom>
          <a:solidFill>
            <a:srgbClr val="B8432F"/>
          </a:solidFill>
          <a:ln/>
        </p:spPr>
      </p:sp>
      <p:sp>
        <p:nvSpPr>
          <p:cNvPr id="24" name="Text 20"/>
          <p:cNvSpPr txBox="1"/>
          <p:nvPr/>
        </p:nvSpPr>
        <p:spPr>
          <a:xfrm>
            <a:off x="8375904" y="1764792"/>
            <a:ext cx="292608" cy="292608"/>
          </a:xfrm>
          <a:prstGeom prst="rect">
            <a:avLst/>
          </a:prstGeom>
          <a:noFill/>
          <a:ln/>
        </p:spPr>
        <p:txBody>
          <a:bodyPr wrap="square" lIns="0" tIns="0" rIns="0" bIns="0" rtlCol="0" anchor="ctr"/>
          <a:lstStyle/>
          <a:p>
            <a:pPr algn="ctr" indent="0" marL="0">
              <a:buNone/>
            </a:pPr>
            <a:r>
              <a:rPr lang="ja-JP" altLang="en-US" sz="1100" b="1" dirty="0">
                <a:solidFill>
                  <a:srgbClr val="FFFFFF"/>
                </a:solidFill>
                <a:latin typeface="Hiragino Kaku Gothic ProN" pitchFamily="34" charset="0"/>
                <a:ea typeface="Hiragino Kaku Gothic ProN" pitchFamily="34" charset="-128"/>
                <a:cs typeface="Hiragino Kaku Gothic ProN" pitchFamily="34" charset="-120"/>
              </a:rPr>
              <a:t>3</a:t>
            </a:r>
            <a:endParaRPr lang="ja-JP" sz="1100" dirty="0"/>
          </a:p>
        </p:txBody>
      </p:sp>
      <p:sp>
        <p:nvSpPr>
          <p:cNvPr id="25" name="Text 21"/>
          <p:cNvSpPr txBox="1"/>
          <p:nvPr/>
        </p:nvSpPr>
        <p:spPr>
          <a:xfrm>
            <a:off x="8759952" y="1755648"/>
            <a:ext cx="2706624"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相談してもらう</a:t>
            </a:r>
            <a:endParaRPr lang="ja-JP" sz="1400" dirty="0"/>
          </a:p>
        </p:txBody>
      </p:sp>
      <p:sp>
        <p:nvSpPr>
          <p:cNvPr id="26" name="Text 22"/>
          <p:cNvSpPr txBox="1"/>
          <p:nvPr/>
        </p:nvSpPr>
        <p:spPr>
          <a:xfrm>
            <a:off x="8375904" y="2103120"/>
            <a:ext cx="3090672"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安心して相談できる入口（面談・紹介）</a:t>
            </a:r>
            <a:endParaRPr lang="ja-JP" sz="1050" dirty="0"/>
          </a:p>
        </p:txBody>
      </p:sp>
      <p:sp>
        <p:nvSpPr>
          <p:cNvPr id="27" name="Shape 23"/>
          <p:cNvSpPr/>
          <p:nvPr/>
        </p:nvSpPr>
        <p:spPr>
          <a:xfrm>
            <a:off x="8375904" y="2852928"/>
            <a:ext cx="3090672" cy="0"/>
          </a:xfrm>
          <a:prstGeom prst="line">
            <a:avLst/>
          </a:prstGeom>
          <a:noFill/>
          <a:ln w="9525">
            <a:solidFill>
              <a:srgbClr val="D9D2CC"/>
            </a:solidFill>
            <a:prstDash val="dash"/>
          </a:ln>
        </p:spPr>
      </p:sp>
      <p:sp>
        <p:nvSpPr>
          <p:cNvPr id="28" name="Shape 24"/>
          <p:cNvSpPr/>
          <p:nvPr/>
        </p:nvSpPr>
        <p:spPr>
          <a:xfrm>
            <a:off x="8375904" y="3255264"/>
            <a:ext cx="3090672" cy="0"/>
          </a:xfrm>
          <a:prstGeom prst="line">
            <a:avLst/>
          </a:prstGeom>
          <a:noFill/>
          <a:ln w="9525">
            <a:solidFill>
              <a:srgbClr val="D9D2CC"/>
            </a:solidFill>
            <a:prstDash val="dash"/>
          </a:ln>
        </p:spPr>
      </p:sp>
      <p:sp>
        <p:nvSpPr>
          <p:cNvPr id="29" name="Shape 25"/>
          <p:cNvSpPr/>
          <p:nvPr/>
        </p:nvSpPr>
        <p:spPr>
          <a:xfrm>
            <a:off x="8375904" y="3657600"/>
            <a:ext cx="3090672" cy="0"/>
          </a:xfrm>
          <a:prstGeom prst="line">
            <a:avLst/>
          </a:prstGeom>
          <a:noFill/>
          <a:ln w="9525">
            <a:solidFill>
              <a:srgbClr val="D9D2CC"/>
            </a:solidFill>
            <a:prstDash val="dash"/>
          </a:ln>
        </p:spPr>
      </p:sp>
      <p:sp>
        <p:nvSpPr>
          <p:cNvPr id="30" name="field"/>
          <p:cNvSpPr/>
          <p:nvPr/>
        </p:nvSpPr>
        <p:spPr>
          <a:xfrm>
            <a:off x="548640" y="4114800"/>
            <a:ext cx="11091672" cy="2011680"/>
          </a:xfrm>
          <a:prstGeom prst="rect">
            <a:avLst/>
          </a:prstGeom>
          <a:solidFill>
            <a:srgbClr val="FFFFFF"/>
          </a:solidFill>
          <a:ln w="9525">
            <a:solidFill>
              <a:srgbClr val="D9D2CC"/>
            </a:solidFill>
            <a:prstDash val="solid"/>
          </a:ln>
        </p:spPr>
      </p:sp>
      <p:sp>
        <p:nvSpPr>
          <p:cNvPr id="31" name="Text 27"/>
          <p:cNvSpPr txBox="1"/>
          <p:nvPr/>
        </p:nvSpPr>
        <p:spPr>
          <a:xfrm>
            <a:off x="731520" y="4270248"/>
            <a:ext cx="10725912" cy="329184"/>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その人と、すでに接点を持っている人（紹介者）</a:t>
            </a:r>
            <a:endParaRPr lang="ja-JP" sz="1400" dirty="0"/>
          </a:p>
        </p:txBody>
      </p:sp>
      <p:sp>
        <p:nvSpPr>
          <p:cNvPr id="32" name="Text 28"/>
          <p:cNvSpPr txBox="1"/>
          <p:nvPr/>
        </p:nvSpPr>
        <p:spPr>
          <a:xfrm>
            <a:off x="731520" y="4617720"/>
            <a:ext cx="10725912" cy="274320"/>
          </a:xfrm>
          <a:prstGeom prst="rect">
            <a:avLst/>
          </a:prstGeom>
          <a:noFill/>
          <a:ln/>
        </p:spPr>
        <p:txBody>
          <a:bodyPr wrap="square" lIns="0" tIns="0" rIns="0" bIns="0" rtlCol="0" anchor="t"/>
          <a:lstStyle/>
          <a:p>
            <a:pP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例：税理士、介護事業者、金融機関、地域の経営者仲間</a:t>
            </a:r>
            <a:endParaRPr lang="ja-JP" sz="1050" dirty="0"/>
          </a:p>
        </p:txBody>
      </p:sp>
      <p:sp>
        <p:nvSpPr>
          <p:cNvPr id="33" name="Text 29"/>
          <p:cNvSpPr txBox="1"/>
          <p:nvPr/>
        </p:nvSpPr>
        <p:spPr>
          <a:xfrm>
            <a:off x="731520" y="5120640"/>
            <a:ext cx="365760" cy="320040"/>
          </a:xfrm>
          <a:prstGeom prst="rect">
            <a:avLst/>
          </a:prstGeom>
          <a:noFill/>
          <a:ln/>
        </p:spPr>
        <p:txBody>
          <a:bodyPr wrap="square" lIns="0" tIns="0" rIns="0" bIns="0" rtlCol="0" anchor="t"/>
          <a:lstStyle/>
          <a:p>
            <a:pPr indent="0" marL="0">
              <a:buNone/>
            </a:pPr>
            <a:r>
              <a:rPr lang="ja-JP" altLang="en-US" sz="1500" dirty="0">
                <a:solidFill>
                  <a:srgbClr val="B8432F"/>
                </a:solidFill>
                <a:latin typeface="Hiragino Mincho ProN" pitchFamily="34" charset="0"/>
                <a:ea typeface="Hiragino Mincho ProN" pitchFamily="34" charset="-128"/>
                <a:cs typeface="Hiragino Mincho ProN" pitchFamily="34" charset="-120"/>
              </a:rPr>
              <a:t>①</a:t>
            </a:r>
            <a:endParaRPr lang="ja-JP" sz="1500" dirty="0"/>
          </a:p>
        </p:txBody>
      </p:sp>
      <p:sp>
        <p:nvSpPr>
          <p:cNvPr id="34" name="Shape 30"/>
          <p:cNvSpPr/>
          <p:nvPr/>
        </p:nvSpPr>
        <p:spPr>
          <a:xfrm>
            <a:off x="1097280" y="5440680"/>
            <a:ext cx="3017520" cy="0"/>
          </a:xfrm>
          <a:prstGeom prst="line">
            <a:avLst/>
          </a:prstGeom>
          <a:noFill/>
          <a:ln w="9525">
            <a:solidFill>
              <a:srgbClr val="D9D2CC"/>
            </a:solidFill>
            <a:prstDash val="dash"/>
          </a:ln>
        </p:spPr>
      </p:sp>
      <p:sp>
        <p:nvSpPr>
          <p:cNvPr id="35" name="Shape 31"/>
          <p:cNvSpPr/>
          <p:nvPr/>
        </p:nvSpPr>
        <p:spPr>
          <a:xfrm>
            <a:off x="1097280" y="5852160"/>
            <a:ext cx="3017520" cy="0"/>
          </a:xfrm>
          <a:prstGeom prst="line">
            <a:avLst/>
          </a:prstGeom>
          <a:noFill/>
          <a:ln w="9525">
            <a:solidFill>
              <a:srgbClr val="D9D2CC"/>
            </a:solidFill>
            <a:prstDash val="dash"/>
          </a:ln>
        </p:spPr>
      </p:sp>
      <p:sp>
        <p:nvSpPr>
          <p:cNvPr id="36" name="Text 32"/>
          <p:cNvSpPr txBox="1"/>
          <p:nvPr/>
        </p:nvSpPr>
        <p:spPr>
          <a:xfrm>
            <a:off x="4389120" y="5120640"/>
            <a:ext cx="365760" cy="320040"/>
          </a:xfrm>
          <a:prstGeom prst="rect">
            <a:avLst/>
          </a:prstGeom>
          <a:noFill/>
          <a:ln/>
        </p:spPr>
        <p:txBody>
          <a:bodyPr wrap="square" lIns="0" tIns="0" rIns="0" bIns="0" rtlCol="0" anchor="t"/>
          <a:lstStyle/>
          <a:p>
            <a:pPr indent="0" marL="0">
              <a:buNone/>
            </a:pPr>
            <a:r>
              <a:rPr lang="ja-JP" altLang="en-US" sz="1500" dirty="0">
                <a:solidFill>
                  <a:srgbClr val="B8432F"/>
                </a:solidFill>
                <a:latin typeface="Hiragino Mincho ProN" pitchFamily="34" charset="0"/>
                <a:ea typeface="Hiragino Mincho ProN" pitchFamily="34" charset="-128"/>
                <a:cs typeface="Hiragino Mincho ProN" pitchFamily="34" charset="-120"/>
              </a:rPr>
              <a:t>②</a:t>
            </a:r>
            <a:endParaRPr lang="ja-JP" sz="1500" dirty="0"/>
          </a:p>
        </p:txBody>
      </p:sp>
      <p:sp>
        <p:nvSpPr>
          <p:cNvPr id="37" name="Shape 33"/>
          <p:cNvSpPr/>
          <p:nvPr/>
        </p:nvSpPr>
        <p:spPr>
          <a:xfrm>
            <a:off x="4754880" y="5440680"/>
            <a:ext cx="3017520" cy="0"/>
          </a:xfrm>
          <a:prstGeom prst="line">
            <a:avLst/>
          </a:prstGeom>
          <a:noFill/>
          <a:ln w="9525">
            <a:solidFill>
              <a:srgbClr val="D9D2CC"/>
            </a:solidFill>
            <a:prstDash val="dash"/>
          </a:ln>
        </p:spPr>
      </p:sp>
      <p:sp>
        <p:nvSpPr>
          <p:cNvPr id="38" name="Shape 34"/>
          <p:cNvSpPr/>
          <p:nvPr/>
        </p:nvSpPr>
        <p:spPr>
          <a:xfrm>
            <a:off x="4754880" y="5852160"/>
            <a:ext cx="3017520" cy="0"/>
          </a:xfrm>
          <a:prstGeom prst="line">
            <a:avLst/>
          </a:prstGeom>
          <a:noFill/>
          <a:ln w="9525">
            <a:solidFill>
              <a:srgbClr val="D9D2CC"/>
            </a:solidFill>
            <a:prstDash val="dash"/>
          </a:ln>
        </p:spPr>
      </p:sp>
      <p:sp>
        <p:nvSpPr>
          <p:cNvPr id="39" name="Text 35"/>
          <p:cNvSpPr txBox="1"/>
          <p:nvPr/>
        </p:nvSpPr>
        <p:spPr>
          <a:xfrm>
            <a:off x="8046720" y="5120640"/>
            <a:ext cx="365760" cy="320040"/>
          </a:xfrm>
          <a:prstGeom prst="rect">
            <a:avLst/>
          </a:prstGeom>
          <a:noFill/>
          <a:ln/>
        </p:spPr>
        <p:txBody>
          <a:bodyPr wrap="square" lIns="0" tIns="0" rIns="0" bIns="0" rtlCol="0" anchor="t"/>
          <a:lstStyle/>
          <a:p>
            <a:pPr indent="0" marL="0">
              <a:buNone/>
            </a:pPr>
            <a:r>
              <a:rPr lang="ja-JP" altLang="en-US" sz="1500" dirty="0">
                <a:solidFill>
                  <a:srgbClr val="B8432F"/>
                </a:solidFill>
                <a:latin typeface="Hiragino Mincho ProN" pitchFamily="34" charset="0"/>
                <a:ea typeface="Hiragino Mincho ProN" pitchFamily="34" charset="-128"/>
                <a:cs typeface="Hiragino Mincho ProN" pitchFamily="34" charset="-120"/>
              </a:rPr>
              <a:t>③</a:t>
            </a:r>
            <a:endParaRPr lang="ja-JP" sz="1500" dirty="0"/>
          </a:p>
        </p:txBody>
      </p:sp>
      <p:sp>
        <p:nvSpPr>
          <p:cNvPr id="40" name="Shape 36"/>
          <p:cNvSpPr/>
          <p:nvPr/>
        </p:nvSpPr>
        <p:spPr>
          <a:xfrm>
            <a:off x="8412480" y="5440680"/>
            <a:ext cx="3017520" cy="0"/>
          </a:xfrm>
          <a:prstGeom prst="line">
            <a:avLst/>
          </a:prstGeom>
          <a:noFill/>
          <a:ln w="9525">
            <a:solidFill>
              <a:srgbClr val="D9D2CC"/>
            </a:solidFill>
            <a:prstDash val="dash"/>
          </a:ln>
        </p:spPr>
      </p:sp>
      <p:sp>
        <p:nvSpPr>
          <p:cNvPr id="41" name="Shape 37"/>
          <p:cNvSpPr/>
          <p:nvPr/>
        </p:nvSpPr>
        <p:spPr>
          <a:xfrm>
            <a:off x="8412480" y="5852160"/>
            <a:ext cx="3017520" cy="0"/>
          </a:xfrm>
          <a:prstGeom prst="line">
            <a:avLst/>
          </a:prstGeom>
          <a:noFill/>
          <a:ln w="9525">
            <a:solidFill>
              <a:srgbClr val="D9D2CC"/>
            </a:solidFill>
            <a:prstDash val="dash"/>
          </a:ln>
        </p:spPr>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森の小道">    </p:cNvPr>
          <p:cNvPicPr>
            <a:picLocks noChangeAspect="1"/>
          </p:cNvPicPr>
          <p:nvPr/>
        </p:nvPicPr>
        <p:blipFill>
          <a:blip r:embed="rId1"/>
          <a:stretch>
            <a:fillRect/>
          </a:stretch>
        </p:blipFill>
        <p:spPr>
          <a:xfrm>
            <a:off x="0" y="0"/>
            <a:ext cx="4480560" cy="6858000"/>
          </a:xfrm>
          <a:prstGeom prst="rect">
            <a:avLst/>
          </a:prstGeom>
        </p:spPr>
      </p:pic>
      <p:sp>
        <p:nvSpPr>
          <p:cNvPr id="3" name="enso"/>
          <p:cNvSpPr/>
          <p:nvPr/>
        </p:nvSpPr>
        <p:spPr>
          <a:xfrm>
            <a:off x="5120640" y="621792"/>
            <a:ext cx="146304" cy="146304"/>
          </a:xfrm>
          <a:prstGeom prst="ellipse">
            <a:avLst/>
          </a:prstGeom>
          <a:ln w="19050">
            <a:solidFill>
              <a:srgbClr val="B8432F"/>
            </a:solidFill>
            <a:prstDash val="solid"/>
          </a:ln>
        </p:spPr>
      </p:sp>
      <p:sp>
        <p:nvSpPr>
          <p:cNvPr id="4" name="Text 1"/>
          <p:cNvSpPr txBox="1"/>
          <p:nvPr/>
        </p:nvSpPr>
        <p:spPr>
          <a:xfrm>
            <a:off x="5349240" y="548640"/>
            <a:ext cx="3657600" cy="274320"/>
          </a:xfrm>
          <a:prstGeom prst="rect">
            <a:avLst/>
          </a:prstGeom>
          <a:noFill/>
          <a:ln/>
        </p:spPr>
        <p:txBody>
          <a:bodyPr wrap="square" lIns="0" tIns="0" rIns="0" bIns="0" rtlCol="0" anchor="ctr"/>
          <a:lstStyle/>
          <a:p>
            <a:pPr indent="0" marL="0">
              <a:buNone/>
            </a:pPr>
            <a:r>
              <a:rPr lang="ja-JP" altLang="en-US" sz="1100" b="1" spc="200" kern="0" dirty="0">
                <a:solidFill>
                  <a:srgbClr val="B8432F"/>
                </a:solidFill>
                <a:latin typeface="Hiragino Kaku Gothic ProN" pitchFamily="34" charset="0"/>
                <a:ea typeface="Hiragino Kaku Gothic ProN" pitchFamily="34" charset="-128"/>
                <a:cs typeface="Hiragino Kaku Gothic ProN" pitchFamily="34" charset="-120"/>
              </a:rPr>
              <a:t>THE CORE</a:t>
            </a:r>
            <a:endParaRPr lang="ja-JP" sz="1100" dirty="0"/>
          </a:p>
        </p:txBody>
      </p:sp>
      <p:sp>
        <p:nvSpPr>
          <p:cNvPr id="5" name="Text 2"/>
          <p:cNvSpPr txBox="1"/>
          <p:nvPr/>
        </p:nvSpPr>
        <p:spPr>
          <a:xfrm>
            <a:off x="5120640" y="868680"/>
            <a:ext cx="6400800" cy="731520"/>
          </a:xfrm>
          <a:prstGeom prst="rect">
            <a:avLst/>
          </a:prstGeom>
          <a:noFill/>
          <a:ln/>
        </p:spPr>
        <p:txBody>
          <a:bodyPr wrap="square" lIns="0" tIns="0" rIns="0" bIns="0" rtlCol="0" anchor="ctr"/>
          <a:lstStyle/>
          <a:p>
            <a:pPr indent="0" marL="0">
              <a:buNone/>
            </a:pPr>
            <a:r>
              <a:rPr lang="ja-JP" altLang="en-US" sz="3000" dirty="0">
                <a:solidFill>
                  <a:srgbClr val="1C1A1A"/>
                </a:solidFill>
                <a:latin typeface="Hiragino Mincho ProN" pitchFamily="34" charset="0"/>
                <a:ea typeface="Hiragino Mincho ProN" pitchFamily="34" charset="-128"/>
                <a:cs typeface="Hiragino Mincho ProN" pitchFamily="34" charset="-120"/>
              </a:rPr>
              <a:t>松本流の核心</a:t>
            </a:r>
            <a:endParaRPr lang="ja-JP" sz="3000" dirty="0"/>
          </a:p>
        </p:txBody>
      </p:sp>
      <p:sp>
        <p:nvSpPr>
          <p:cNvPr id="6" name="Text 3"/>
          <p:cNvSpPr txBox="1"/>
          <p:nvPr/>
        </p:nvSpPr>
        <p:spPr>
          <a:xfrm>
            <a:off x="5120640" y="1691640"/>
            <a:ext cx="6519672" cy="640080"/>
          </a:xfrm>
          <a:prstGeom prst="rect">
            <a:avLst/>
          </a:prstGeom>
          <a:noFill/>
          <a:ln/>
        </p:spPr>
        <p:txBody>
          <a:bodyPr wrap="square" lIns="0" tIns="0" rIns="0" bIns="0" rtlCol="0" anchor="t"/>
          <a:lstStyle/>
          <a:p>
            <a:pPr indent="0" marL="0">
              <a:buNone/>
            </a:pPr>
            <a:r>
              <a:rPr lang="ja-JP" altLang="en-US" sz="1400" dirty="0">
                <a:solidFill>
                  <a:srgbClr val="3A3434"/>
                </a:solidFill>
                <a:latin typeface="Hiragino Kaku Gothic ProN" pitchFamily="34" charset="0"/>
                <a:ea typeface="Hiragino Kaku Gothic ProN" pitchFamily="34" charset="-128"/>
                <a:cs typeface="Hiragino Kaku Gothic ProN" pitchFamily="34" charset="-120"/>
              </a:rPr>
              <a:t>お客様が途切れないために、私がやっていること。それは、お客様を追いかけ続けることではありません。</a:t>
            </a:r>
            <a:endParaRPr lang="ja-JP" sz="1400" dirty="0"/>
          </a:p>
        </p:txBody>
      </p:sp>
      <p:sp>
        <p:nvSpPr>
          <p:cNvPr id="7" name="enso"/>
          <p:cNvSpPr/>
          <p:nvPr/>
        </p:nvSpPr>
        <p:spPr>
          <a:xfrm>
            <a:off x="5120640" y="2606040"/>
            <a:ext cx="548640" cy="548640"/>
          </a:xfrm>
          <a:prstGeom prst="ellipse">
            <a:avLst/>
          </a:prstGeom>
          <a:ln w="15875">
            <a:solidFill>
              <a:srgbClr val="1C1A1A"/>
            </a:solidFill>
            <a:prstDash val="solid"/>
          </a:ln>
        </p:spPr>
      </p:sp>
      <p:sp>
        <p:nvSpPr>
          <p:cNvPr id="8" name="Text 5"/>
          <p:cNvSpPr txBox="1"/>
          <p:nvPr/>
        </p:nvSpPr>
        <p:spPr>
          <a:xfrm>
            <a:off x="5120640" y="2606040"/>
            <a:ext cx="548640" cy="548640"/>
          </a:xfrm>
          <a:prstGeom prst="rect">
            <a:avLst/>
          </a:prstGeom>
          <a:noFill/>
          <a:ln/>
        </p:spPr>
        <p:txBody>
          <a:bodyPr wrap="square" lIns="0" tIns="0" rIns="0" bIns="0" rtlCol="0" anchor="ctr"/>
          <a:lstStyle/>
          <a:p>
            <a:pPr algn="ctr" indent="0" marL="0">
              <a:buNone/>
            </a:pPr>
            <a:r>
              <a:rPr lang="ja-JP" altLang="en-US" sz="2000" dirty="0">
                <a:solidFill>
                  <a:srgbClr val="1C1A1A"/>
                </a:solidFill>
                <a:latin typeface="Hiragino Mincho ProN" pitchFamily="34" charset="0"/>
                <a:ea typeface="Hiragino Mincho ProN" pitchFamily="34" charset="-128"/>
                <a:cs typeface="Hiragino Mincho ProN" pitchFamily="34" charset="-120"/>
              </a:rPr>
              <a:t>1</a:t>
            </a:r>
            <a:endParaRPr lang="ja-JP" sz="2000" dirty="0"/>
          </a:p>
        </p:txBody>
      </p:sp>
      <p:sp>
        <p:nvSpPr>
          <p:cNvPr id="9" name="Text 6"/>
          <p:cNvSpPr txBox="1"/>
          <p:nvPr/>
        </p:nvSpPr>
        <p:spPr>
          <a:xfrm>
            <a:off x="5120640" y="3291840"/>
            <a:ext cx="2011680" cy="320040"/>
          </a:xfrm>
          <a:prstGeom prst="rect">
            <a:avLst/>
          </a:prstGeom>
          <a:noFill/>
          <a:ln/>
        </p:spPr>
        <p:txBody>
          <a:bodyPr wrap="square" lIns="0" tIns="0" rIns="0" bIns="0" rtlCol="0" anchor="t"/>
          <a:lstStyle/>
          <a:p>
            <a:pPr indent="0" marL="0">
              <a:buNone/>
            </a:pPr>
            <a:r>
              <a:rPr lang="ja-JP" altLang="en-US" sz="1500" b="1" dirty="0">
                <a:solidFill>
                  <a:srgbClr val="1C1A1A"/>
                </a:solidFill>
                <a:latin typeface="Hiragino Kaku Gothic ProN" pitchFamily="34" charset="0"/>
                <a:ea typeface="Hiragino Kaku Gothic ProN" pitchFamily="34" charset="-128"/>
                <a:cs typeface="Hiragino Kaku Gothic ProN" pitchFamily="34" charset="-120"/>
              </a:rPr>
              <a:t>使命を明確にする</a:t>
            </a:r>
            <a:endParaRPr lang="ja-JP" sz="1500" dirty="0"/>
          </a:p>
        </p:txBody>
      </p:sp>
      <p:sp>
        <p:nvSpPr>
          <p:cNvPr id="10" name="Text 7"/>
          <p:cNvSpPr txBox="1"/>
          <p:nvPr/>
        </p:nvSpPr>
        <p:spPr>
          <a:xfrm>
            <a:off x="5120640" y="3657600"/>
            <a:ext cx="2011680" cy="1097280"/>
          </a:xfrm>
          <a:prstGeom prst="rect">
            <a:avLst/>
          </a:prstGeom>
          <a:noFill/>
          <a:ln/>
        </p:spPr>
        <p:txBody>
          <a:bodyPr wrap="square" lIns="0" tIns="0" rIns="0" bIns="0" rtlCol="0" anchor="t"/>
          <a:lstStyle/>
          <a:p>
            <a:pPr indent="0" marL="0">
              <a:lnSpc>
                <a:spcPct val="115000"/>
              </a:lnSpc>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何者で、何のためにこの仕事をするのか。答えを自分の言葉で持つ。</a:t>
            </a:r>
            <a:endParaRPr lang="ja-JP" sz="1250" dirty="0"/>
          </a:p>
        </p:txBody>
      </p:sp>
      <p:sp>
        <p:nvSpPr>
          <p:cNvPr id="11" name="enso"/>
          <p:cNvSpPr/>
          <p:nvPr/>
        </p:nvSpPr>
        <p:spPr>
          <a:xfrm>
            <a:off x="7342632" y="2606040"/>
            <a:ext cx="548640" cy="548640"/>
          </a:xfrm>
          <a:prstGeom prst="ellipse">
            <a:avLst/>
          </a:prstGeom>
          <a:ln w="15875">
            <a:solidFill>
              <a:srgbClr val="1C1A1A"/>
            </a:solidFill>
            <a:prstDash val="solid"/>
          </a:ln>
        </p:spPr>
      </p:sp>
      <p:sp>
        <p:nvSpPr>
          <p:cNvPr id="12" name="Text 9"/>
          <p:cNvSpPr txBox="1"/>
          <p:nvPr/>
        </p:nvSpPr>
        <p:spPr>
          <a:xfrm>
            <a:off x="7342632" y="2606040"/>
            <a:ext cx="548640" cy="548640"/>
          </a:xfrm>
          <a:prstGeom prst="rect">
            <a:avLst/>
          </a:prstGeom>
          <a:noFill/>
          <a:ln/>
        </p:spPr>
        <p:txBody>
          <a:bodyPr wrap="square" lIns="0" tIns="0" rIns="0" bIns="0" rtlCol="0" anchor="ctr"/>
          <a:lstStyle/>
          <a:p>
            <a:pPr algn="ctr" indent="0" marL="0">
              <a:buNone/>
            </a:pPr>
            <a:r>
              <a:rPr lang="ja-JP" altLang="en-US" sz="2000" dirty="0">
                <a:solidFill>
                  <a:srgbClr val="1C1A1A"/>
                </a:solidFill>
                <a:latin typeface="Hiragino Mincho ProN" pitchFamily="34" charset="0"/>
                <a:ea typeface="Hiragino Mincho ProN" pitchFamily="34" charset="-128"/>
                <a:cs typeface="Hiragino Mincho ProN" pitchFamily="34" charset="-120"/>
              </a:rPr>
              <a:t>2</a:t>
            </a:r>
            <a:endParaRPr lang="ja-JP" sz="2000" dirty="0"/>
          </a:p>
        </p:txBody>
      </p:sp>
      <p:sp>
        <p:nvSpPr>
          <p:cNvPr id="13" name="Text 10"/>
          <p:cNvSpPr txBox="1"/>
          <p:nvPr/>
        </p:nvSpPr>
        <p:spPr>
          <a:xfrm>
            <a:off x="7342632" y="3291840"/>
            <a:ext cx="2011680" cy="320040"/>
          </a:xfrm>
          <a:prstGeom prst="rect">
            <a:avLst/>
          </a:prstGeom>
          <a:noFill/>
          <a:ln/>
        </p:spPr>
        <p:txBody>
          <a:bodyPr wrap="square" lIns="0" tIns="0" rIns="0" bIns="0" rtlCol="0" anchor="t"/>
          <a:lstStyle/>
          <a:p>
            <a:pPr indent="0" marL="0">
              <a:buNone/>
            </a:pPr>
            <a:r>
              <a:rPr lang="ja-JP" altLang="en-US" sz="1500" b="1" dirty="0">
                <a:solidFill>
                  <a:srgbClr val="1C1A1A"/>
                </a:solidFill>
                <a:latin typeface="Hiragino Kaku Gothic ProN" pitchFamily="34" charset="0"/>
                <a:ea typeface="Hiragino Kaku Gothic ProN" pitchFamily="34" charset="-128"/>
                <a:cs typeface="Hiragino Kaku Gothic ProN" pitchFamily="34" charset="-120"/>
              </a:rPr>
              <a:t>伝え続ける</a:t>
            </a:r>
            <a:endParaRPr lang="ja-JP" sz="1500" dirty="0"/>
          </a:p>
        </p:txBody>
      </p:sp>
      <p:sp>
        <p:nvSpPr>
          <p:cNvPr id="14" name="Text 11"/>
          <p:cNvSpPr txBox="1"/>
          <p:nvPr/>
        </p:nvSpPr>
        <p:spPr>
          <a:xfrm>
            <a:off x="7342632" y="3657600"/>
            <a:ext cx="2011680" cy="1097280"/>
          </a:xfrm>
          <a:prstGeom prst="rect">
            <a:avLst/>
          </a:prstGeom>
          <a:noFill/>
          <a:ln/>
        </p:spPr>
        <p:txBody>
          <a:bodyPr wrap="square" lIns="0" tIns="0" rIns="0" bIns="0" rtlCol="0" anchor="t"/>
          <a:lstStyle/>
          <a:p>
            <a:pPr indent="0" marL="0">
              <a:lnSpc>
                <a:spcPct val="115000"/>
              </a:lnSpc>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名刺交換でもセミナーでも雑談でも、一貫して語る。繰り返しが信頼になる。</a:t>
            </a:r>
            <a:endParaRPr lang="ja-JP" sz="1250" dirty="0"/>
          </a:p>
        </p:txBody>
      </p:sp>
      <p:sp>
        <p:nvSpPr>
          <p:cNvPr id="15" name="enso"/>
          <p:cNvSpPr/>
          <p:nvPr/>
        </p:nvSpPr>
        <p:spPr>
          <a:xfrm>
            <a:off x="9564624" y="2606040"/>
            <a:ext cx="548640" cy="548640"/>
          </a:xfrm>
          <a:prstGeom prst="ellipse">
            <a:avLst/>
          </a:prstGeom>
          <a:ln w="15875">
            <a:solidFill>
              <a:srgbClr val="B8432F"/>
            </a:solidFill>
            <a:prstDash val="solid"/>
          </a:ln>
        </p:spPr>
      </p:sp>
      <p:sp>
        <p:nvSpPr>
          <p:cNvPr id="16" name="Text 13"/>
          <p:cNvSpPr txBox="1"/>
          <p:nvPr/>
        </p:nvSpPr>
        <p:spPr>
          <a:xfrm>
            <a:off x="9564624" y="2606040"/>
            <a:ext cx="548640" cy="548640"/>
          </a:xfrm>
          <a:prstGeom prst="rect">
            <a:avLst/>
          </a:prstGeom>
          <a:noFill/>
          <a:ln/>
        </p:spPr>
        <p:txBody>
          <a:bodyPr wrap="square" lIns="0" tIns="0" rIns="0" bIns="0" rtlCol="0" anchor="ctr"/>
          <a:lstStyle/>
          <a:p>
            <a:pPr algn="ctr" indent="0" marL="0">
              <a:buNone/>
            </a:pPr>
            <a:r>
              <a:rPr lang="ja-JP" altLang="en-US" sz="2000" dirty="0">
                <a:solidFill>
                  <a:srgbClr val="B8432F"/>
                </a:solidFill>
                <a:latin typeface="Hiragino Mincho ProN" pitchFamily="34" charset="0"/>
                <a:ea typeface="Hiragino Mincho ProN" pitchFamily="34" charset="-128"/>
                <a:cs typeface="Hiragino Mincho ProN" pitchFamily="34" charset="-120"/>
              </a:rPr>
              <a:t>3</a:t>
            </a:r>
            <a:endParaRPr lang="ja-JP" sz="2000" dirty="0"/>
          </a:p>
        </p:txBody>
      </p:sp>
      <p:sp>
        <p:nvSpPr>
          <p:cNvPr id="17" name="Text 14"/>
          <p:cNvSpPr txBox="1"/>
          <p:nvPr/>
        </p:nvSpPr>
        <p:spPr>
          <a:xfrm>
            <a:off x="9564624" y="3291840"/>
            <a:ext cx="2011680" cy="320040"/>
          </a:xfrm>
          <a:prstGeom prst="rect">
            <a:avLst/>
          </a:prstGeom>
          <a:noFill/>
          <a:ln/>
        </p:spPr>
        <p:txBody>
          <a:bodyPr wrap="square" lIns="0" tIns="0" rIns="0" bIns="0" rtlCol="0" anchor="t"/>
          <a:lstStyle/>
          <a:p>
            <a:pPr indent="0" marL="0">
              <a:buNone/>
            </a:pPr>
            <a:r>
              <a:rPr lang="ja-JP" altLang="en-US" sz="1500" b="1" dirty="0">
                <a:solidFill>
                  <a:srgbClr val="1C1A1A"/>
                </a:solidFill>
                <a:latin typeface="Hiragino Kaku Gothic ProN" pitchFamily="34" charset="0"/>
                <a:ea typeface="Hiragino Kaku Gothic ProN" pitchFamily="34" charset="-128"/>
                <a:cs typeface="Hiragino Kaku Gothic ProN" pitchFamily="34" charset="-120"/>
              </a:rPr>
              <a:t>接点を設計する</a:t>
            </a:r>
            <a:endParaRPr lang="ja-JP" sz="1500" dirty="0"/>
          </a:p>
        </p:txBody>
      </p:sp>
      <p:sp>
        <p:nvSpPr>
          <p:cNvPr id="18" name="Text 15"/>
          <p:cNvSpPr txBox="1"/>
          <p:nvPr/>
        </p:nvSpPr>
        <p:spPr>
          <a:xfrm>
            <a:off x="9564624" y="3657600"/>
            <a:ext cx="2011680" cy="1097280"/>
          </a:xfrm>
          <a:prstGeom prst="rect">
            <a:avLst/>
          </a:prstGeom>
          <a:noFill/>
          <a:ln/>
        </p:spPr>
        <p:txBody>
          <a:bodyPr wrap="square" lIns="0" tIns="0" rIns="0" bIns="0" rtlCol="0" anchor="t"/>
          <a:lstStyle/>
          <a:p>
            <a:pPr indent="0" marL="0">
              <a:lnSpc>
                <a:spcPct val="115000"/>
              </a:lnSpc>
              <a:buNone/>
            </a:pPr>
            <a:r>
              <a:rPr lang="ja-JP" altLang="en-US" sz="1250" dirty="0">
                <a:solidFill>
                  <a:srgbClr val="3A3434"/>
                </a:solidFill>
                <a:latin typeface="Hiragino Kaku Gothic ProN" pitchFamily="34" charset="0"/>
                <a:ea typeface="Hiragino Kaku Gothic ProN" pitchFamily="34" charset="-128"/>
                <a:cs typeface="Hiragino Kaku Gothic ProN" pitchFamily="34" charset="-120"/>
              </a:rPr>
              <a:t>使命を必要とする人はどこにいて、誰がつながっているかを考え、動く。</a:t>
            </a:r>
            <a:endParaRPr lang="ja-JP" sz="1250" dirty="0"/>
          </a:p>
        </p:txBody>
      </p:sp>
      <p:sp>
        <p:nvSpPr>
          <p:cNvPr id="19" name="chain"/>
          <p:cNvSpPr/>
          <p:nvPr/>
        </p:nvSpPr>
        <p:spPr>
          <a:xfrm>
            <a:off x="5120640" y="4983480"/>
            <a:ext cx="1417320" cy="868680"/>
          </a:xfrm>
          <a:prstGeom prst="roundRect">
            <a:avLst>
              <a:gd name="adj" fmla="val 50526"/>
            </a:avLst>
          </a:prstGeom>
          <a:solidFill>
            <a:srgbClr val="F4F0EC"/>
          </a:solidFill>
          <a:ln/>
        </p:spPr>
      </p:sp>
      <p:sp>
        <p:nvSpPr>
          <p:cNvPr id="20" name="Text 17"/>
          <p:cNvSpPr txBox="1"/>
          <p:nvPr/>
        </p:nvSpPr>
        <p:spPr>
          <a:xfrm>
            <a:off x="5120640" y="5047488"/>
            <a:ext cx="1417320" cy="411480"/>
          </a:xfrm>
          <a:prstGeom prst="rect">
            <a:avLst/>
          </a:prstGeom>
          <a:noFill/>
          <a:ln/>
        </p:spPr>
        <p:txBody>
          <a:bodyPr wrap="square" lIns="0" tIns="0" rIns="0" bIns="0" rtlCol="0" anchor="ctr"/>
          <a:lstStyle/>
          <a:p>
            <a:pPr algn="ctr" indent="0" marL="0">
              <a:buNone/>
            </a:pPr>
            <a:r>
              <a:rPr lang="ja-JP" altLang="en-US" sz="1700" dirty="0">
                <a:solidFill>
                  <a:srgbClr val="1C1A1A"/>
                </a:solidFill>
                <a:latin typeface="Hiragino Mincho ProN" pitchFamily="34" charset="0"/>
                <a:ea typeface="Hiragino Mincho ProN" pitchFamily="34" charset="-128"/>
                <a:cs typeface="Hiragino Mincho ProN" pitchFamily="34" charset="-120"/>
              </a:rPr>
              <a:t>使命</a:t>
            </a:r>
            <a:endParaRPr lang="ja-JP" sz="1700" dirty="0"/>
          </a:p>
        </p:txBody>
      </p:sp>
      <p:sp>
        <p:nvSpPr>
          <p:cNvPr id="21" name="Text 18"/>
          <p:cNvSpPr txBox="1"/>
          <p:nvPr/>
        </p:nvSpPr>
        <p:spPr>
          <a:xfrm>
            <a:off x="5120640" y="5440680"/>
            <a:ext cx="1417320" cy="274320"/>
          </a:xfrm>
          <a:prstGeom prst="rect">
            <a:avLst/>
          </a:prstGeom>
          <a:noFill/>
          <a:ln/>
        </p:spPr>
        <p:txBody>
          <a:bodyPr wrap="square" lIns="0" tIns="0" rIns="0" bIns="0" rtlCol="0" anchor="t"/>
          <a:lstStyle/>
          <a:p>
            <a:pPr algn="ct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を明確に</a:t>
            </a:r>
            <a:endParaRPr lang="ja-JP" sz="1050" dirty="0"/>
          </a:p>
        </p:txBody>
      </p:sp>
      <p:sp>
        <p:nvSpPr>
          <p:cNvPr id="22" name="chain"/>
          <p:cNvSpPr/>
          <p:nvPr/>
        </p:nvSpPr>
        <p:spPr>
          <a:xfrm>
            <a:off x="6793992" y="4983480"/>
            <a:ext cx="1417320" cy="868680"/>
          </a:xfrm>
          <a:prstGeom prst="roundRect">
            <a:avLst>
              <a:gd name="adj" fmla="val 50526"/>
            </a:avLst>
          </a:prstGeom>
          <a:solidFill>
            <a:srgbClr val="F4F0EC"/>
          </a:solidFill>
          <a:ln/>
        </p:spPr>
      </p:sp>
      <p:sp>
        <p:nvSpPr>
          <p:cNvPr id="23" name="Text 20"/>
          <p:cNvSpPr txBox="1"/>
          <p:nvPr/>
        </p:nvSpPr>
        <p:spPr>
          <a:xfrm>
            <a:off x="6793992" y="5047488"/>
            <a:ext cx="1417320" cy="411480"/>
          </a:xfrm>
          <a:prstGeom prst="rect">
            <a:avLst/>
          </a:prstGeom>
          <a:noFill/>
          <a:ln/>
        </p:spPr>
        <p:txBody>
          <a:bodyPr wrap="square" lIns="0" tIns="0" rIns="0" bIns="0" rtlCol="0" anchor="ctr"/>
          <a:lstStyle/>
          <a:p>
            <a:pPr algn="ctr" indent="0" marL="0">
              <a:buNone/>
            </a:pPr>
            <a:r>
              <a:rPr lang="ja-JP" altLang="en-US" sz="1700" dirty="0">
                <a:solidFill>
                  <a:srgbClr val="1C1A1A"/>
                </a:solidFill>
                <a:latin typeface="Hiragino Mincho ProN" pitchFamily="34" charset="0"/>
                <a:ea typeface="Hiragino Mincho ProN" pitchFamily="34" charset="-128"/>
                <a:cs typeface="Hiragino Mincho ProN" pitchFamily="34" charset="-120"/>
              </a:rPr>
              <a:t>ブランド</a:t>
            </a:r>
            <a:endParaRPr lang="ja-JP" sz="1700" dirty="0"/>
          </a:p>
        </p:txBody>
      </p:sp>
      <p:sp>
        <p:nvSpPr>
          <p:cNvPr id="24" name="Text 21"/>
          <p:cNvSpPr txBox="1"/>
          <p:nvPr/>
        </p:nvSpPr>
        <p:spPr>
          <a:xfrm>
            <a:off x="6793992" y="5440680"/>
            <a:ext cx="1417320" cy="274320"/>
          </a:xfrm>
          <a:prstGeom prst="rect">
            <a:avLst/>
          </a:prstGeom>
          <a:noFill/>
          <a:ln/>
        </p:spPr>
        <p:txBody>
          <a:bodyPr wrap="square" lIns="0" tIns="0" rIns="0" bIns="0" rtlCol="0" anchor="t"/>
          <a:lstStyle/>
          <a:p>
            <a:pPr algn="ct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が生まれる</a:t>
            </a:r>
            <a:endParaRPr lang="ja-JP" sz="1050" dirty="0"/>
          </a:p>
        </p:txBody>
      </p:sp>
      <p:sp>
        <p:nvSpPr>
          <p:cNvPr id="25" name="chain"/>
          <p:cNvSpPr/>
          <p:nvPr/>
        </p:nvSpPr>
        <p:spPr>
          <a:xfrm>
            <a:off x="8467344" y="4983480"/>
            <a:ext cx="1417320" cy="868680"/>
          </a:xfrm>
          <a:prstGeom prst="roundRect">
            <a:avLst>
              <a:gd name="adj" fmla="val 50526"/>
            </a:avLst>
          </a:prstGeom>
          <a:solidFill>
            <a:srgbClr val="F4F0EC"/>
          </a:solidFill>
          <a:ln/>
        </p:spPr>
      </p:sp>
      <p:sp>
        <p:nvSpPr>
          <p:cNvPr id="26" name="Text 23"/>
          <p:cNvSpPr txBox="1"/>
          <p:nvPr/>
        </p:nvSpPr>
        <p:spPr>
          <a:xfrm>
            <a:off x="8467344" y="5047488"/>
            <a:ext cx="1417320" cy="411480"/>
          </a:xfrm>
          <a:prstGeom prst="rect">
            <a:avLst/>
          </a:prstGeom>
          <a:noFill/>
          <a:ln/>
        </p:spPr>
        <p:txBody>
          <a:bodyPr wrap="square" lIns="0" tIns="0" rIns="0" bIns="0" rtlCol="0" anchor="ctr"/>
          <a:lstStyle/>
          <a:p>
            <a:pPr algn="ctr" indent="0" marL="0">
              <a:buNone/>
            </a:pPr>
            <a:r>
              <a:rPr lang="ja-JP" altLang="en-US" sz="1700" dirty="0">
                <a:solidFill>
                  <a:srgbClr val="1C1A1A"/>
                </a:solidFill>
                <a:latin typeface="Hiragino Mincho ProN" pitchFamily="34" charset="0"/>
                <a:ea typeface="Hiragino Mincho ProN" pitchFamily="34" charset="-128"/>
                <a:cs typeface="Hiragino Mincho ProN" pitchFamily="34" charset="-120"/>
              </a:rPr>
              <a:t>共感</a:t>
            </a:r>
            <a:endParaRPr lang="ja-JP" sz="1700" dirty="0"/>
          </a:p>
        </p:txBody>
      </p:sp>
      <p:sp>
        <p:nvSpPr>
          <p:cNvPr id="27" name="Text 24"/>
          <p:cNvSpPr txBox="1"/>
          <p:nvPr/>
        </p:nvSpPr>
        <p:spPr>
          <a:xfrm>
            <a:off x="8467344" y="5440680"/>
            <a:ext cx="1417320" cy="274320"/>
          </a:xfrm>
          <a:prstGeom prst="rect">
            <a:avLst/>
          </a:prstGeom>
          <a:noFill/>
          <a:ln/>
        </p:spPr>
        <p:txBody>
          <a:bodyPr wrap="square" lIns="0" tIns="0" rIns="0" bIns="0" rtlCol="0" anchor="t"/>
          <a:lstStyle/>
          <a:p>
            <a:pPr algn="ctr" indent="0" marL="0">
              <a:buNone/>
            </a:pPr>
            <a:r>
              <a:rPr lang="ja-JP" altLang="en-US" sz="1050" dirty="0">
                <a:solidFill>
                  <a:srgbClr val="8A8380"/>
                </a:solidFill>
                <a:latin typeface="Hiragino Kaku Gothic ProN" pitchFamily="34" charset="0"/>
                <a:ea typeface="Hiragino Kaku Gothic ProN" pitchFamily="34" charset="-128"/>
                <a:cs typeface="Hiragino Kaku Gothic ProN" pitchFamily="34" charset="-120"/>
              </a:rPr>
              <a:t>が生まれる</a:t>
            </a:r>
            <a:endParaRPr lang="ja-JP" sz="1050" dirty="0"/>
          </a:p>
        </p:txBody>
      </p:sp>
      <p:sp>
        <p:nvSpPr>
          <p:cNvPr id="28" name="chain"/>
          <p:cNvSpPr/>
          <p:nvPr/>
        </p:nvSpPr>
        <p:spPr>
          <a:xfrm>
            <a:off x="10140696" y="4983480"/>
            <a:ext cx="1417320" cy="868680"/>
          </a:xfrm>
          <a:prstGeom prst="roundRect">
            <a:avLst>
              <a:gd name="adj" fmla="val 50526"/>
            </a:avLst>
          </a:prstGeom>
          <a:solidFill>
            <a:srgbClr val="B8432F"/>
          </a:solidFill>
          <a:ln/>
        </p:spPr>
      </p:sp>
      <p:sp>
        <p:nvSpPr>
          <p:cNvPr id="29" name="Text 26"/>
          <p:cNvSpPr txBox="1"/>
          <p:nvPr/>
        </p:nvSpPr>
        <p:spPr>
          <a:xfrm>
            <a:off x="10140696" y="5047488"/>
            <a:ext cx="1417320" cy="411480"/>
          </a:xfrm>
          <a:prstGeom prst="rect">
            <a:avLst/>
          </a:prstGeom>
          <a:noFill/>
          <a:ln/>
        </p:spPr>
        <p:txBody>
          <a:bodyPr wrap="square" lIns="0" tIns="0" rIns="0" bIns="0" rtlCol="0" anchor="ctr"/>
          <a:lstStyle/>
          <a:p>
            <a:pPr algn="ctr" indent="0" marL="0">
              <a:buNone/>
            </a:pPr>
            <a:r>
              <a:rPr lang="ja-JP" altLang="en-US" sz="1700" dirty="0">
                <a:solidFill>
                  <a:srgbClr val="FFFFFF"/>
                </a:solidFill>
                <a:latin typeface="Hiragino Mincho ProN" pitchFamily="34" charset="0"/>
                <a:ea typeface="Hiragino Mincho ProN" pitchFamily="34" charset="-128"/>
                <a:cs typeface="Hiragino Mincho ProN" pitchFamily="34" charset="-120"/>
              </a:rPr>
              <a:t>接点</a:t>
            </a:r>
            <a:endParaRPr lang="ja-JP" sz="1700" dirty="0"/>
          </a:p>
        </p:txBody>
      </p:sp>
      <p:sp>
        <p:nvSpPr>
          <p:cNvPr id="30" name="Text 27"/>
          <p:cNvSpPr txBox="1"/>
          <p:nvPr/>
        </p:nvSpPr>
        <p:spPr>
          <a:xfrm>
            <a:off x="10140696" y="5440680"/>
            <a:ext cx="1417320" cy="274320"/>
          </a:xfrm>
          <a:prstGeom prst="rect">
            <a:avLst/>
          </a:prstGeom>
          <a:noFill/>
          <a:ln/>
        </p:spPr>
        <p:txBody>
          <a:bodyPr wrap="square" lIns="0" tIns="0" rIns="0" bIns="0" rtlCol="0" anchor="t"/>
          <a:lstStyle/>
          <a:p>
            <a:pPr algn="ctr" indent="0" marL="0">
              <a:buNone/>
            </a:pPr>
            <a:r>
              <a:rPr lang="ja-JP" altLang="en-US" sz="1050" dirty="0">
                <a:solidFill>
                  <a:srgbClr val="FFFFFF"/>
                </a:solidFill>
                <a:latin typeface="Hiragino Kaku Gothic ProN" pitchFamily="34" charset="0"/>
                <a:ea typeface="Hiragino Kaku Gothic ProN" pitchFamily="34" charset="-128"/>
                <a:cs typeface="Hiragino Kaku Gothic ProN" pitchFamily="34" charset="-120"/>
              </a:rPr>
              <a:t>を設計する</a:t>
            </a:r>
            <a:endParaRPr lang="ja-JP" sz="1050" dirty="0"/>
          </a:p>
        </p:txBody>
      </p:sp>
      <p:pic>
        <p:nvPicPr>
          <p:cNvPr id="31" name="Image 1" descr="preencoded.png">    </p:cNvPr>
          <p:cNvPicPr>
            <a:picLocks noChangeAspect="1"/>
          </p:cNvPicPr>
          <p:nvPr/>
        </p:nvPicPr>
        <p:blipFill>
          <a:blip r:embed="rId2"/>
          <a:stretch>
            <a:fillRect/>
          </a:stretch>
        </p:blipFill>
        <p:spPr>
          <a:xfrm>
            <a:off x="6556248" y="5312664"/>
            <a:ext cx="219456" cy="219456"/>
          </a:xfrm>
          <a:prstGeom prst="rect">
            <a:avLst/>
          </a:prstGeom>
        </p:spPr>
      </p:pic>
      <p:pic>
        <p:nvPicPr>
          <p:cNvPr id="32" name="Image 2" descr="preencoded.png">    </p:cNvPr>
          <p:cNvPicPr>
            <a:picLocks noChangeAspect="1"/>
          </p:cNvPicPr>
          <p:nvPr/>
        </p:nvPicPr>
        <p:blipFill>
          <a:blip r:embed="rId3"/>
          <a:stretch>
            <a:fillRect/>
          </a:stretch>
        </p:blipFill>
        <p:spPr>
          <a:xfrm>
            <a:off x="8229600" y="5312664"/>
            <a:ext cx="219456" cy="219456"/>
          </a:xfrm>
          <a:prstGeom prst="rect">
            <a:avLst/>
          </a:prstGeom>
        </p:spPr>
      </p:pic>
      <p:pic>
        <p:nvPicPr>
          <p:cNvPr id="33" name="Image 3" descr="preencoded.png">    </p:cNvPr>
          <p:cNvPicPr>
            <a:picLocks noChangeAspect="1"/>
          </p:cNvPicPr>
          <p:nvPr/>
        </p:nvPicPr>
        <p:blipFill>
          <a:blip r:embed="rId4"/>
          <a:stretch>
            <a:fillRect/>
          </a:stretch>
        </p:blipFill>
        <p:spPr>
          <a:xfrm>
            <a:off x="9902952" y="5312664"/>
            <a:ext cx="219456" cy="219456"/>
          </a:xfrm>
          <a:prstGeom prst="rect">
            <a:avLst/>
          </a:prstGeom>
        </p:spPr>
      </p:pic>
      <p:sp>
        <p:nvSpPr>
          <p:cNvPr id="34" name="Text 28"/>
          <p:cNvSpPr txBox="1"/>
          <p:nvPr/>
        </p:nvSpPr>
        <p:spPr>
          <a:xfrm>
            <a:off x="5120640" y="6035040"/>
            <a:ext cx="6519672" cy="365760"/>
          </a:xfrm>
          <a:prstGeom prst="rect">
            <a:avLst/>
          </a:prstGeom>
          <a:noFill/>
          <a:ln/>
        </p:spPr>
        <p:txBody>
          <a:bodyPr wrap="square" lIns="0" tIns="0" rIns="0" bIns="0" rtlCol="0" anchor="t"/>
          <a:lstStyle/>
          <a:p>
            <a:pPr indent="0" marL="0">
              <a:buNone/>
            </a:pPr>
            <a:r>
              <a:rPr lang="ja-JP" altLang="en-US" sz="1600" dirty="0">
                <a:solidFill>
                  <a:srgbClr val="B8432F"/>
                </a:solidFill>
                <a:latin typeface="Hiragino Mincho ProN" pitchFamily="34" charset="0"/>
                <a:ea typeface="Hiragino Mincho ProN" pitchFamily="34" charset="-128"/>
                <a:cs typeface="Hiragino Mincho ProN" pitchFamily="34" charset="-120"/>
              </a:rPr>
              <a:t>この好循環こそが、お客様が途切れない本当の理由。</a:t>
            </a:r>
            <a:endParaRPr lang="ja-JP"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7315200" cy="274320"/>
          </a:xfrm>
          <a:prstGeom prst="rect">
            <a:avLst/>
          </a:prstGeom>
          <a:noFill/>
          <a:ln/>
        </p:spPr>
        <p:txBody>
          <a:bodyPr wrap="square" lIns="0" tIns="0" rIns="0" bIns="0" rtlCol="0" anchor="ctr"/>
          <a:lstStyle/>
          <a:p>
            <a:pPr indent="0" marL="0">
              <a:buNone/>
            </a:pPr>
            <a:r>
              <a:rPr lang="en-US" sz="1100" b="1" spc="200" kern="0" dirty="0">
                <a:solidFill>
                  <a:srgbClr val="B8432F"/>
                </a:solidFill>
                <a:latin typeface="Hiragino Kaku Gothic ProN" pitchFamily="34" charset="0"/>
                <a:ea typeface="Hiragino Kaku Gothic ProN" pitchFamily="34" charset="-128"/>
                <a:cs typeface="Hiragino Kaku Gothic ProN" pitchFamily="34" charset="-120"/>
              </a:rPr>
              <a:t>NEXT STEP</a:t>
            </a:r>
            <a:endParaRPr lang="en-US" sz="11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000" dirty="0">
                <a:solidFill>
                  <a:srgbClr val="1C1A1A"/>
                </a:solidFill>
                <a:latin typeface="Hiragino Mincho ProN" pitchFamily="34" charset="0"/>
                <a:ea typeface="Hiragino Mincho ProN" pitchFamily="34" charset="-128"/>
                <a:cs typeface="Hiragino Mincho ProN" pitchFamily="34" charset="-120"/>
              </a:rPr>
              <a:t>明日からの一歩</a:t>
            </a:r>
            <a:endParaRPr lang="en-US" sz="3000" dirty="0"/>
          </a:p>
        </p:txBody>
      </p:sp>
      <p:sp>
        <p:nvSpPr>
          <p:cNvPr id="4" name="Text 2"/>
          <p:cNvSpPr txBox="1"/>
          <p:nvPr/>
        </p:nvSpPr>
        <p:spPr>
          <a:xfrm>
            <a:off x="548640" y="1463040"/>
            <a:ext cx="11064240" cy="365760"/>
          </a:xfrm>
          <a:prstGeom prst="rect">
            <a:avLst/>
          </a:prstGeom>
          <a:noFill/>
          <a:ln/>
        </p:spPr>
        <p:txBody>
          <a:bodyPr wrap="square" lIns="0" tIns="0" rIns="0" bIns="0" rtlCol="0" anchor="t"/>
          <a:lstStyle/>
          <a:p>
            <a:pPr indent="0" marL="0">
              <a:buNone/>
            </a:pPr>
            <a:r>
              <a:rPr lang="ja-JP" altLang="en-US" sz="1400" dirty="0">
                <a:solidFill>
                  <a:srgbClr val="3A3434"/>
                </a:solidFill>
                <a:latin typeface="Hiragino Kaku Gothic ProN" pitchFamily="34" charset="0"/>
                <a:ea typeface="Hiragino Kaku Gothic ProN" pitchFamily="34" charset="-128"/>
                <a:cs typeface="Hiragino Kaku Gothic ProN" pitchFamily="34" charset="-120"/>
              </a:rPr>
              <a:t>あなたのブランドとマーケティングは、大きな戦略からではなく、小さな言語化から始まります。</a:t>
            </a:r>
            <a:endParaRPr lang="ja-JP" sz="1400" dirty="0"/>
          </a:p>
        </p:txBody>
      </p:sp>
      <p:sp>
        <p:nvSpPr>
          <p:cNvPr id="5" name="stair"/>
          <p:cNvSpPr/>
          <p:nvPr/>
        </p:nvSpPr>
        <p:spPr>
          <a:xfrm>
            <a:off x="548640" y="4114800"/>
            <a:ext cx="3593592" cy="1645920"/>
          </a:xfrm>
          <a:prstGeom prst="rect">
            <a:avLst/>
          </a:prstGeom>
          <a:solidFill>
            <a:srgbClr val="F4F0EC"/>
          </a:solidFill>
          <a:ln/>
        </p:spPr>
      </p:sp>
      <p:sp>
        <p:nvSpPr>
          <p:cNvPr id="6" name="icon-bg"/>
          <p:cNvSpPr/>
          <p:nvPr/>
        </p:nvSpPr>
        <p:spPr>
          <a:xfrm>
            <a:off x="548640" y="3246120"/>
            <a:ext cx="685800" cy="685800"/>
          </a:xfrm>
          <a:prstGeom prst="ellipse">
            <a:avLst/>
          </a:prstGeom>
          <a:solidFill>
            <a:srgbClr val="1C1A1A"/>
          </a:solidFill>
          <a:ln/>
        </p:spPr>
      </p:sp>
      <p:pic>
        <p:nvPicPr>
          <p:cNvPr id="7" name="Image 0" descr="preencoded.png">    </p:cNvPr>
          <p:cNvPicPr>
            <a:picLocks noChangeAspect="1"/>
          </p:cNvPicPr>
          <p:nvPr/>
        </p:nvPicPr>
        <p:blipFill>
          <a:blip r:embed="rId1"/>
          <a:stretch>
            <a:fillRect/>
          </a:stretch>
        </p:blipFill>
        <p:spPr>
          <a:xfrm>
            <a:off x="726948" y="3424428"/>
            <a:ext cx="329184" cy="329184"/>
          </a:xfrm>
          <a:prstGeom prst="rect">
            <a:avLst/>
          </a:prstGeom>
        </p:spPr>
      </p:pic>
      <p:sp>
        <p:nvSpPr>
          <p:cNvPr id="8" name="Text 5"/>
          <p:cNvSpPr txBox="1"/>
          <p:nvPr/>
        </p:nvSpPr>
        <p:spPr>
          <a:xfrm>
            <a:off x="777240" y="4315968"/>
            <a:ext cx="3108960" cy="274320"/>
          </a:xfrm>
          <a:prstGeom prst="rect">
            <a:avLst/>
          </a:prstGeom>
          <a:noFill/>
          <a:ln/>
        </p:spPr>
        <p:txBody>
          <a:bodyPr wrap="square" lIns="0" tIns="0" rIns="0" bIns="0" rtlCol="0" anchor="t"/>
          <a:lstStyle/>
          <a:p>
            <a:pPr indent="0" marL="0">
              <a:buNone/>
            </a:pPr>
            <a:r>
              <a:rPr lang="ja-JP" altLang="en-US" sz="1100" b="1" spc="300" kern="0" dirty="0">
                <a:solidFill>
                  <a:srgbClr val="B8432F"/>
                </a:solidFill>
                <a:latin typeface="Hiragino Kaku Gothic ProN" pitchFamily="34" charset="0"/>
                <a:ea typeface="Hiragino Kaku Gothic ProN" pitchFamily="34" charset="-128"/>
                <a:cs typeface="Hiragino Kaku Gothic ProN" pitchFamily="34" charset="-120"/>
              </a:rPr>
              <a:t>STEP 1</a:t>
            </a:r>
            <a:endParaRPr lang="ja-JP" sz="1100" dirty="0"/>
          </a:p>
        </p:txBody>
      </p:sp>
      <p:sp>
        <p:nvSpPr>
          <p:cNvPr id="9" name="Text 6"/>
          <p:cNvSpPr txBox="1"/>
          <p:nvPr/>
        </p:nvSpPr>
        <p:spPr>
          <a:xfrm>
            <a:off x="777240" y="4617720"/>
            <a:ext cx="3200400" cy="411480"/>
          </a:xfrm>
          <a:prstGeom prst="rect">
            <a:avLst/>
          </a:prstGeom>
          <a:noFill/>
          <a:ln/>
        </p:spPr>
        <p:txBody>
          <a:bodyPr wrap="square" lIns="0" tIns="0" rIns="0" bIns="0" rtlCol="0" anchor="t"/>
          <a:lstStyle/>
          <a:p>
            <a:pPr indent="0" marL="0">
              <a:buNone/>
            </a:pPr>
            <a:r>
              <a:rPr lang="ja-JP" altLang="en-US" sz="1800" dirty="0">
                <a:solidFill>
                  <a:srgbClr val="1C1A1A"/>
                </a:solidFill>
                <a:latin typeface="Hiragino Mincho ProN" pitchFamily="34" charset="0"/>
                <a:ea typeface="Hiragino Mincho ProN" pitchFamily="34" charset="-128"/>
                <a:cs typeface="Hiragino Mincho ProN" pitchFamily="34" charset="-120"/>
              </a:rPr>
              <a:t>自分の使命を一文で書く</a:t>
            </a:r>
            <a:endParaRPr lang="ja-JP" sz="1800" dirty="0"/>
          </a:p>
        </p:txBody>
      </p:sp>
      <p:sp>
        <p:nvSpPr>
          <p:cNvPr id="10" name="Text 7"/>
          <p:cNvSpPr txBox="1"/>
          <p:nvPr/>
        </p:nvSpPr>
        <p:spPr>
          <a:xfrm>
            <a:off x="777240" y="5074920"/>
            <a:ext cx="3154680" cy="731520"/>
          </a:xfrm>
          <a:prstGeom prst="rect">
            <a:avLst/>
          </a:prstGeom>
          <a:noFill/>
          <a:ln/>
        </p:spPr>
        <p:txBody>
          <a:bodyPr wrap="square" lIns="0" tIns="0" rIns="0" bIns="0" rtlCol="0" anchor="t"/>
          <a:lstStyle/>
          <a:p>
            <a:pPr indent="0" marL="0">
              <a:lnSpc>
                <a:spcPct val="115000"/>
              </a:lnSpc>
              <a:buNone/>
            </a:pPr>
            <a:r>
              <a:rPr lang="ja-JP" altLang="en-US" sz="1250" dirty="0">
                <a:solidFill>
                  <a:srgbClr val="1C1A1A"/>
                </a:solidFill>
                <a:latin typeface="Hiragino Kaku Gothic ProN" pitchFamily="34" charset="0"/>
                <a:ea typeface="Hiragino Kaku Gothic ProN" pitchFamily="34" charset="-128"/>
                <a:cs typeface="Hiragino Kaku Gothic ProN" pitchFamily="34" charset="-120"/>
              </a:rPr>
              <a:t>「私は〇〇のために、〇〇をしない専門家です」。うまくなくていい。自分の言葉で。</a:t>
            </a:r>
            <a:endParaRPr lang="ja-JP" sz="1250" dirty="0"/>
          </a:p>
        </p:txBody>
      </p:sp>
      <p:sp>
        <p:nvSpPr>
          <p:cNvPr id="11" name="stair"/>
          <p:cNvSpPr/>
          <p:nvPr/>
        </p:nvSpPr>
        <p:spPr>
          <a:xfrm>
            <a:off x="4297680" y="3520440"/>
            <a:ext cx="3593592" cy="2240280"/>
          </a:xfrm>
          <a:prstGeom prst="rect">
            <a:avLst/>
          </a:prstGeom>
          <a:solidFill>
            <a:srgbClr val="D9C8BC"/>
          </a:solidFill>
          <a:ln/>
        </p:spPr>
      </p:sp>
      <p:sp>
        <p:nvSpPr>
          <p:cNvPr id="12" name="icon-bg"/>
          <p:cNvSpPr/>
          <p:nvPr/>
        </p:nvSpPr>
        <p:spPr>
          <a:xfrm>
            <a:off x="4297680" y="2651760"/>
            <a:ext cx="685800" cy="685800"/>
          </a:xfrm>
          <a:prstGeom prst="ellipse">
            <a:avLst/>
          </a:prstGeom>
          <a:solidFill>
            <a:srgbClr val="1C1A1A"/>
          </a:solidFill>
          <a:ln/>
        </p:spPr>
      </p:sp>
      <p:pic>
        <p:nvPicPr>
          <p:cNvPr id="13" name="Image 1" descr="preencoded.png">    </p:cNvPr>
          <p:cNvPicPr>
            <a:picLocks noChangeAspect="1"/>
          </p:cNvPicPr>
          <p:nvPr/>
        </p:nvPicPr>
        <p:blipFill>
          <a:blip r:embed="rId2"/>
          <a:stretch>
            <a:fillRect/>
          </a:stretch>
        </p:blipFill>
        <p:spPr>
          <a:xfrm>
            <a:off x="4475988" y="2830068"/>
            <a:ext cx="329184" cy="329184"/>
          </a:xfrm>
          <a:prstGeom prst="rect">
            <a:avLst/>
          </a:prstGeom>
        </p:spPr>
      </p:pic>
      <p:sp>
        <p:nvSpPr>
          <p:cNvPr id="14" name="Text 10"/>
          <p:cNvSpPr txBox="1"/>
          <p:nvPr/>
        </p:nvSpPr>
        <p:spPr>
          <a:xfrm>
            <a:off x="4526280" y="3721608"/>
            <a:ext cx="3108960" cy="274320"/>
          </a:xfrm>
          <a:prstGeom prst="rect">
            <a:avLst/>
          </a:prstGeom>
          <a:noFill/>
          <a:ln/>
        </p:spPr>
        <p:txBody>
          <a:bodyPr wrap="square" lIns="0" tIns="0" rIns="0" bIns="0" rtlCol="0" anchor="t"/>
          <a:lstStyle/>
          <a:p>
            <a:pPr indent="0" marL="0">
              <a:buNone/>
            </a:pPr>
            <a:r>
              <a:rPr lang="ja-JP" altLang="en-US" sz="1100" b="1" spc="300" kern="0" dirty="0">
                <a:solidFill>
                  <a:srgbClr val="B8432F"/>
                </a:solidFill>
                <a:latin typeface="Hiragino Kaku Gothic ProN" pitchFamily="34" charset="0"/>
                <a:ea typeface="Hiragino Kaku Gothic ProN" pitchFamily="34" charset="-128"/>
                <a:cs typeface="Hiragino Kaku Gothic ProN" pitchFamily="34" charset="-120"/>
              </a:rPr>
              <a:t>STEP 2</a:t>
            </a:r>
            <a:endParaRPr lang="ja-JP" sz="1100" dirty="0"/>
          </a:p>
        </p:txBody>
      </p:sp>
      <p:sp>
        <p:nvSpPr>
          <p:cNvPr id="15" name="Text 11"/>
          <p:cNvSpPr txBox="1"/>
          <p:nvPr/>
        </p:nvSpPr>
        <p:spPr>
          <a:xfrm>
            <a:off x="4526280" y="4023360"/>
            <a:ext cx="3200400" cy="411480"/>
          </a:xfrm>
          <a:prstGeom prst="rect">
            <a:avLst/>
          </a:prstGeom>
          <a:noFill/>
          <a:ln/>
        </p:spPr>
        <p:txBody>
          <a:bodyPr wrap="square" lIns="0" tIns="0" rIns="0" bIns="0" rtlCol="0" anchor="t"/>
          <a:lstStyle/>
          <a:p>
            <a:pPr indent="0" marL="0">
              <a:buNone/>
            </a:pPr>
            <a:r>
              <a:rPr lang="ja-JP" altLang="en-US" sz="1800" dirty="0">
                <a:solidFill>
                  <a:srgbClr val="1C1A1A"/>
                </a:solidFill>
                <a:latin typeface="Hiragino Mincho ProN" pitchFamily="34" charset="0"/>
                <a:ea typeface="Hiragino Mincho ProN" pitchFamily="34" charset="-128"/>
                <a:cs typeface="Hiragino Mincho ProN" pitchFamily="34" charset="-120"/>
              </a:rPr>
              <a:t>誰かに話してみる</a:t>
            </a:r>
            <a:endParaRPr lang="ja-JP" sz="1800" dirty="0"/>
          </a:p>
        </p:txBody>
      </p:sp>
      <p:sp>
        <p:nvSpPr>
          <p:cNvPr id="16" name="Text 12"/>
          <p:cNvSpPr txBox="1"/>
          <p:nvPr/>
        </p:nvSpPr>
        <p:spPr>
          <a:xfrm>
            <a:off x="4526280" y="4480560"/>
            <a:ext cx="3154680" cy="731520"/>
          </a:xfrm>
          <a:prstGeom prst="rect">
            <a:avLst/>
          </a:prstGeom>
          <a:noFill/>
          <a:ln/>
        </p:spPr>
        <p:txBody>
          <a:bodyPr wrap="square" lIns="0" tIns="0" rIns="0" bIns="0" rtlCol="0" anchor="t"/>
          <a:lstStyle/>
          <a:p>
            <a:pPr indent="0" marL="0">
              <a:lnSpc>
                <a:spcPct val="115000"/>
              </a:lnSpc>
              <a:buNone/>
            </a:pPr>
            <a:r>
              <a:rPr lang="ja-JP" altLang="en-US" sz="1250" dirty="0">
                <a:solidFill>
                  <a:srgbClr val="1C1A1A"/>
                </a:solidFill>
                <a:latin typeface="Hiragino Kaku Gothic ProN" pitchFamily="34" charset="0"/>
                <a:ea typeface="Hiragino Kaku Gothic ProN" pitchFamily="34" charset="-128"/>
                <a:cs typeface="Hiragino Kaku Gothic ProN" pitchFamily="34" charset="-120"/>
              </a:rPr>
              <a:t>書いた使命を、明日会う一人に話す。反応を見るほど、言葉は磨かれていく。</a:t>
            </a:r>
            <a:endParaRPr lang="ja-JP" sz="1250" dirty="0"/>
          </a:p>
        </p:txBody>
      </p:sp>
      <p:sp>
        <p:nvSpPr>
          <p:cNvPr id="17" name="stair"/>
          <p:cNvSpPr/>
          <p:nvPr/>
        </p:nvSpPr>
        <p:spPr>
          <a:xfrm>
            <a:off x="8046720" y="2926080"/>
            <a:ext cx="3593592" cy="2834640"/>
          </a:xfrm>
          <a:prstGeom prst="rect">
            <a:avLst/>
          </a:prstGeom>
          <a:solidFill>
            <a:srgbClr val="B8432F"/>
          </a:solidFill>
          <a:ln/>
        </p:spPr>
      </p:sp>
      <p:sp>
        <p:nvSpPr>
          <p:cNvPr id="18" name="icon-bg"/>
          <p:cNvSpPr/>
          <p:nvPr/>
        </p:nvSpPr>
        <p:spPr>
          <a:xfrm>
            <a:off x="8046720" y="2057400"/>
            <a:ext cx="685800" cy="685800"/>
          </a:xfrm>
          <a:prstGeom prst="ellipse">
            <a:avLst/>
          </a:prstGeom>
          <a:solidFill>
            <a:srgbClr val="B8432F"/>
          </a:solidFill>
          <a:ln/>
        </p:spPr>
      </p:sp>
      <p:pic>
        <p:nvPicPr>
          <p:cNvPr id="19" name="Image 2" descr="preencoded.png">    </p:cNvPr>
          <p:cNvPicPr>
            <a:picLocks noChangeAspect="1"/>
          </p:cNvPicPr>
          <p:nvPr/>
        </p:nvPicPr>
        <p:blipFill>
          <a:blip r:embed="rId3"/>
          <a:stretch>
            <a:fillRect/>
          </a:stretch>
        </p:blipFill>
        <p:spPr>
          <a:xfrm>
            <a:off x="8225028" y="2235708"/>
            <a:ext cx="329184" cy="329184"/>
          </a:xfrm>
          <a:prstGeom prst="rect">
            <a:avLst/>
          </a:prstGeom>
        </p:spPr>
      </p:pic>
      <p:sp>
        <p:nvSpPr>
          <p:cNvPr id="20" name="Text 15"/>
          <p:cNvSpPr txBox="1"/>
          <p:nvPr/>
        </p:nvSpPr>
        <p:spPr>
          <a:xfrm>
            <a:off x="8275320" y="3127248"/>
            <a:ext cx="3108960" cy="274320"/>
          </a:xfrm>
          <a:prstGeom prst="rect">
            <a:avLst/>
          </a:prstGeom>
          <a:noFill/>
          <a:ln/>
        </p:spPr>
        <p:txBody>
          <a:bodyPr wrap="square" lIns="0" tIns="0" rIns="0" bIns="0" rtlCol="0" anchor="t"/>
          <a:lstStyle/>
          <a:p>
            <a:pPr indent="0" marL="0">
              <a:buNone/>
            </a:pPr>
            <a:r>
              <a:rPr lang="ja-JP" altLang="en-US" sz="1100" b="1" spc="300" kern="0" dirty="0">
                <a:solidFill>
                  <a:srgbClr val="FFFFFF"/>
                </a:solidFill>
                <a:latin typeface="Hiragino Kaku Gothic ProN" pitchFamily="34" charset="0"/>
                <a:ea typeface="Hiragino Kaku Gothic ProN" pitchFamily="34" charset="-128"/>
                <a:cs typeface="Hiragino Kaku Gothic ProN" pitchFamily="34" charset="-120"/>
              </a:rPr>
              <a:t>STEP 3</a:t>
            </a:r>
            <a:endParaRPr lang="ja-JP" sz="1100" dirty="0"/>
          </a:p>
        </p:txBody>
      </p:sp>
      <p:sp>
        <p:nvSpPr>
          <p:cNvPr id="21" name="Text 16"/>
          <p:cNvSpPr txBox="1"/>
          <p:nvPr/>
        </p:nvSpPr>
        <p:spPr>
          <a:xfrm>
            <a:off x="8275320" y="3429000"/>
            <a:ext cx="3200400" cy="411480"/>
          </a:xfrm>
          <a:prstGeom prst="rect">
            <a:avLst/>
          </a:prstGeom>
          <a:noFill/>
          <a:ln/>
        </p:spPr>
        <p:txBody>
          <a:bodyPr wrap="square" lIns="0" tIns="0" rIns="0" bIns="0" rtlCol="0" anchor="t"/>
          <a:lstStyle/>
          <a:p>
            <a:pPr indent="0" marL="0">
              <a:buNone/>
            </a:pPr>
            <a:r>
              <a:rPr lang="ja-JP" altLang="en-US" sz="1800" dirty="0">
                <a:solidFill>
                  <a:srgbClr val="FFFFFF"/>
                </a:solidFill>
                <a:latin typeface="Hiragino Mincho ProN" pitchFamily="34" charset="0"/>
                <a:ea typeface="Hiragino Mincho ProN" pitchFamily="34" charset="-128"/>
                <a:cs typeface="Hiragino Mincho ProN" pitchFamily="34" charset="-120"/>
              </a:rPr>
              <a:t>発信の場を一つ決める</a:t>
            </a:r>
            <a:endParaRPr lang="ja-JP" sz="1800" dirty="0"/>
          </a:p>
        </p:txBody>
      </p:sp>
      <p:sp>
        <p:nvSpPr>
          <p:cNvPr id="22" name="Text 17"/>
          <p:cNvSpPr txBox="1"/>
          <p:nvPr/>
        </p:nvSpPr>
        <p:spPr>
          <a:xfrm>
            <a:off x="8275320" y="3886200"/>
            <a:ext cx="3154680" cy="731520"/>
          </a:xfrm>
          <a:prstGeom prst="rect">
            <a:avLst/>
          </a:prstGeom>
          <a:noFill/>
          <a:ln/>
        </p:spPr>
        <p:txBody>
          <a:bodyPr wrap="square" lIns="0" tIns="0" rIns="0" bIns="0" rtlCol="0" anchor="t"/>
          <a:lstStyle/>
          <a:p>
            <a:pPr indent="0" marL="0">
              <a:lnSpc>
                <a:spcPct val="115000"/>
              </a:lnSpc>
              <a:buNone/>
            </a:pPr>
            <a:r>
              <a:rPr lang="ja-JP" altLang="en-US" sz="1250" dirty="0">
                <a:solidFill>
                  <a:srgbClr val="FFFFFF"/>
                </a:solidFill>
                <a:latin typeface="Hiragino Kaku Gothic ProN" pitchFamily="34" charset="0"/>
                <a:ea typeface="Hiragino Kaku Gothic ProN" pitchFamily="34" charset="-128"/>
                <a:cs typeface="Hiragino Kaku Gothic ProN" pitchFamily="34" charset="-120"/>
              </a:rPr>
              <a:t>メルマガ、SNS、セミナー、紹介依頼。どれか一つを今週中に実行する。</a:t>
            </a:r>
            <a:endParaRPr lang="ja-JP" sz="1250" dirty="0"/>
          </a:p>
        </p:txBody>
      </p:sp>
      <p:sp>
        <p:nvSpPr>
          <p:cNvPr id="23" name="Text 18"/>
          <p:cNvSpPr txBox="1"/>
          <p:nvPr/>
        </p:nvSpPr>
        <p:spPr>
          <a:xfrm>
            <a:off x="548640" y="5897880"/>
            <a:ext cx="11064240" cy="365760"/>
          </a:xfrm>
          <a:prstGeom prst="rect">
            <a:avLst/>
          </a:prstGeom>
          <a:noFill/>
          <a:ln/>
        </p:spPr>
        <p:txBody>
          <a:bodyPr wrap="square" lIns="0" tIns="0" rIns="0" bIns="0" rtlCol="0" anchor="t"/>
          <a:lstStyle/>
          <a:p>
            <a:pPr indent="0" marL="0">
              <a:buNone/>
            </a:pPr>
            <a:r>
              <a:rPr lang="ja-JP" altLang="en-US" sz="1600" dirty="0">
                <a:solidFill>
                  <a:srgbClr val="B8432F"/>
                </a:solidFill>
                <a:latin typeface="Hiragino Mincho ProN" pitchFamily="34" charset="0"/>
                <a:ea typeface="Hiragino Mincho ProN" pitchFamily="34" charset="-128"/>
                <a:cs typeface="Hiragino Mincho ProN" pitchFamily="34" charset="-120"/>
              </a:rPr>
              <a:t>お客様を追いかけるのをやめた瞬間、あなたのブランドが動き始めます。</a:t>
            </a:r>
            <a:endParaRPr lang="ja-JP"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77240" y="347472"/>
            <a:ext cx="6858000" cy="274320"/>
          </a:xfrm>
          <a:prstGeom prst="rect">
            <a:avLst/>
          </a:prstGeom>
          <a:noFill/>
          <a:ln/>
        </p:spPr>
        <p:txBody>
          <a:bodyPr wrap="square" lIns="0" tIns="0" rIns="0" bIns="0" rtlCol="0" anchor="ctr"/>
          <a:lstStyle/>
          <a:p>
            <a:pPr indent="0" marL="0">
              <a:buNone/>
            </a:pPr>
            <a:r>
              <a:rPr lang="en-US" sz="1100" b="1" spc="200" kern="0" dirty="0">
                <a:solidFill>
                  <a:srgbClr val="B8432F"/>
                </a:solidFill>
                <a:latin typeface="Hiragino Kaku Gothic ProN" pitchFamily="34" charset="0"/>
                <a:ea typeface="Hiragino Kaku Gothic ProN" pitchFamily="34" charset="-128"/>
                <a:cs typeface="Hiragino Kaku Gothic ProN" pitchFamily="34" charset="-120"/>
              </a:rPr>
              <a:t>WORKSHEET 05 ｜ ACTION</a:t>
            </a:r>
            <a:endParaRPr lang="en-US" sz="1100" dirty="0"/>
          </a:p>
        </p:txBody>
      </p:sp>
      <p:sp>
        <p:nvSpPr>
          <p:cNvPr id="3" name="Text 0"/>
          <p:cNvSpPr/>
          <p:nvPr>
            <p:ph idx="101" type="title" hasCustomPrompt="1"/>
          </p:nvPr>
        </p:nvSpPr>
        <p:spPr>
          <a:xfrm>
            <a:off x="548640" y="658368"/>
            <a:ext cx="7680960" cy="731520"/>
          </a:xfrm>
          <a:prstGeom prst="rect">
            <a:avLst/>
          </a:prstGeom>
          <a:noFill/>
          <a:ln/>
        </p:spPr>
        <p:txBody>
          <a:bodyPr wrap="square" lIns="0" tIns="0" rIns="0" bIns="0" rtlCol="0" anchor="ctr"/>
          <a:lstStyle/>
          <a:p>
            <a:pPr algn="l" indent="0" marL="0">
              <a:buNone/>
            </a:pPr>
            <a:r>
              <a:rPr lang="en-US" sz="3000" dirty="0">
                <a:solidFill>
                  <a:srgbClr val="1C1A1A"/>
                </a:solidFill>
                <a:latin typeface="Hiragino Mincho ProN" pitchFamily="34" charset="0"/>
                <a:ea typeface="Hiragino Mincho ProN" pitchFamily="34" charset="-128"/>
                <a:cs typeface="Hiragino Mincho ProN" pitchFamily="34" charset="-120"/>
              </a:rPr>
              <a:t>明日からの行動宣言</a:t>
            </a:r>
            <a:endParaRPr lang="en-US" sz="3000" dirty="0"/>
          </a:p>
        </p:txBody>
      </p:sp>
      <p:sp>
        <p:nvSpPr>
          <p:cNvPr id="4" name="field"/>
          <p:cNvSpPr/>
          <p:nvPr/>
        </p:nvSpPr>
        <p:spPr>
          <a:xfrm>
            <a:off x="548640" y="1600200"/>
            <a:ext cx="11091672" cy="1188720"/>
          </a:xfrm>
          <a:prstGeom prst="rect">
            <a:avLst/>
          </a:prstGeom>
          <a:solidFill>
            <a:srgbClr val="FFFFFF"/>
          </a:solidFill>
          <a:ln w="9525">
            <a:solidFill>
              <a:srgbClr val="D9D2CC"/>
            </a:solidFill>
            <a:prstDash val="solid"/>
          </a:ln>
        </p:spPr>
      </p:sp>
      <p:sp>
        <p:nvSpPr>
          <p:cNvPr id="5" name="Text 3"/>
          <p:cNvSpPr txBox="1"/>
          <p:nvPr/>
        </p:nvSpPr>
        <p:spPr>
          <a:xfrm>
            <a:off x="777240" y="1828800"/>
            <a:ext cx="1828800" cy="274320"/>
          </a:xfrm>
          <a:prstGeom prst="rect">
            <a:avLst/>
          </a:prstGeom>
          <a:noFill/>
          <a:ln/>
        </p:spPr>
        <p:txBody>
          <a:bodyPr wrap="square" lIns="0" tIns="0" rIns="0" bIns="0" rtlCol="0" anchor="t"/>
          <a:lstStyle/>
          <a:p>
            <a:pPr indent="0" marL="0">
              <a:buNone/>
            </a:pPr>
            <a:r>
              <a:rPr lang="ja-JP" altLang="en-US" sz="1100" b="1" spc="300" kern="0" dirty="0">
                <a:solidFill>
                  <a:srgbClr val="B8432F"/>
                </a:solidFill>
                <a:latin typeface="Hiragino Kaku Gothic ProN" pitchFamily="34" charset="0"/>
                <a:ea typeface="Hiragino Kaku Gothic ProN" pitchFamily="34" charset="-128"/>
                <a:cs typeface="Hiragino Kaku Gothic ProN" pitchFamily="34" charset="-120"/>
              </a:rPr>
              <a:t>STEP 1</a:t>
            </a:r>
            <a:endParaRPr lang="ja-JP" sz="1100" dirty="0"/>
          </a:p>
        </p:txBody>
      </p:sp>
      <p:sp>
        <p:nvSpPr>
          <p:cNvPr id="6" name="Text 4"/>
          <p:cNvSpPr txBox="1"/>
          <p:nvPr/>
        </p:nvSpPr>
        <p:spPr>
          <a:xfrm>
            <a:off x="777240" y="2148840"/>
            <a:ext cx="2377440" cy="411480"/>
          </a:xfrm>
          <a:prstGeom prst="rect">
            <a:avLst/>
          </a:prstGeom>
          <a:noFill/>
          <a:ln/>
        </p:spPr>
        <p:txBody>
          <a:bodyPr wrap="square" lIns="0" tIns="0" rIns="0" bIns="0" rtlCol="0" anchor="t"/>
          <a:lstStyle/>
          <a:p>
            <a:pPr indent="0" marL="0">
              <a:buNone/>
            </a:pPr>
            <a:r>
              <a:rPr lang="ja-JP" altLang="en-US" sz="1600" dirty="0">
                <a:solidFill>
                  <a:srgbClr val="1C1A1A"/>
                </a:solidFill>
                <a:latin typeface="Hiragino Mincho ProN" pitchFamily="34" charset="0"/>
                <a:ea typeface="Hiragino Mincho ProN" pitchFamily="34" charset="-128"/>
                <a:cs typeface="Hiragino Mincho ProN" pitchFamily="34" charset="-120"/>
              </a:rPr>
              <a:t>使命を一文で書く</a:t>
            </a:r>
            <a:endParaRPr lang="ja-JP" sz="1600" dirty="0"/>
          </a:p>
        </p:txBody>
      </p:sp>
      <p:sp>
        <p:nvSpPr>
          <p:cNvPr id="7" name="Text 5"/>
          <p:cNvSpPr txBox="1"/>
          <p:nvPr/>
        </p:nvSpPr>
        <p:spPr>
          <a:xfrm>
            <a:off x="3108960" y="1874520"/>
            <a:ext cx="7772400" cy="274320"/>
          </a:xfrm>
          <a:prstGeom prst="rect">
            <a:avLst/>
          </a:prstGeom>
          <a:noFill/>
          <a:ln/>
        </p:spPr>
        <p:txBody>
          <a:bodyPr wrap="square" lIns="0" tIns="0" rIns="0" bIns="0" rtlCol="0" anchor="t"/>
          <a:lstStyle/>
          <a:p>
            <a:pPr indent="0" marL="0">
              <a:buNone/>
            </a:pPr>
            <a:r>
              <a:rPr lang="ja-JP" altLang="en-US" sz="1100" dirty="0">
                <a:solidFill>
                  <a:srgbClr val="8A8380"/>
                </a:solidFill>
                <a:latin typeface="Hiragino Kaku Gothic ProN" pitchFamily="34" charset="0"/>
                <a:ea typeface="Hiragino Kaku Gothic ProN" pitchFamily="34" charset="-128"/>
                <a:cs typeface="Hiragino Kaku Gothic ProN" pitchFamily="34" charset="-120"/>
              </a:rPr>
              <a:t>私の使命</a:t>
            </a:r>
            <a:endParaRPr lang="ja-JP" sz="1100" dirty="0"/>
          </a:p>
        </p:txBody>
      </p:sp>
      <p:sp>
        <p:nvSpPr>
          <p:cNvPr id="8" name="Shape 6"/>
          <p:cNvSpPr/>
          <p:nvPr/>
        </p:nvSpPr>
        <p:spPr>
          <a:xfrm>
            <a:off x="3108960" y="2514600"/>
            <a:ext cx="7498080" cy="0"/>
          </a:xfrm>
          <a:prstGeom prst="line">
            <a:avLst/>
          </a:prstGeom>
          <a:noFill/>
          <a:ln w="9525">
            <a:solidFill>
              <a:srgbClr val="1C1A1A"/>
            </a:solidFill>
            <a:prstDash val="solid"/>
          </a:ln>
        </p:spPr>
      </p:sp>
      <p:sp>
        <p:nvSpPr>
          <p:cNvPr id="9" name="checkbox"/>
          <p:cNvSpPr/>
          <p:nvPr/>
        </p:nvSpPr>
        <p:spPr>
          <a:xfrm>
            <a:off x="11064240" y="2057400"/>
            <a:ext cx="292608" cy="292608"/>
          </a:xfrm>
          <a:prstGeom prst="rect">
            <a:avLst/>
          </a:prstGeom>
          <a:solidFill>
            <a:srgbClr val="FFFFFF"/>
          </a:solidFill>
          <a:ln w="12700">
            <a:solidFill>
              <a:srgbClr val="1C1A1A"/>
            </a:solidFill>
            <a:prstDash val="solid"/>
          </a:ln>
        </p:spPr>
      </p:sp>
      <p:sp>
        <p:nvSpPr>
          <p:cNvPr id="10" name="Text 8"/>
          <p:cNvSpPr txBox="1"/>
          <p:nvPr/>
        </p:nvSpPr>
        <p:spPr>
          <a:xfrm>
            <a:off x="10927080" y="2404872"/>
            <a:ext cx="566928" cy="228600"/>
          </a:xfrm>
          <a:prstGeom prst="rect">
            <a:avLst/>
          </a:prstGeom>
          <a:noFill/>
          <a:ln/>
        </p:spPr>
        <p:txBody>
          <a:bodyPr wrap="square" lIns="0" tIns="0" rIns="0" bIns="0" rtlCol="0" anchor="t"/>
          <a:lstStyle/>
          <a:p>
            <a:pPr algn="ctr" indent="0" marL="0">
              <a:buNone/>
            </a:pPr>
            <a:r>
              <a:rPr lang="ja-JP" altLang="en-US" sz="1000" dirty="0">
                <a:solidFill>
                  <a:srgbClr val="8A8380"/>
                </a:solidFill>
                <a:latin typeface="Hiragino Kaku Gothic ProN" pitchFamily="34" charset="0"/>
                <a:ea typeface="Hiragino Kaku Gothic ProN" pitchFamily="34" charset="-128"/>
                <a:cs typeface="Hiragino Kaku Gothic ProN" pitchFamily="34" charset="-120"/>
              </a:rPr>
              <a:t>完了</a:t>
            </a:r>
            <a:endParaRPr lang="ja-JP" sz="1000" dirty="0"/>
          </a:p>
        </p:txBody>
      </p:sp>
      <p:sp>
        <p:nvSpPr>
          <p:cNvPr id="11" name="field"/>
          <p:cNvSpPr/>
          <p:nvPr/>
        </p:nvSpPr>
        <p:spPr>
          <a:xfrm>
            <a:off x="548640" y="2971800"/>
            <a:ext cx="11091672" cy="1188720"/>
          </a:xfrm>
          <a:prstGeom prst="rect">
            <a:avLst/>
          </a:prstGeom>
          <a:solidFill>
            <a:srgbClr val="FFFFFF"/>
          </a:solidFill>
          <a:ln w="9525">
            <a:solidFill>
              <a:srgbClr val="D9D2CC"/>
            </a:solidFill>
            <a:prstDash val="solid"/>
          </a:ln>
        </p:spPr>
      </p:sp>
      <p:sp>
        <p:nvSpPr>
          <p:cNvPr id="12" name="Text 10"/>
          <p:cNvSpPr txBox="1"/>
          <p:nvPr/>
        </p:nvSpPr>
        <p:spPr>
          <a:xfrm>
            <a:off x="777240" y="3200400"/>
            <a:ext cx="1828800" cy="274320"/>
          </a:xfrm>
          <a:prstGeom prst="rect">
            <a:avLst/>
          </a:prstGeom>
          <a:noFill/>
          <a:ln/>
        </p:spPr>
        <p:txBody>
          <a:bodyPr wrap="square" lIns="0" tIns="0" rIns="0" bIns="0" rtlCol="0" anchor="t"/>
          <a:lstStyle/>
          <a:p>
            <a:pPr indent="0" marL="0">
              <a:buNone/>
            </a:pPr>
            <a:r>
              <a:rPr lang="ja-JP" altLang="en-US" sz="1100" b="1" spc="300" kern="0" dirty="0">
                <a:solidFill>
                  <a:srgbClr val="B8432F"/>
                </a:solidFill>
                <a:latin typeface="Hiragino Kaku Gothic ProN" pitchFamily="34" charset="0"/>
                <a:ea typeface="Hiragino Kaku Gothic ProN" pitchFamily="34" charset="-128"/>
                <a:cs typeface="Hiragino Kaku Gothic ProN" pitchFamily="34" charset="-120"/>
              </a:rPr>
              <a:t>STEP 2</a:t>
            </a:r>
            <a:endParaRPr lang="ja-JP" sz="1100" dirty="0"/>
          </a:p>
        </p:txBody>
      </p:sp>
      <p:sp>
        <p:nvSpPr>
          <p:cNvPr id="13" name="Text 11"/>
          <p:cNvSpPr txBox="1"/>
          <p:nvPr/>
        </p:nvSpPr>
        <p:spPr>
          <a:xfrm>
            <a:off x="777240" y="3520440"/>
            <a:ext cx="2377440" cy="411480"/>
          </a:xfrm>
          <a:prstGeom prst="rect">
            <a:avLst/>
          </a:prstGeom>
          <a:noFill/>
          <a:ln/>
        </p:spPr>
        <p:txBody>
          <a:bodyPr wrap="square" lIns="0" tIns="0" rIns="0" bIns="0" rtlCol="0" anchor="t"/>
          <a:lstStyle/>
          <a:p>
            <a:pPr indent="0" marL="0">
              <a:buNone/>
            </a:pPr>
            <a:r>
              <a:rPr lang="ja-JP" altLang="en-US" sz="1600" dirty="0">
                <a:solidFill>
                  <a:srgbClr val="1C1A1A"/>
                </a:solidFill>
                <a:latin typeface="Hiragino Mincho ProN" pitchFamily="34" charset="0"/>
                <a:ea typeface="Hiragino Mincho ProN" pitchFamily="34" charset="-128"/>
                <a:cs typeface="Hiragino Mincho ProN" pitchFamily="34" charset="-120"/>
              </a:rPr>
              <a:t>誰かに話してみる</a:t>
            </a:r>
            <a:endParaRPr lang="ja-JP" sz="1600" dirty="0"/>
          </a:p>
        </p:txBody>
      </p:sp>
      <p:sp>
        <p:nvSpPr>
          <p:cNvPr id="14" name="Text 12"/>
          <p:cNvSpPr txBox="1"/>
          <p:nvPr/>
        </p:nvSpPr>
        <p:spPr>
          <a:xfrm>
            <a:off x="3108960" y="3246120"/>
            <a:ext cx="4023360" cy="274320"/>
          </a:xfrm>
          <a:prstGeom prst="rect">
            <a:avLst/>
          </a:prstGeom>
          <a:noFill/>
          <a:ln/>
        </p:spPr>
        <p:txBody>
          <a:bodyPr wrap="square" lIns="0" tIns="0" rIns="0" bIns="0" rtlCol="0" anchor="t"/>
          <a:lstStyle/>
          <a:p>
            <a:pPr indent="0" marL="0">
              <a:buNone/>
            </a:pPr>
            <a:r>
              <a:rPr lang="ja-JP" altLang="en-US" sz="1100" dirty="0">
                <a:solidFill>
                  <a:srgbClr val="8A8380"/>
                </a:solidFill>
                <a:latin typeface="Hiragino Kaku Gothic ProN" pitchFamily="34" charset="0"/>
                <a:ea typeface="Hiragino Kaku Gothic ProN" pitchFamily="34" charset="-128"/>
                <a:cs typeface="Hiragino Kaku Gothic ProN" pitchFamily="34" charset="-120"/>
              </a:rPr>
              <a:t>誰に</a:t>
            </a:r>
            <a:endParaRPr lang="ja-JP" sz="1100" dirty="0"/>
          </a:p>
        </p:txBody>
      </p:sp>
      <p:sp>
        <p:nvSpPr>
          <p:cNvPr id="15" name="Shape 13"/>
          <p:cNvSpPr/>
          <p:nvPr/>
        </p:nvSpPr>
        <p:spPr>
          <a:xfrm>
            <a:off x="3108960" y="3886200"/>
            <a:ext cx="3749040" cy="0"/>
          </a:xfrm>
          <a:prstGeom prst="line">
            <a:avLst/>
          </a:prstGeom>
          <a:noFill/>
          <a:ln w="9525">
            <a:solidFill>
              <a:srgbClr val="1C1A1A"/>
            </a:solidFill>
            <a:prstDash val="solid"/>
          </a:ln>
        </p:spPr>
      </p:sp>
      <p:sp>
        <p:nvSpPr>
          <p:cNvPr id="16" name="Text 14"/>
          <p:cNvSpPr txBox="1"/>
          <p:nvPr/>
        </p:nvSpPr>
        <p:spPr>
          <a:xfrm>
            <a:off x="7132320" y="3246120"/>
            <a:ext cx="3749040" cy="274320"/>
          </a:xfrm>
          <a:prstGeom prst="rect">
            <a:avLst/>
          </a:prstGeom>
          <a:noFill/>
          <a:ln/>
        </p:spPr>
        <p:txBody>
          <a:bodyPr wrap="square" lIns="0" tIns="0" rIns="0" bIns="0" rtlCol="0" anchor="t"/>
          <a:lstStyle/>
          <a:p>
            <a:pPr indent="0" marL="0">
              <a:buNone/>
            </a:pPr>
            <a:r>
              <a:rPr lang="ja-JP" altLang="en-US" sz="1100" dirty="0">
                <a:solidFill>
                  <a:srgbClr val="8A8380"/>
                </a:solidFill>
                <a:latin typeface="Hiragino Kaku Gothic ProN" pitchFamily="34" charset="0"/>
                <a:ea typeface="Hiragino Kaku Gothic ProN" pitchFamily="34" charset="-128"/>
                <a:cs typeface="Hiragino Kaku Gothic ProN" pitchFamily="34" charset="-120"/>
              </a:rPr>
              <a:t>いつ</a:t>
            </a:r>
            <a:endParaRPr lang="ja-JP" sz="1100" dirty="0"/>
          </a:p>
        </p:txBody>
      </p:sp>
      <p:sp>
        <p:nvSpPr>
          <p:cNvPr id="17" name="Shape 15"/>
          <p:cNvSpPr/>
          <p:nvPr/>
        </p:nvSpPr>
        <p:spPr>
          <a:xfrm>
            <a:off x="7132320" y="3886200"/>
            <a:ext cx="3474720" cy="0"/>
          </a:xfrm>
          <a:prstGeom prst="line">
            <a:avLst/>
          </a:prstGeom>
          <a:noFill/>
          <a:ln w="9525">
            <a:solidFill>
              <a:srgbClr val="1C1A1A"/>
            </a:solidFill>
            <a:prstDash val="solid"/>
          </a:ln>
        </p:spPr>
      </p:sp>
      <p:sp>
        <p:nvSpPr>
          <p:cNvPr id="18" name="checkbox"/>
          <p:cNvSpPr/>
          <p:nvPr/>
        </p:nvSpPr>
        <p:spPr>
          <a:xfrm>
            <a:off x="11064240" y="3429000"/>
            <a:ext cx="292608" cy="292608"/>
          </a:xfrm>
          <a:prstGeom prst="rect">
            <a:avLst/>
          </a:prstGeom>
          <a:solidFill>
            <a:srgbClr val="FFFFFF"/>
          </a:solidFill>
          <a:ln w="12700">
            <a:solidFill>
              <a:srgbClr val="1C1A1A"/>
            </a:solidFill>
            <a:prstDash val="solid"/>
          </a:ln>
        </p:spPr>
      </p:sp>
      <p:sp>
        <p:nvSpPr>
          <p:cNvPr id="19" name="Text 17"/>
          <p:cNvSpPr txBox="1"/>
          <p:nvPr/>
        </p:nvSpPr>
        <p:spPr>
          <a:xfrm>
            <a:off x="10927080" y="3776472"/>
            <a:ext cx="566928" cy="228600"/>
          </a:xfrm>
          <a:prstGeom prst="rect">
            <a:avLst/>
          </a:prstGeom>
          <a:noFill/>
          <a:ln/>
        </p:spPr>
        <p:txBody>
          <a:bodyPr wrap="square" lIns="0" tIns="0" rIns="0" bIns="0" rtlCol="0" anchor="t"/>
          <a:lstStyle/>
          <a:p>
            <a:pPr algn="ctr" indent="0" marL="0">
              <a:buNone/>
            </a:pPr>
            <a:r>
              <a:rPr lang="ja-JP" altLang="en-US" sz="1000" dirty="0">
                <a:solidFill>
                  <a:srgbClr val="8A8380"/>
                </a:solidFill>
                <a:latin typeface="Hiragino Kaku Gothic ProN" pitchFamily="34" charset="0"/>
                <a:ea typeface="Hiragino Kaku Gothic ProN" pitchFamily="34" charset="-128"/>
                <a:cs typeface="Hiragino Kaku Gothic ProN" pitchFamily="34" charset="-120"/>
              </a:rPr>
              <a:t>完了</a:t>
            </a:r>
            <a:endParaRPr lang="ja-JP" sz="1000" dirty="0"/>
          </a:p>
        </p:txBody>
      </p:sp>
      <p:sp>
        <p:nvSpPr>
          <p:cNvPr id="20" name="field"/>
          <p:cNvSpPr/>
          <p:nvPr/>
        </p:nvSpPr>
        <p:spPr>
          <a:xfrm>
            <a:off x="548640" y="4343400"/>
            <a:ext cx="11091672" cy="1188720"/>
          </a:xfrm>
          <a:prstGeom prst="rect">
            <a:avLst/>
          </a:prstGeom>
          <a:solidFill>
            <a:srgbClr val="FBEDEA"/>
          </a:solidFill>
          <a:ln w="9525">
            <a:solidFill>
              <a:srgbClr val="EBCFC8"/>
            </a:solidFill>
            <a:prstDash val="solid"/>
          </a:ln>
        </p:spPr>
      </p:sp>
      <p:sp>
        <p:nvSpPr>
          <p:cNvPr id="21" name="Text 19"/>
          <p:cNvSpPr txBox="1"/>
          <p:nvPr/>
        </p:nvSpPr>
        <p:spPr>
          <a:xfrm>
            <a:off x="777240" y="4572000"/>
            <a:ext cx="1828800" cy="274320"/>
          </a:xfrm>
          <a:prstGeom prst="rect">
            <a:avLst/>
          </a:prstGeom>
          <a:noFill/>
          <a:ln/>
        </p:spPr>
        <p:txBody>
          <a:bodyPr wrap="square" lIns="0" tIns="0" rIns="0" bIns="0" rtlCol="0" anchor="t"/>
          <a:lstStyle/>
          <a:p>
            <a:pPr indent="0" marL="0">
              <a:buNone/>
            </a:pPr>
            <a:r>
              <a:rPr lang="ja-JP" altLang="en-US" sz="1100" b="1" spc="300" kern="0" dirty="0">
                <a:solidFill>
                  <a:srgbClr val="B8432F"/>
                </a:solidFill>
                <a:latin typeface="Hiragino Kaku Gothic ProN" pitchFamily="34" charset="0"/>
                <a:ea typeface="Hiragino Kaku Gothic ProN" pitchFamily="34" charset="-128"/>
                <a:cs typeface="Hiragino Kaku Gothic ProN" pitchFamily="34" charset="-120"/>
              </a:rPr>
              <a:t>STEP 3</a:t>
            </a:r>
            <a:endParaRPr lang="ja-JP" sz="1100" dirty="0"/>
          </a:p>
        </p:txBody>
      </p:sp>
      <p:sp>
        <p:nvSpPr>
          <p:cNvPr id="22" name="Text 20"/>
          <p:cNvSpPr txBox="1"/>
          <p:nvPr/>
        </p:nvSpPr>
        <p:spPr>
          <a:xfrm>
            <a:off x="777240" y="4892040"/>
            <a:ext cx="2377440" cy="411480"/>
          </a:xfrm>
          <a:prstGeom prst="rect">
            <a:avLst/>
          </a:prstGeom>
          <a:noFill/>
          <a:ln/>
        </p:spPr>
        <p:txBody>
          <a:bodyPr wrap="square" lIns="0" tIns="0" rIns="0" bIns="0" rtlCol="0" anchor="t"/>
          <a:lstStyle/>
          <a:p>
            <a:pPr indent="0" marL="0">
              <a:buNone/>
            </a:pPr>
            <a:r>
              <a:rPr lang="ja-JP" altLang="en-US" sz="1600" dirty="0">
                <a:solidFill>
                  <a:srgbClr val="1C1A1A"/>
                </a:solidFill>
                <a:latin typeface="Hiragino Mincho ProN" pitchFamily="34" charset="0"/>
                <a:ea typeface="Hiragino Mincho ProN" pitchFamily="34" charset="-128"/>
                <a:cs typeface="Hiragino Mincho ProN" pitchFamily="34" charset="-120"/>
              </a:rPr>
              <a:t>発信の場を一つ決める</a:t>
            </a:r>
            <a:endParaRPr lang="ja-JP" sz="1600" dirty="0"/>
          </a:p>
        </p:txBody>
      </p:sp>
      <p:sp>
        <p:nvSpPr>
          <p:cNvPr id="23" name="Text 21"/>
          <p:cNvSpPr txBox="1"/>
          <p:nvPr/>
        </p:nvSpPr>
        <p:spPr>
          <a:xfrm>
            <a:off x="3108960" y="4617720"/>
            <a:ext cx="4023360" cy="274320"/>
          </a:xfrm>
          <a:prstGeom prst="rect">
            <a:avLst/>
          </a:prstGeom>
          <a:noFill/>
          <a:ln/>
        </p:spPr>
        <p:txBody>
          <a:bodyPr wrap="square" lIns="0" tIns="0" rIns="0" bIns="0" rtlCol="0" anchor="t"/>
          <a:lstStyle/>
          <a:p>
            <a:pPr indent="0" marL="0">
              <a:buNone/>
            </a:pPr>
            <a:r>
              <a:rPr lang="ja-JP" altLang="en-US" sz="1100" dirty="0">
                <a:solidFill>
                  <a:srgbClr val="8A8380"/>
                </a:solidFill>
                <a:latin typeface="Hiragino Kaku Gothic ProN" pitchFamily="34" charset="0"/>
                <a:ea typeface="Hiragino Kaku Gothic ProN" pitchFamily="34" charset="-128"/>
                <a:cs typeface="Hiragino Kaku Gothic ProN" pitchFamily="34" charset="-120"/>
              </a:rPr>
              <a:t>どこで</a:t>
            </a:r>
            <a:endParaRPr lang="ja-JP" sz="1100" dirty="0"/>
          </a:p>
        </p:txBody>
      </p:sp>
      <p:sp>
        <p:nvSpPr>
          <p:cNvPr id="24" name="Shape 22"/>
          <p:cNvSpPr/>
          <p:nvPr/>
        </p:nvSpPr>
        <p:spPr>
          <a:xfrm>
            <a:off x="3108960" y="5257800"/>
            <a:ext cx="3749040" cy="0"/>
          </a:xfrm>
          <a:prstGeom prst="line">
            <a:avLst/>
          </a:prstGeom>
          <a:noFill/>
          <a:ln w="9525">
            <a:solidFill>
              <a:srgbClr val="1C1A1A"/>
            </a:solidFill>
            <a:prstDash val="solid"/>
          </a:ln>
        </p:spPr>
      </p:sp>
      <p:sp>
        <p:nvSpPr>
          <p:cNvPr id="25" name="Text 23"/>
          <p:cNvSpPr txBox="1"/>
          <p:nvPr/>
        </p:nvSpPr>
        <p:spPr>
          <a:xfrm>
            <a:off x="7132320" y="4617720"/>
            <a:ext cx="3749040" cy="274320"/>
          </a:xfrm>
          <a:prstGeom prst="rect">
            <a:avLst/>
          </a:prstGeom>
          <a:noFill/>
          <a:ln/>
        </p:spPr>
        <p:txBody>
          <a:bodyPr wrap="square" lIns="0" tIns="0" rIns="0" bIns="0" rtlCol="0" anchor="t"/>
          <a:lstStyle/>
          <a:p>
            <a:pPr indent="0" marL="0">
              <a:buNone/>
            </a:pPr>
            <a:r>
              <a:rPr lang="ja-JP" altLang="en-US" sz="1100" dirty="0">
                <a:solidFill>
                  <a:srgbClr val="8A8380"/>
                </a:solidFill>
                <a:latin typeface="Hiragino Kaku Gothic ProN" pitchFamily="34" charset="0"/>
                <a:ea typeface="Hiragino Kaku Gothic ProN" pitchFamily="34" charset="-128"/>
                <a:cs typeface="Hiragino Kaku Gothic ProN" pitchFamily="34" charset="-120"/>
              </a:rPr>
              <a:t>実行日</a:t>
            </a:r>
            <a:endParaRPr lang="ja-JP" sz="1100" dirty="0"/>
          </a:p>
        </p:txBody>
      </p:sp>
      <p:sp>
        <p:nvSpPr>
          <p:cNvPr id="26" name="Shape 24"/>
          <p:cNvSpPr/>
          <p:nvPr/>
        </p:nvSpPr>
        <p:spPr>
          <a:xfrm>
            <a:off x="7132320" y="5257800"/>
            <a:ext cx="3474720" cy="0"/>
          </a:xfrm>
          <a:prstGeom prst="line">
            <a:avLst/>
          </a:prstGeom>
          <a:noFill/>
          <a:ln w="9525">
            <a:solidFill>
              <a:srgbClr val="1C1A1A"/>
            </a:solidFill>
            <a:prstDash val="solid"/>
          </a:ln>
        </p:spPr>
      </p:sp>
      <p:sp>
        <p:nvSpPr>
          <p:cNvPr id="27" name="checkbox"/>
          <p:cNvSpPr/>
          <p:nvPr/>
        </p:nvSpPr>
        <p:spPr>
          <a:xfrm>
            <a:off x="11064240" y="4800600"/>
            <a:ext cx="292608" cy="292608"/>
          </a:xfrm>
          <a:prstGeom prst="rect">
            <a:avLst/>
          </a:prstGeom>
          <a:solidFill>
            <a:srgbClr val="FFFFFF"/>
          </a:solidFill>
          <a:ln w="12700">
            <a:solidFill>
              <a:srgbClr val="1C1A1A"/>
            </a:solidFill>
            <a:prstDash val="solid"/>
          </a:ln>
        </p:spPr>
      </p:sp>
      <p:sp>
        <p:nvSpPr>
          <p:cNvPr id="28" name="Text 26"/>
          <p:cNvSpPr txBox="1"/>
          <p:nvPr/>
        </p:nvSpPr>
        <p:spPr>
          <a:xfrm>
            <a:off x="10927080" y="5148072"/>
            <a:ext cx="566928" cy="228600"/>
          </a:xfrm>
          <a:prstGeom prst="rect">
            <a:avLst/>
          </a:prstGeom>
          <a:noFill/>
          <a:ln/>
        </p:spPr>
        <p:txBody>
          <a:bodyPr wrap="square" lIns="0" tIns="0" rIns="0" bIns="0" rtlCol="0" anchor="t"/>
          <a:lstStyle/>
          <a:p>
            <a:pPr algn="ctr" indent="0" marL="0">
              <a:buNone/>
            </a:pPr>
            <a:r>
              <a:rPr lang="ja-JP" altLang="en-US" sz="1000" dirty="0">
                <a:solidFill>
                  <a:srgbClr val="8A8380"/>
                </a:solidFill>
                <a:latin typeface="Hiragino Kaku Gothic ProN" pitchFamily="34" charset="0"/>
                <a:ea typeface="Hiragino Kaku Gothic ProN" pitchFamily="34" charset="-128"/>
                <a:cs typeface="Hiragino Kaku Gothic ProN" pitchFamily="34" charset="-120"/>
              </a:rPr>
              <a:t>完了</a:t>
            </a:r>
            <a:endParaRPr lang="ja-JP" sz="1000" dirty="0"/>
          </a:p>
        </p:txBody>
      </p:sp>
      <p:sp>
        <p:nvSpPr>
          <p:cNvPr id="29" name="Text 27"/>
          <p:cNvSpPr txBox="1"/>
          <p:nvPr/>
        </p:nvSpPr>
        <p:spPr>
          <a:xfrm>
            <a:off x="548640" y="5760720"/>
            <a:ext cx="7315200" cy="365760"/>
          </a:xfrm>
          <a:prstGeom prst="rect">
            <a:avLst/>
          </a:prstGeom>
          <a:noFill/>
          <a:ln/>
        </p:spPr>
        <p:txBody>
          <a:bodyPr wrap="square" lIns="0" tIns="0" rIns="0" bIns="0" rtlCol="0" anchor="ctr"/>
          <a:lstStyle/>
          <a:p>
            <a:pPr indent="0" marL="0">
              <a:buNone/>
            </a:pPr>
            <a:r>
              <a:rPr lang="ja-JP" altLang="en-US" sz="1400" b="1" dirty="0">
                <a:solidFill>
                  <a:srgbClr val="1C1A1A"/>
                </a:solidFill>
                <a:latin typeface="Hiragino Kaku Gothic ProN" pitchFamily="34" charset="0"/>
                <a:ea typeface="Hiragino Kaku Gothic ProN" pitchFamily="34" charset="-128"/>
                <a:cs typeface="Hiragino Kaku Gothic ProN" pitchFamily="34" charset="-120"/>
              </a:rPr>
              <a:t>30日後の振り返り日：</a:t>
            </a:r>
            <a:pPr indent="0" marL="0">
              <a:buNone/>
            </a:pPr>
            <a:r>
              <a:rPr lang="ja-JP" altLang="en-US" sz="1400" u="sng" dirty="0">
                <a:solidFill>
                  <a:srgbClr val="1C1A1A"/>
                </a:solidFill>
                <a:uFill>
                  <a:solidFill>
                    <a:srgbClr val="1C1A1A"/>
                  </a:solidFill>
                </a:uFill>
                <a:latin typeface="Hiragino Kaku Gothic ProN" pitchFamily="34" charset="0"/>
                <a:ea typeface="Hiragino Kaku Gothic ProN" pitchFamily="34" charset="-128"/>
                <a:cs typeface="Hiragino Kaku Gothic ProN" pitchFamily="34" charset="-120"/>
              </a:rPr>
              <a:t>　　　　年　　　月　　　日</a:t>
            </a:r>
            <a:endParaRPr lang="ja-JP"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9C98"/>
                </a:solidFill>
                <a:latin typeface="Hiragino Kaku Gothic ProN"/>
                <a:ea typeface="Hiragino Kaku Gothic ProN"/>
                <a:cs typeface="Hiragino Kaku Gothic ProN"/>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nso"/>
          <p:cNvSpPr/>
          <p:nvPr/>
        </p:nvSpPr>
        <p:spPr>
          <a:xfrm>
            <a:off x="3721608" y="1051560"/>
            <a:ext cx="4754880" cy="4754880"/>
          </a:xfrm>
          <a:prstGeom prst="ellipse">
            <a:avLst/>
          </a:prstGeom>
          <a:ln w="31750">
            <a:solidFill>
              <a:srgbClr val="B8432F"/>
            </a:solidFill>
            <a:prstDash val="solid"/>
          </a:ln>
        </p:spPr>
      </p:sp>
      <p:sp>
        <p:nvSpPr>
          <p:cNvPr id="3" name="Text 1"/>
          <p:cNvSpPr txBox="1"/>
          <p:nvPr/>
        </p:nvSpPr>
        <p:spPr>
          <a:xfrm>
            <a:off x="5074920" y="1508760"/>
            <a:ext cx="2057400" cy="3840480"/>
          </a:xfrm>
          <a:prstGeom prst="rect">
            <a:avLst/>
          </a:prstGeom>
          <a:noFill/>
          <a:ln/>
        </p:spPr>
        <p:txBody>
          <a:bodyPr wrap="square" lIns="0" tIns="0" rIns="0" bIns="0" rtlCol="0" anchor="t" vert="eaVert"/>
          <a:lstStyle/>
          <a:p>
            <a:pPr indent="0" marL="0">
              <a:lnSpc>
                <a:spcPct val="130000"/>
              </a:lnSpc>
              <a:buNone/>
            </a:pPr>
            <a:r>
              <a:rPr lang="ja-JP" altLang="en-US" sz="2800" dirty="0">
                <a:solidFill>
                  <a:srgbClr val="FFFFFF"/>
                </a:solidFill>
                <a:latin typeface="Hiragino Mincho ProN" pitchFamily="34" charset="0"/>
                <a:ea typeface="Hiragino Mincho ProN" pitchFamily="34" charset="-128"/>
                <a:cs typeface="Hiragino Mincho ProN" pitchFamily="34" charset="-120"/>
              </a:rPr>
              <a:t>使命を、</a:t>
            </a:r>
            <a:endParaRPr lang="ja-JP" sz="2800" dirty="0"/>
          </a:p>
          <a:p>
            <a:pPr indent="0" marL="0">
              <a:lnSpc>
                <a:spcPct val="130000"/>
              </a:lnSpc>
              <a:buNone/>
            </a:pPr>
            <a:r>
              <a:rPr lang="ja-JP" altLang="en-US" sz="2800" dirty="0">
                <a:solidFill>
                  <a:srgbClr val="FFFFFF"/>
                </a:solidFill>
                <a:latin typeface="Hiragino Mincho ProN" pitchFamily="34" charset="0"/>
                <a:ea typeface="Hiragino Mincho ProN" pitchFamily="34" charset="-128"/>
                <a:cs typeface="Hiragino Mincho ProN" pitchFamily="34" charset="-120"/>
              </a:rPr>
              <a:t>語り続けてください。</a:t>
            </a:r>
            <a:endParaRPr lang="ja-JP" sz="2800" dirty="0"/>
          </a:p>
        </p:txBody>
      </p:sp>
      <p:sp>
        <p:nvSpPr>
          <p:cNvPr id="4" name="Text 2"/>
          <p:cNvSpPr txBox="1"/>
          <p:nvPr/>
        </p:nvSpPr>
        <p:spPr>
          <a:xfrm>
            <a:off x="731520" y="2011680"/>
            <a:ext cx="2743200" cy="2377440"/>
          </a:xfrm>
          <a:prstGeom prst="rect">
            <a:avLst/>
          </a:prstGeom>
          <a:noFill/>
          <a:ln/>
        </p:spPr>
        <p:txBody>
          <a:bodyPr wrap="square" lIns="0" tIns="0" rIns="0" bIns="0" rtlCol="0" anchor="t"/>
          <a:lstStyle/>
          <a:p>
            <a:pPr indent="0" marL="0">
              <a:lnSpc>
                <a:spcPct val="140000"/>
              </a:lnSpc>
              <a:buNone/>
            </a:pPr>
            <a:r>
              <a:rPr lang="ja-JP" altLang="en-US" sz="1700" dirty="0">
                <a:solidFill>
                  <a:srgbClr val="C9C2BC"/>
                </a:solidFill>
                <a:latin typeface="Hiragino Mincho ProN" pitchFamily="34" charset="0"/>
                <a:ea typeface="Hiragino Mincho ProN" pitchFamily="34" charset="-128"/>
                <a:cs typeface="Hiragino Mincho ProN" pitchFamily="34" charset="-120"/>
              </a:rPr>
              <a:t>お客様を</a:t>
            </a:r>
            <a:endParaRPr lang="ja-JP" sz="1700" dirty="0"/>
          </a:p>
          <a:p>
            <a:pPr indent="0" marL="0">
              <a:lnSpc>
                <a:spcPct val="140000"/>
              </a:lnSpc>
              <a:buNone/>
            </a:pPr>
            <a:r>
              <a:rPr lang="ja-JP" altLang="en-US" sz="1700" dirty="0">
                <a:solidFill>
                  <a:srgbClr val="C9C2BC"/>
                </a:solidFill>
                <a:latin typeface="Hiragino Mincho ProN" pitchFamily="34" charset="0"/>
                <a:ea typeface="Hiragino Mincho ProN" pitchFamily="34" charset="-128"/>
                <a:cs typeface="Hiragino Mincho ProN" pitchFamily="34" charset="-120"/>
              </a:rPr>
              <a:t>追いかけるのを</a:t>
            </a:r>
            <a:endParaRPr lang="ja-JP" sz="1700" dirty="0"/>
          </a:p>
          <a:p>
            <a:pPr indent="0" marL="0">
              <a:lnSpc>
                <a:spcPct val="140000"/>
              </a:lnSpc>
              <a:buNone/>
            </a:pPr>
            <a:r>
              <a:rPr lang="ja-JP" altLang="en-US" sz="1700" dirty="0">
                <a:solidFill>
                  <a:srgbClr val="C9C2BC"/>
                </a:solidFill>
                <a:latin typeface="Hiragino Mincho ProN" pitchFamily="34" charset="0"/>
                <a:ea typeface="Hiragino Mincho ProN" pitchFamily="34" charset="-128"/>
                <a:cs typeface="Hiragino Mincho ProN" pitchFamily="34" charset="-120"/>
              </a:rPr>
              <a:t>やめた瞬間、</a:t>
            </a:r>
            <a:endParaRPr lang="ja-JP" sz="1700" dirty="0"/>
          </a:p>
          <a:p>
            <a:pPr indent="0" marL="0">
              <a:lnSpc>
                <a:spcPct val="140000"/>
              </a:lnSpc>
              <a:buNone/>
            </a:pPr>
            <a:r>
              <a:rPr lang="ja-JP" altLang="en-US" sz="1700" dirty="0">
                <a:solidFill>
                  <a:srgbClr val="C9C2BC"/>
                </a:solidFill>
                <a:latin typeface="Hiragino Mincho ProN" pitchFamily="34" charset="0"/>
                <a:ea typeface="Hiragino Mincho ProN" pitchFamily="34" charset="-128"/>
                <a:cs typeface="Hiragino Mincho ProN" pitchFamily="34" charset="-120"/>
              </a:rPr>
              <a:t>あなたのブランドが</a:t>
            </a:r>
            <a:endParaRPr lang="ja-JP" sz="1700" dirty="0"/>
          </a:p>
          <a:p>
            <a:pPr indent="0" marL="0">
              <a:lnSpc>
                <a:spcPct val="140000"/>
              </a:lnSpc>
              <a:buNone/>
            </a:pPr>
            <a:r>
              <a:rPr lang="ja-JP" altLang="en-US" sz="1700" dirty="0">
                <a:solidFill>
                  <a:srgbClr val="C9C2BC"/>
                </a:solidFill>
                <a:latin typeface="Hiragino Mincho ProN" pitchFamily="34" charset="0"/>
                <a:ea typeface="Hiragino Mincho ProN" pitchFamily="34" charset="-128"/>
                <a:cs typeface="Hiragino Mincho ProN" pitchFamily="34" charset="-120"/>
              </a:rPr>
              <a:t>動き始めます。</a:t>
            </a:r>
            <a:endParaRPr lang="ja-JP" sz="1700" dirty="0"/>
          </a:p>
        </p:txBody>
      </p:sp>
      <p:sp>
        <p:nvSpPr>
          <p:cNvPr id="5" name="Text 3"/>
          <p:cNvSpPr txBox="1"/>
          <p:nvPr/>
        </p:nvSpPr>
        <p:spPr>
          <a:xfrm>
            <a:off x="10424160" y="1051560"/>
            <a:ext cx="640080" cy="4206240"/>
          </a:xfrm>
          <a:prstGeom prst="rect">
            <a:avLst/>
          </a:prstGeom>
          <a:noFill/>
          <a:ln/>
        </p:spPr>
        <p:txBody>
          <a:bodyPr wrap="square" lIns="0" tIns="0" rIns="0" bIns="0" rtlCol="0" anchor="t" vert="eaVert"/>
          <a:lstStyle/>
          <a:p>
            <a:pPr indent="0" marL="0">
              <a:buNone/>
            </a:pPr>
            <a:r>
              <a:rPr lang="ja-JP" altLang="en-US" sz="2000" dirty="0">
                <a:solidFill>
                  <a:srgbClr val="FFFFFF"/>
                </a:solidFill>
                <a:latin typeface="Hiragino Mincho ProN" pitchFamily="34" charset="0"/>
                <a:ea typeface="Hiragino Mincho ProN" pitchFamily="34" charset="-128"/>
                <a:cs typeface="Hiragino Mincho ProN" pitchFamily="34" charset="-120"/>
              </a:rPr>
              <a:t>ありがとうございました</a:t>
            </a:r>
            <a:endParaRPr lang="ja-JP" sz="2000" dirty="0"/>
          </a:p>
        </p:txBody>
      </p:sp>
      <p:sp>
        <p:nvSpPr>
          <p:cNvPr id="6" name="hanko"/>
          <p:cNvSpPr/>
          <p:nvPr/>
        </p:nvSpPr>
        <p:spPr>
          <a:xfrm>
            <a:off x="10378440" y="5440680"/>
            <a:ext cx="731520" cy="731520"/>
          </a:xfrm>
          <a:prstGeom prst="roundRect">
            <a:avLst>
              <a:gd name="adj" fmla="val 10000"/>
            </a:avLst>
          </a:prstGeom>
          <a:solidFill>
            <a:srgbClr val="B8432F"/>
          </a:solidFill>
          <a:ln/>
        </p:spPr>
      </p:sp>
      <p:sp>
        <p:nvSpPr>
          <p:cNvPr id="7" name="Text 5"/>
          <p:cNvSpPr txBox="1"/>
          <p:nvPr/>
        </p:nvSpPr>
        <p:spPr>
          <a:xfrm>
            <a:off x="10378440" y="5440680"/>
            <a:ext cx="731520" cy="731520"/>
          </a:xfrm>
          <a:prstGeom prst="rect">
            <a:avLst/>
          </a:prstGeom>
          <a:noFill/>
          <a:ln/>
        </p:spPr>
        <p:txBody>
          <a:bodyPr wrap="square" lIns="0" tIns="0" rIns="0" bIns="0" rtlCol="0" anchor="ctr"/>
          <a:lstStyle/>
          <a:p>
            <a:pPr algn="ctr" indent="0" marL="0">
              <a:buNone/>
            </a:pPr>
            <a:r>
              <a:rPr lang="ja-JP" altLang="en-US" sz="3000" dirty="0">
                <a:solidFill>
                  <a:srgbClr val="FFFFFF"/>
                </a:solidFill>
                <a:latin typeface="Hiragino Mincho ProN" pitchFamily="34" charset="0"/>
                <a:ea typeface="Hiragino Mincho ProN" pitchFamily="34" charset="-128"/>
                <a:cs typeface="Hiragino Mincho ProN" pitchFamily="34" charset="-120"/>
              </a:rPr>
              <a:t>恵</a:t>
            </a:r>
            <a:endParaRPr lang="ja-JP" sz="3000" dirty="0"/>
          </a:p>
        </p:txBody>
      </p:sp>
      <p:sp>
        <p:nvSpPr>
          <p:cNvPr id="8" name="Text 6"/>
          <p:cNvSpPr txBox="1"/>
          <p:nvPr/>
        </p:nvSpPr>
        <p:spPr>
          <a:xfrm>
            <a:off x="731520" y="6035040"/>
            <a:ext cx="5486400" cy="274320"/>
          </a:xfrm>
          <a:prstGeom prst="rect">
            <a:avLst/>
          </a:prstGeom>
          <a:noFill/>
          <a:ln/>
        </p:spPr>
        <p:txBody>
          <a:bodyPr wrap="square" lIns="0" tIns="0" rIns="0" bIns="0" rtlCol="0" anchor="t"/>
          <a:lstStyle/>
          <a:p>
            <a:pPr indent="0" marL="0">
              <a:buNone/>
            </a:pPr>
            <a:r>
              <a:rPr lang="ja-JP" altLang="en-US" sz="1100" spc="100" kern="0" dirty="0">
                <a:solidFill>
                  <a:srgbClr val="8A8380"/>
                </a:solidFill>
                <a:latin typeface="Hiragino Kaku Gothic ProN" pitchFamily="34" charset="0"/>
                <a:ea typeface="Hiragino Kaku Gothic ProN" pitchFamily="34" charset="-128"/>
                <a:cs typeface="Hiragino Kaku Gothic ProN" pitchFamily="34" charset="-120"/>
              </a:rPr>
              <a:t>松本恵オンラインサロン ｜ 2026.10.21</a:t>
            </a:r>
            <a:endParaRPr lang="ja-JP" sz="1100" dirty="0"/>
          </a:p>
        </p:txBody>
      </p:sp>
    </p:spTree>
  </p:cSld>
  <p:clrMapOvr>
    <a:masterClrMapping/>
  </p:clrMapOvr>
</p:sld>
</file>

<file path=ppt/theme/theme1.xml><?xml version="1.0" encoding="utf-8"?>
<a:theme xmlns:a="http://schemas.openxmlformats.org/drawingml/2006/main" name="Sumi and Shu">
  <a:themeElements>
    <a:clrScheme name="Sumi and Shu">
      <a:dk1>
        <a:srgbClr val="1C1A1A"/>
      </a:dk1>
      <a:lt1>
        <a:srgbClr val="FFFFFF"/>
      </a:lt1>
      <a:dk2>
        <a:srgbClr val="3A3434"/>
      </a:dk2>
      <a:lt2>
        <a:srgbClr val="F4F0EC"/>
      </a:lt2>
      <a:accent1>
        <a:srgbClr val="B8432F"/>
      </a:accent1>
      <a:accent2>
        <a:srgbClr val="8C6E63"/>
      </a:accent2>
      <a:accent3>
        <a:srgbClr val="D9C8BC"/>
      </a:accent3>
      <a:accent4>
        <a:srgbClr val="4A5D4F"/>
      </a:accent4>
      <a:accent5>
        <a:srgbClr val="FBEDEA"/>
      </a:accent5>
      <a:accent6>
        <a:srgbClr val="8A8380"/>
      </a:accent6>
      <a:hlink>
        <a:srgbClr val="B8432F"/>
      </a:hlink>
      <a:folHlink>
        <a:srgbClr val="8C6E63"/>
      </a:folHlink>
    </a:clrScheme>
    <a:fontScheme name="Sumi and Shu">
      <a:majorFont>
        <a:latin typeface="Hiragino Mincho ProN"/>
        <a:ea typeface="Hiragino Mincho ProN"/>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iragino Kaku Gothic ProN"/>
        <a:ea typeface="Hiragino Kaku Gothic ProN"/>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お客様が途切れないビジネスを創る</dc:title>
  <dc:subject>PptxGenJS Presentation</dc:subject>
  <dc:creator>松本恵</dc:creator>
  <cp:lastModifiedBy>松本恵</cp:lastModifiedBy>
  <cp:revision>1</cp:revision>
  <dcterms:created xsi:type="dcterms:W3CDTF">2026-10-20T01:41:19Z</dcterms:created>
  <dcterms:modified xsi:type="dcterms:W3CDTF">2026-10-20T01:41:19Z</dcterms:modified>
</cp:coreProperties>
</file>