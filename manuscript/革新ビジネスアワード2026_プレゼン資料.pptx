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C9603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C9603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革新ビジネスアワード2026　二次審査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“生きる準備”の社会インフラ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財産中心の相続から、「心置きなく生ききる人生」へ。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全国50事業所に広がった相続支援モデル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5120640"/>
            <a:ext cx="2011680" cy="0"/>
          </a:xfrm>
          <a:prstGeom prst="line">
            <a:avLst/>
          </a:prstGeom>
          <a:noFill/>
          <a:ln w="25400">
            <a:solidFill>
              <a:srgbClr val="C96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株式会社繋ぐコンサルタントオフィス（繋ぐ相続サロン®本部）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D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代表取締役　松本 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ABOUT 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自己紹介 ― 金融20年から、相続の現場へ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7512" y="1673352"/>
            <a:ext cx="1591056" cy="15910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9603F"/>
            </a:solidFill>
            <a:prstDash val="solid"/>
          </a:ln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pic>
        <p:nvPicPr>
          <p:cNvPr id="5" name="Image 0" descr="matsumoto_phot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355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代表　松本 恵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0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88036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PART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メガバンク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2880360" y="2816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三井住友銀行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10912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148072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PART 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148072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信託銀行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5148072" y="2816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三菱UFJ信託銀行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022592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78624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15784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PART 3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415784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証券会社</a:t>
            </a:r>
            <a:endParaRPr lang="en-US" sz="1550" dirty="0"/>
          </a:p>
        </p:txBody>
      </p:sp>
      <p:sp>
        <p:nvSpPr>
          <p:cNvPr id="20" name="Text 17"/>
          <p:cNvSpPr txBox="1"/>
          <p:nvPr/>
        </p:nvSpPr>
        <p:spPr>
          <a:xfrm>
            <a:off x="7415784" y="2816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野村證券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290304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5F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546336" y="19202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9683496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PART 4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683496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外資系保険会社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9683496" y="2816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メットライフ生命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393192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1005840" y="41605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「財産の話だけでは、人は動かない。」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47091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20年の金融経験で培った「財産の専門家」への違和感から、相続コンサルタントではなく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「心置きなく生ききる人生のプロデューサー」という役割を選んだ。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現状の課題 ― 「相続・終活」は財産がある人のもの、という誤解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0" cy="4023360"/>
          </a:xfrm>
          <a:prstGeom prst="roundRect">
            <a:avLst>
              <a:gd name="adj" fmla="val 2273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人は財産の多寡にかかわらず、必ず人生の最期を迎える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それなのに「相続」「終活」は、財産を持つ人のためのものだと思われている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節税・遺産分割・不動産・保険など「財産をどう残すか」を中心に発展してきた業界構造そのものが、「財産の少ない自分には関係ない」という自分事にできないカルチャーを作ってしまった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52360" y="1856232"/>
            <a:ext cx="3931920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72.1%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778862"/>
            <a:ext cx="4023360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人生会議（ACP）を「知らない」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厚労省 令和4年度調査（n=3,000）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379476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52360" y="3959352"/>
            <a:ext cx="39319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約700万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4908499"/>
            <a:ext cx="402336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日本の65歳以上・一人暮らし世帯数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家族がいない状態で急病・災害に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本質的な気づき ― 財産ではなく、「対話」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「遺言書を創っただけで、未来に二人にとって、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生きてる時の不安の方が多すぎて」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― 遺言書を作成した直後の、74歳のご夫妻の言葉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遺言書は、旅立った後の財産の行き先を定めるもの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しかし、生きている間に何かあったとき、心身ともにどう対処するのかという不安には応えてくれない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本当に安心・幸福につながるのは、書類の完成ではなく、「誰かとの対話」そのもの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SOLUTION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解決策① 独自ツール「生きるための繋ぐノート」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命を繋ぐ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もしもの時に備え、想いや希望を整理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誰かに繋ぐ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家族や大切な人と対話するきっかけに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011680"/>
            <a:ext cx="640080" cy="64008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5528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未来に繋ぐ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これからの人生を、自分らしく前向きに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4160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専門的な視点から作られた、命を守るノート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61772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B6サイズ・全24ページ＋表紙。大病院の問診票を参考に構成し、意識を失っても問診票代わりに機能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大阪市消防局で34年間現場に立った元救急救命士・上田雄一氏の「命の火を消さない」という経験から考案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SOLUTION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解決策② 日本初「繋ぐノートサポートアドバイザー®」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“生きる準備”の推進を目的に創設した、日本で初めての民間資格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2416" y="2514600"/>
            <a:ext cx="1371600" cy="1371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514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医療機関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18688" y="2514600"/>
            <a:ext cx="1371600" cy="137160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44368" y="2514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2514600"/>
            <a:ext cx="1371600" cy="1371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2514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地域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コミュニティ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71232" y="2514600"/>
            <a:ext cx="1371600" cy="137160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96912" y="2514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747504" y="2514600"/>
            <a:ext cx="1371600" cy="1371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73184" y="25146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教育機関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48006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金融・保険・福祉・介護・不動産など、異業種の方にこそ取得していただきたい資格です。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「財産の専門家」ではなく、「生きる準備」の入口を開く人を全国に増やしていきます。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OUR JOURNEY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8年間の歩み ― 「実証フェーズ」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23060" y="2880360"/>
            <a:ext cx="85953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80160" y="25374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5374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個人事業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相続コンサルタント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事務所〜繋ぐ〜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5374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54680" y="25374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法人化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株式会社繋ぐ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コンサルタントオフィス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（2020年2月）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5374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0" y="25374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FC展開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繋ぐ相続サロン®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26680" y="25374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52360" y="25374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一般社団法人設立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繋ぐライク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ファミリーサポート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75520" y="2537460"/>
            <a:ext cx="685800" cy="68580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0" y="25374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企業タイアップ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異業種との連携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51760" y="4892040"/>
            <a:ext cx="685800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2926080" y="50292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全国50事業所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56235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広告で一気に拡大したのではなく、一件一件の信頼で積み上げた8年間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実績・成果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267712"/>
            <a:ext cx="17373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延べ500名+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82035"/>
            <a:ext cx="18288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地域セミナー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（3年間）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21031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17520" y="2267712"/>
            <a:ext cx="17373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▲30%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3482035"/>
            <a:ext cx="18288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企業導入で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介護離職が減少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57800" y="2267712"/>
            <a:ext cx="17373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80%超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482035"/>
            <a:ext cx="18288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導入病院の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ACP実施率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0920" y="21031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0" y="2267712"/>
            <a:ext cx="17373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5,000部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482035"/>
            <a:ext cx="18288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「繋ぐノート」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普及実績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0" y="21031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38360" y="2267712"/>
            <a:ext cx="17373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50名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482035"/>
            <a:ext cx="18288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資格者数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（2年間）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数としてはこれから拡大するフェーズ。広告ではなく、医療・行政・企業・教育という現場での信頼関係を通じて積み上げてきました。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BUSINESS SCALE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売上規模 ― 本体が独占しない「分散型モデル」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40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5,000万円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（株式会社繋ぐコンサルタントオフィス）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3A5F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C9603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37760" y="2240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2億円規模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FC全体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（繋ぐ相続サロン® ネットワーク）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3A5F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95360" y="192024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10233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778240" y="2240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3億円規模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繋ぐグループ全体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（繋ぐライクファミリーサポート等含む）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46177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なぜ本体の売上が大きくないのか？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98348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本体が売上を独占するのではなく、全国の加盟事業者が自律的に事業を営む分散型のネットワークだから。これは弱みではなく、「競争から共存へ」という経営思想と直結する強みです。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WELL-BEING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終活・相続対策と幸福度 ― まだ語られていない関係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国内民間調査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終活をすでに始めている人（44.0%）は、幸福度・生活満足度が高い傾向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（ハルメク生きかた上手研究所調べ）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965960"/>
            <a:ext cx="548640" cy="54864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33672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6517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国内公的調査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01752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65歳以上の約6割が終活を実施。最多は「財産以外の所有物の整理」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（内閣府 令和6年度調査）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1965960"/>
            <a:ext cx="548640" cy="54864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18704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26517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海外の学術研究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301752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ACPは、家族を巻き込んだ“対話”を伴う場合にQOLを改善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（心不全患者対象の系統的レビュー等）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44348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鍵は「書類」ではなく、「対話」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9377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ED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相関関係であり因果関係ではない点に留意しつつ、対話というメカニズムに絞って語ることで、誠実かつ厳密な説明になる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PHILOSOPHY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経営思想 ― 「競争」から「共存」へ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06440" y="3200400"/>
            <a:ext cx="1828800" cy="1828800"/>
          </a:xfrm>
          <a:prstGeom prst="ellipse">
            <a:avLst/>
          </a:prstGeom>
          <a:solidFill>
            <a:srgbClr val="C960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532120" y="32004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繋ぐグループ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（生きる準備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の入口）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2638044"/>
            <a:ext cx="9144" cy="1476756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6720840" y="3658457"/>
            <a:ext cx="1652328" cy="456343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6720840" y="4114800"/>
            <a:ext cx="1021195" cy="1194721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5699645" y="4114800"/>
            <a:ext cx="1021195" cy="1194721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5068512" y="3658457"/>
            <a:ext cx="1652328" cy="456343"/>
          </a:xfrm>
          <a:prstGeom prst="line">
            <a:avLst/>
          </a:prstGeom>
          <a:noFill/>
          <a:ln w="19050">
            <a:solidFill>
              <a:srgbClr val="C9C2B6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6103620" y="2020824"/>
            <a:ext cx="1234440" cy="1234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29300" y="2020824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金融機関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55948" y="3041237"/>
            <a:ext cx="1234440" cy="1234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81628" y="3041237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士業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24815" y="4692301"/>
            <a:ext cx="1234440" cy="1234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0495" y="4692301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福祉・介護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82425" y="4692301"/>
            <a:ext cx="1234440" cy="1234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8105" y="4692301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不動産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51292" y="3041237"/>
            <a:ext cx="1234440" cy="1234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76972" y="3041237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教育機関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専門家の仕事を奪うのではなく、「生きる準備」の入口を開き、必要な専門家へ橋渡しする結節点でありたい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士業・金融機関にこそ「繋ぐノートサポートアドバイザー®」を取得していただき、共に「心置きなく生ききる社会」をつくる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実例 ― 「社会貢献」が開く、新しい扉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法人開拓は、ドアノックから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運送業・従業員約200名規模の企業への導入事例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「繋ぐノートワークセミナー」を本社・支社で複数回開催し、従業員全員に接点を持つ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持ち込んだのは“商品”ではなく、従業員と家族の命・これからを考える機会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セミナー後、自然な形で保険見直しの相談へ。本業は信頼の後からついてきた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4846320"/>
            <a:ext cx="47091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8463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「ドアノックは、社会貢献。」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F6F1EA"/>
          </a:solidFill>
          <a:ln/>
          <a:effectLst>
            <a:outerShdw sx="100000" sy="100000" kx="0" ky="0" algn="bl" rotWithShape="0" blurRad="101600" dist="38100" dir="5400000">
              <a:srgbClr val="10233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一つの自治体から、全国モデルへ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行政連携の広がり（朝来市 → 岸和田市）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8036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朝来市在宅医療・介護連携会議「身寄りのない人への支援検討ワーキング」への参画から始まった行政連携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岸和田市社会福祉協議会の研修（2026年10月）でも、専門職の縦割りを越えた「資源マップ」づくりを展開中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一つの自治体で実証した手法を、他の自治体でも再現できる「型」として横展開している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4846320"/>
            <a:ext cx="4709160" cy="640080"/>
          </a:xfrm>
          <a:prstGeom prst="roundRect">
            <a:avLst>
              <a:gd name="adj" fmla="val 11429"/>
            </a:avLst>
          </a:prstGeom>
          <a:solidFill>
            <a:srgbClr val="C960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48463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一つの街の実証を、次の街の手引きに。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「競争から共存へ」という経営思想が、実際の売上・連携へと転化している証拠です。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C9603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これから3年 ― 「拡大フェーズ」へ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C960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240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3年後：FC100事業所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11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資格のeラーニング化による異業種の参入障壁低下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厚労省のACP推進という社会的追い風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E6EAF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企業・行政・教育という新しい3つのチャネル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10424160" cy="0"/>
          </a:xfrm>
          <a:prstGeom prst="line">
            <a:avLst/>
          </a:prstGeom>
          <a:noFill/>
          <a:ln w="12700">
            <a:solidFill>
              <a:srgbClr val="3A4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DCC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「財産がある人も、ない人も。高齢者も、まだ若い人も。」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誰もが「自分はどう生きたいのか」を考え、大切な人と話し、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必要な支援につながることのできる「サポート社会」の実現へ。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ご清聴ありがとうございました。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A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株式会社繋ぐコンサルタントオフィス／松本 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2026-10-21T23:55:28Z</dcterms:created>
  <dcterms:modified xsi:type="dcterms:W3CDTF">2026-10-21T23:55:28Z</dcterms:modified>
</cp:coreProperties>
</file>