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想定市場規模（億円）</c:v>
                </c:pt>
              </c:strCache>
            </c:strRef>
          </c:tx>
          <c:spPr>
            <a:solidFill>
              <a:srgbClr val="1E3A5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E3A5F"/>
                    </a:solidFill>
                    <a:latin typeface="游ゴシック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金融</c:v>
                  </c:pt>
                  <c:pt idx="1">
                    <c:v>不動産</c:v>
                  </c:pt>
                  <c:pt idx="2">
                    <c:v>その他</c:v>
                  </c:pt>
                  <c:pt idx="3">
                    <c:v>M&amp;A</c:v>
                  </c:pt>
                  <c:pt idx="4">
                    <c:v>有料老人ホーム</c:v>
                  </c:pt>
                  <c:pt idx="5">
                    <c:v>税理士</c:v>
                  </c:pt>
                  <c:pt idx="6">
                    <c:v>司法書士・行政書士</c:v>
                  </c:pt>
                  <c:pt idx="7">
                    <c:v>弁護士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50</c:v>
                </c:pt>
                <c:pt idx="1">
                  <c:v>30</c:v>
                </c:pt>
                <c:pt idx="2">
                  <c:v>7</c:v>
                </c:pt>
                <c:pt idx="3">
                  <c:v>5</c:v>
                </c:pt>
                <c:pt idx="4">
                  <c:v>3</c:v>
                </c:pt>
                <c:pt idx="5">
                  <c:v>2</c:v>
                </c:pt>
                <c:pt idx="6">
                  <c:v>2</c:v>
                </c:pt>
                <c:pt idx="7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E3A5F"/>
                  </a:solidFill>
                  <a:latin typeface="游ゴシック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A3A3A"/>
                </a:solidFill>
                <a:latin typeface="游ゴシック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2011680"/>
            <a:ext cx="5486400" cy="5486400"/>
          </a:xfrm>
          <a:prstGeom prst="ellipse">
            <a:avLst/>
          </a:prstGeom>
          <a:solidFill>
            <a:srgbClr val="C9603F">
              <a:alpha val="1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2286000" y="4389120"/>
            <a:ext cx="4572000" cy="4572000"/>
          </a:xfrm>
          <a:prstGeom prst="ellipse">
            <a:avLst/>
          </a:prstGeom>
          <a:solidFill>
            <a:srgbClr val="C9603F">
              <a:alpha val="10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8229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F1DCC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革新ビジネスアワード2026　ファイナル　ストーリー整理資料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19456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繋ぐグループが創った、100億円の経済圏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1546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1DCC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hub（結節点）として、過去3年間に周辺産業へもたらした市場インパクト（想定）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703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CED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審査7項目のうち「表現力」を除く6項目 ― 斬新性・収益性・成長性・市場性・優位性・貢献性 ― を整理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68680" y="5120640"/>
            <a:ext cx="2011680" cy="0"/>
          </a:xfrm>
          <a:prstGeom prst="line">
            <a:avLst/>
          </a:prstGeom>
          <a:noFill/>
          <a:ln w="25400">
            <a:solidFill>
              <a:srgbClr val="C9603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5257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株式会社繋ぐコンサルタントオフィス（繋ぐ相続サロン®本部）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56235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7CED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代表取締役　松本 恵　／　ストーリー整理用ドラフト（社内検討資料）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9603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OVERVIEW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このストーリーが、6つの評価軸をどう満たすか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3429000" cy="1965960"/>
          </a:xfrm>
          <a:prstGeom prst="roundRect">
            <a:avLst>
              <a:gd name="adj" fmla="val 4651"/>
            </a:avLst>
          </a:prstGeom>
          <a:solidFill>
            <a:srgbClr val="F6F1EA"/>
          </a:solidFill>
          <a:ln/>
          <a:effectLst>
            <a:outerShdw sx="100000" sy="100000" kx="0" ky="0" algn="bl" rotWithShape="0" blurRad="101600" dist="38100" dir="5400000">
              <a:srgbClr val="10233A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011680"/>
            <a:ext cx="594360" cy="594360"/>
          </a:xfrm>
          <a:prstGeom prst="ellipse">
            <a:avLst/>
          </a:prstGeom>
          <a:solidFill>
            <a:srgbClr val="C9603F"/>
          </a:solidFill>
          <a:ln/>
          <a:effectLst>
            <a:outerShdw sx="100000" sy="100000" kx="0" ky="0" algn="bl" rotWithShape="0" blurRad="101600" dist="38100" dir="5400000">
              <a:srgbClr val="10233A">
                <a:alpha val="1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68680" y="20116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斬</a:t>
            </a:r>
            <a:endParaRPr lang="en-US" sz="208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2039112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斬新性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78892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A3A3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hubとして経済圏を創る発想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43400" y="1783080"/>
            <a:ext cx="3429000" cy="1965960"/>
          </a:xfrm>
          <a:prstGeom prst="roundRect">
            <a:avLst>
              <a:gd name="adj" fmla="val 4651"/>
            </a:avLst>
          </a:prstGeom>
          <a:solidFill>
            <a:srgbClr val="F6F1EA"/>
          </a:solidFill>
          <a:ln/>
          <a:effectLst>
            <a:outerShdw sx="100000" sy="100000" kx="0" ky="0" algn="bl" rotWithShape="0" blurRad="101600" dist="38100" dir="5400000">
              <a:srgbClr val="10233A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0" y="2011680"/>
            <a:ext cx="594360" cy="594360"/>
          </a:xfrm>
          <a:prstGeom prst="ellipse">
            <a:avLst/>
          </a:prstGeom>
          <a:solidFill>
            <a:srgbClr val="C9603F"/>
          </a:solidFill>
          <a:ln/>
          <a:effectLst>
            <a:outerShdw sx="100000" sy="100000" kx="0" ky="0" algn="bl" rotWithShape="0" blurRad="101600" dist="38100" dir="5400000">
              <a:srgbClr val="10233A">
                <a:alpha val="1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4572000" y="20116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収</a:t>
            </a:r>
            <a:endParaRPr lang="en-US" sz="2080" dirty="0"/>
          </a:p>
        </p:txBody>
      </p:sp>
      <p:sp>
        <p:nvSpPr>
          <p:cNvPr id="12" name="Text 10"/>
          <p:cNvSpPr txBox="1"/>
          <p:nvPr/>
        </p:nvSpPr>
        <p:spPr>
          <a:xfrm>
            <a:off x="5303520" y="2039112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収益性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0" y="278892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A3A3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自社売上ではなく創出経済圏で語る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46720" y="1783080"/>
            <a:ext cx="3429000" cy="1965960"/>
          </a:xfrm>
          <a:prstGeom prst="roundRect">
            <a:avLst>
              <a:gd name="adj" fmla="val 4651"/>
            </a:avLst>
          </a:prstGeom>
          <a:solidFill>
            <a:srgbClr val="F6F1EA"/>
          </a:solidFill>
          <a:ln/>
          <a:effectLst>
            <a:outerShdw sx="100000" sy="100000" kx="0" ky="0" algn="bl" rotWithShape="0" blurRad="101600" dist="38100" dir="5400000">
              <a:srgbClr val="10233A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275320" y="2011680"/>
            <a:ext cx="594360" cy="594360"/>
          </a:xfrm>
          <a:prstGeom prst="ellipse">
            <a:avLst/>
          </a:prstGeom>
          <a:solidFill>
            <a:srgbClr val="C9603F"/>
          </a:solidFill>
          <a:ln/>
          <a:effectLst>
            <a:outerShdw sx="100000" sy="100000" kx="0" ky="0" algn="bl" rotWithShape="0" blurRad="101600" dist="38100" dir="5400000">
              <a:srgbClr val="10233A">
                <a:alpha val="1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8275320" y="20116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成</a:t>
            </a:r>
            <a:endParaRPr lang="en-US" sz="2080" dirty="0"/>
          </a:p>
        </p:txBody>
      </p:sp>
      <p:sp>
        <p:nvSpPr>
          <p:cNvPr id="17" name="Text 15"/>
          <p:cNvSpPr txBox="1"/>
          <p:nvPr/>
        </p:nvSpPr>
        <p:spPr>
          <a:xfrm>
            <a:off x="9006840" y="2039112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成長性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278892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A3A3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二つのファネルで経済圏を拡大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4023360"/>
            <a:ext cx="3429000" cy="1965960"/>
          </a:xfrm>
          <a:prstGeom prst="roundRect">
            <a:avLst>
              <a:gd name="adj" fmla="val 4651"/>
            </a:avLst>
          </a:prstGeom>
          <a:solidFill>
            <a:srgbClr val="F6F1EA"/>
          </a:solidFill>
          <a:ln/>
          <a:effectLst>
            <a:outerShdw sx="100000" sy="100000" kx="0" ky="0" algn="bl" rotWithShape="0" blurRad="101600" dist="38100" dir="5400000">
              <a:srgbClr val="10233A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68680" y="4251960"/>
            <a:ext cx="594360" cy="594360"/>
          </a:xfrm>
          <a:prstGeom prst="ellipse">
            <a:avLst/>
          </a:prstGeom>
          <a:solidFill>
            <a:srgbClr val="C9603F"/>
          </a:solidFill>
          <a:ln/>
          <a:effectLst>
            <a:outerShdw sx="100000" sy="100000" kx="0" ky="0" algn="bl" rotWithShape="0" blurRad="101600" dist="38100" dir="5400000">
              <a:srgbClr val="10233A">
                <a:alpha val="1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68680" y="42519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市</a:t>
            </a:r>
            <a:endParaRPr lang="en-US" sz="2080" dirty="0"/>
          </a:p>
        </p:txBody>
      </p:sp>
      <p:sp>
        <p:nvSpPr>
          <p:cNvPr id="22" name="Text 20"/>
          <p:cNvSpPr txBox="1"/>
          <p:nvPr/>
        </p:nvSpPr>
        <p:spPr>
          <a:xfrm>
            <a:off x="1600200" y="4279392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市場性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868680" y="502920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A3A3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富裕層から全世代・全業種へ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4343400" y="4023360"/>
            <a:ext cx="3429000" cy="1965960"/>
          </a:xfrm>
          <a:prstGeom prst="roundRect">
            <a:avLst>
              <a:gd name="adj" fmla="val 4651"/>
            </a:avLst>
          </a:prstGeom>
          <a:solidFill>
            <a:srgbClr val="F6F1EA"/>
          </a:solidFill>
          <a:ln/>
          <a:effectLst>
            <a:outerShdw sx="100000" sy="100000" kx="0" ky="0" algn="bl" rotWithShape="0" blurRad="101600" dist="38100" dir="5400000">
              <a:srgbClr val="10233A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572000" y="4251960"/>
            <a:ext cx="594360" cy="594360"/>
          </a:xfrm>
          <a:prstGeom prst="ellipse">
            <a:avLst/>
          </a:prstGeom>
          <a:solidFill>
            <a:srgbClr val="C9603F"/>
          </a:solidFill>
          <a:ln/>
          <a:effectLst>
            <a:outerShdw sx="100000" sy="100000" kx="0" ky="0" algn="bl" rotWithShape="0" blurRad="101600" dist="38100" dir="5400000">
              <a:srgbClr val="10233A">
                <a:alpha val="18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4572000" y="42519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優</a:t>
            </a:r>
            <a:endParaRPr lang="en-US" sz="2080" dirty="0"/>
          </a:p>
        </p:txBody>
      </p:sp>
      <p:sp>
        <p:nvSpPr>
          <p:cNvPr id="27" name="Text 25"/>
          <p:cNvSpPr txBox="1"/>
          <p:nvPr/>
        </p:nvSpPr>
        <p:spPr>
          <a:xfrm>
            <a:off x="5303520" y="4279392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優位性</a:t>
            </a:r>
            <a:endParaRPr lang="en-US" sz="17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0" y="502920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A3A3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「隠れた課題」を見つける協業モデル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8046720" y="4023360"/>
            <a:ext cx="3429000" cy="1965960"/>
          </a:xfrm>
          <a:prstGeom prst="roundRect">
            <a:avLst>
              <a:gd name="adj" fmla="val 4651"/>
            </a:avLst>
          </a:prstGeom>
          <a:solidFill>
            <a:srgbClr val="F6F1EA"/>
          </a:solidFill>
          <a:ln/>
          <a:effectLst>
            <a:outerShdw sx="100000" sy="100000" kx="0" ky="0" algn="bl" rotWithShape="0" blurRad="101600" dist="38100" dir="5400000">
              <a:srgbClr val="10233A">
                <a:alpha val="1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275320" y="4251960"/>
            <a:ext cx="594360" cy="594360"/>
          </a:xfrm>
          <a:prstGeom prst="ellipse">
            <a:avLst/>
          </a:prstGeom>
          <a:solidFill>
            <a:srgbClr val="C9603F"/>
          </a:solidFill>
          <a:ln/>
          <a:effectLst>
            <a:outerShdw sx="100000" sy="100000" kx="0" ky="0" algn="bl" rotWithShape="0" blurRad="101600" dist="38100" dir="5400000">
              <a:srgbClr val="10233A">
                <a:alpha val="18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8275320" y="42519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貢</a:t>
            </a:r>
            <a:endParaRPr lang="en-US" sz="2080" dirty="0"/>
          </a:p>
        </p:txBody>
      </p:sp>
      <p:sp>
        <p:nvSpPr>
          <p:cNvPr id="32" name="Text 30"/>
          <p:cNvSpPr txBox="1"/>
          <p:nvPr/>
        </p:nvSpPr>
        <p:spPr>
          <a:xfrm>
            <a:off x="9006840" y="4279392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貢献性</a:t>
            </a:r>
            <a:endParaRPr lang="en-US" sz="1700" dirty="0"/>
          </a:p>
        </p:txBody>
      </p:sp>
      <p:sp>
        <p:nvSpPr>
          <p:cNvPr id="33" name="Text 31"/>
          <p:cNvSpPr txBox="1"/>
          <p:nvPr/>
        </p:nvSpPr>
        <p:spPr>
          <a:xfrm>
            <a:off x="8275320" y="502920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A3A3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関わった全員への貢献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640080" y="61722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6B6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すべての軸の起点になっているのが、「新・相続ビジネス」という切り口と、約100億円の経済圏という実績です。</a:t>
            </a:r>
            <a:endParaRPr lang="en-US" sz="1250" dirty="0"/>
          </a:p>
        </p:txBody>
      </p:sp>
      <p:sp>
        <p:nvSpPr>
          <p:cNvPr id="35" name="Text 33"/>
          <p:cNvSpPr txBox="1"/>
          <p:nvPr/>
        </p:nvSpPr>
        <p:spPr>
          <a:xfrm>
            <a:off x="1155161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9603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BLUE OCEAN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新・相続ビジネスとは ― 財産ではなく、人生をプロデュースする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83080"/>
            <a:ext cx="108813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8000"/>
              </a:lnSpc>
              <a:spcAft>
                <a:spcPts val="1200"/>
              </a:spcAft>
              <a:buSzPct val="100000"/>
              <a:buChar char="●"/>
            </a:pPr>
            <a:r>
              <a:rPr lang="en-US" sz="1500" dirty="0">
                <a:solidFill>
                  <a:srgbClr val="3A3A3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相続ビジネスへの参入者は年々増加し、節税・遺産分割・保険など「財産をどう残すか」を軸にした競争が激化（レッドオーシャン化）</a:t>
            </a:r>
            <a:endParaRPr lang="en-US" sz="1500" dirty="0"/>
          </a:p>
          <a:p>
            <a:pPr marL="342900" indent="-342900">
              <a:lnSpc>
                <a:spcPct val="128000"/>
              </a:lnSpc>
              <a:spcAft>
                <a:spcPts val="1200"/>
              </a:spcAft>
              <a:buSzPct val="100000"/>
              <a:buChar char="●"/>
            </a:pPr>
            <a:r>
              <a:rPr lang="en-US" sz="1500" dirty="0">
                <a:solidFill>
                  <a:srgbClr val="3A3A3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繋ぐグループは、相続の起点を「財産」から「人生」へ転換。テーマを“死ぬ準備”ではなく“生きる準備”に据え直した</a:t>
            </a:r>
            <a:endParaRPr lang="en-US" sz="1500" dirty="0"/>
          </a:p>
          <a:p>
            <a:pPr marL="342900" indent="-342900">
              <a:lnSpc>
                <a:spcPct val="128000"/>
              </a:lnSpc>
              <a:spcAft>
                <a:spcPts val="1200"/>
              </a:spcAft>
              <a:buSzPct val="100000"/>
              <a:buChar char="●"/>
            </a:pPr>
            <a:r>
              <a:rPr lang="en-US" sz="1500" dirty="0">
                <a:solidFill>
                  <a:srgbClr val="3A3A3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他の相続ビジネスパーソンが「財産がある人」という狭いフロントを奪い合う一方、繋ぐグループは“生きる準備”を入口にすることで、競争相手のいない市場＝ブルーオーシャンを独自に切り拓いた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4343400"/>
            <a:ext cx="5257800" cy="1783080"/>
          </a:xfrm>
          <a:prstGeom prst="roundRect">
            <a:avLst>
              <a:gd name="adj" fmla="val 5128"/>
            </a:avLst>
          </a:prstGeom>
          <a:solidFill>
            <a:srgbClr val="1E3A5F"/>
          </a:solidFill>
          <a:ln/>
          <a:effectLst>
            <a:outerShdw sx="100000" sy="100000" kx="0" ky="0" algn="bl" rotWithShape="0" blurRad="101600" dist="38100" dir="5400000">
              <a:srgbClr val="10233A">
                <a:alpha val="1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914400" y="4544568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1DCC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レッドオーシャン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5001768"/>
            <a:ext cx="4709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CE3EC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財産を巡る競争 ― 節税・遺産分割・保険など、“商品”を軸にした相続ビジネスパーソン同士の奪い合い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63640" y="4343400"/>
            <a:ext cx="5257800" cy="1783080"/>
          </a:xfrm>
          <a:prstGeom prst="roundRect">
            <a:avLst>
              <a:gd name="adj" fmla="val 5128"/>
            </a:avLst>
          </a:prstGeom>
          <a:solidFill>
            <a:srgbClr val="C9603F"/>
          </a:solidFill>
          <a:ln/>
          <a:effectLst>
            <a:outerShdw sx="100000" sy="100000" kx="0" ky="0" algn="bl" rotWithShape="0" blurRad="101600" dist="38100" dir="5400000">
              <a:srgbClr val="10233A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537960" y="4544568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ブルーオーシャン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6537960" y="5001768"/>
            <a:ext cx="4709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人生をプロデュースする市場 ― 「心置きなく生ききる人生のプロデュース」という、競合不在の独自領域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155161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9603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OUR METHODOLOGY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「心置きなく生ききる人生のプロデュース」というメソッド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1920240" cy="1051560"/>
          </a:xfrm>
          <a:prstGeom prst="roundRect">
            <a:avLst>
              <a:gd name="adj" fmla="val 6957"/>
            </a:avLst>
          </a:prstGeom>
          <a:solidFill>
            <a:srgbClr val="1023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783080"/>
            <a:ext cx="1920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1DCC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テーマ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743200" y="1783080"/>
            <a:ext cx="3200400" cy="1051560"/>
          </a:xfrm>
          <a:prstGeom prst="roundRect">
            <a:avLst>
              <a:gd name="adj" fmla="val 6957"/>
            </a:avLst>
          </a:prstGeom>
          <a:solidFill>
            <a:srgbClr val="F6F1E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743200" y="1783080"/>
            <a:ext cx="3200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B6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死ぬ準備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943600" y="1783080"/>
            <a:ext cx="731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9603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675120" y="1783080"/>
            <a:ext cx="4480560" cy="1051560"/>
          </a:xfrm>
          <a:prstGeom prst="roundRect">
            <a:avLst>
              <a:gd name="adj" fmla="val 6957"/>
            </a:avLst>
          </a:prstGeom>
          <a:solidFill>
            <a:srgbClr val="C9603F"/>
          </a:solidFill>
          <a:ln/>
          <a:effectLst>
            <a:outerShdw sx="100000" sy="100000" kx="0" ky="0" algn="bl" rotWithShape="0" blurRad="101600" dist="38100" dir="5400000">
              <a:srgbClr val="10233A">
                <a:alpha val="1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675120" y="1783080"/>
            <a:ext cx="4480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生きる準備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40080" y="2971800"/>
            <a:ext cx="1920240" cy="1051560"/>
          </a:xfrm>
          <a:prstGeom prst="roundRect">
            <a:avLst>
              <a:gd name="adj" fmla="val 6957"/>
            </a:avLst>
          </a:prstGeom>
          <a:solidFill>
            <a:srgbClr val="10233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2971800"/>
            <a:ext cx="1920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1DCC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主語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2743200" y="2971800"/>
            <a:ext cx="3200400" cy="1051560"/>
          </a:xfrm>
          <a:prstGeom prst="roundRect">
            <a:avLst>
              <a:gd name="adj" fmla="val 6957"/>
            </a:avLst>
          </a:prstGeom>
          <a:solidFill>
            <a:srgbClr val="F6F1E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743200" y="2971800"/>
            <a:ext cx="3200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B6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財産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2971800"/>
            <a:ext cx="731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9603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→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6675120" y="2971800"/>
            <a:ext cx="4480560" cy="1051560"/>
          </a:xfrm>
          <a:prstGeom prst="roundRect">
            <a:avLst>
              <a:gd name="adj" fmla="val 6957"/>
            </a:avLst>
          </a:prstGeom>
          <a:solidFill>
            <a:srgbClr val="C9603F"/>
          </a:solidFill>
          <a:ln/>
          <a:effectLst>
            <a:outerShdw sx="100000" sy="100000" kx="0" ky="0" algn="bl" rotWithShape="0" blurRad="101600" dist="38100" dir="5400000">
              <a:srgbClr val="10233A">
                <a:alpha val="1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675120" y="2971800"/>
            <a:ext cx="4480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人生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40080" y="4160520"/>
            <a:ext cx="1920240" cy="1051560"/>
          </a:xfrm>
          <a:prstGeom prst="roundRect">
            <a:avLst>
              <a:gd name="adj" fmla="val 6957"/>
            </a:avLst>
          </a:prstGeom>
          <a:solidFill>
            <a:srgbClr val="10233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40080" y="4160520"/>
            <a:ext cx="1920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1DCC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関わり方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2743200" y="4160520"/>
            <a:ext cx="3200400" cy="1051560"/>
          </a:xfrm>
          <a:prstGeom prst="roundRect">
            <a:avLst>
              <a:gd name="adj" fmla="val 6957"/>
            </a:avLst>
          </a:prstGeom>
          <a:solidFill>
            <a:srgbClr val="F6F1E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743200" y="4160520"/>
            <a:ext cx="3200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B6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相続の処理（点）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0" y="4160520"/>
            <a:ext cx="731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9603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→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6675120" y="4160520"/>
            <a:ext cx="4480560" cy="1051560"/>
          </a:xfrm>
          <a:prstGeom prst="roundRect">
            <a:avLst>
              <a:gd name="adj" fmla="val 6957"/>
            </a:avLst>
          </a:prstGeom>
          <a:solidFill>
            <a:srgbClr val="C9603F"/>
          </a:solidFill>
          <a:ln/>
          <a:effectLst>
            <a:outerShdw sx="100000" sy="100000" kx="0" ky="0" algn="bl" rotWithShape="0" blurRad="101600" dist="38100" dir="5400000">
              <a:srgbClr val="10233A">
                <a:alpha val="18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6675120" y="4160520"/>
            <a:ext cx="4480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人生との伴走（線）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52578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A3A3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専門家だけが人生の最期を支えるのではなく、社会のさまざまな場所に「気づき、話し、必要な支援へ繋ぐ人」を増やしていく。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40080" y="57150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B6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このメソッドを「繋ぐノート」「繋ぐノートサポートアドバイザー®資格制度」「エキスパートコース（育成カリキュラム）」として実装している（素材②③）。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1155161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9603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FUNNEL COMPARISON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フロントの囲い込みが、違う。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2763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A5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一般的な相続ビジネス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92240" y="162763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9603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繋ぐグループメソッド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508760" y="2103120"/>
            <a:ext cx="1828800" cy="841248"/>
          </a:xfrm>
          <a:prstGeom prst="rect">
            <a:avLst/>
          </a:prstGeom>
          <a:solidFill>
            <a:srgbClr val="1E3A5F">
              <a:alpha val="32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554480" y="2103120"/>
            <a:ext cx="1737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0233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財産保有者のみ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4480560" y="2103120"/>
            <a:ext cx="19202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①課題化前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（フロント）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583680" y="2103120"/>
            <a:ext cx="4937760" cy="841248"/>
          </a:xfrm>
          <a:prstGeom prst="rect">
            <a:avLst/>
          </a:prstGeom>
          <a:solidFill>
            <a:srgbClr val="C9603F">
              <a:alpha val="32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29400" y="2103120"/>
            <a:ext cx="48463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233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全世代・全資産層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0233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（ACP・人生会議）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737360" y="3035808"/>
            <a:ext cx="1371600" cy="841248"/>
          </a:xfrm>
          <a:prstGeom prst="rect">
            <a:avLst/>
          </a:prstGeom>
          <a:solidFill>
            <a:srgbClr val="1E3A5F">
              <a:alpha val="55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783080" y="3035808"/>
            <a:ext cx="1280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0233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相続の悩みを自覚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4480560" y="3035808"/>
            <a:ext cx="19202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②認知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452360" y="3035808"/>
            <a:ext cx="3200400" cy="841248"/>
          </a:xfrm>
          <a:prstGeom prst="rect">
            <a:avLst/>
          </a:prstGeom>
          <a:solidFill>
            <a:srgbClr val="C9603F">
              <a:alpha val="55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498080" y="3035808"/>
            <a:ext cx="31089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233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人生会議の実践者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43100" y="3968496"/>
            <a:ext cx="960120" cy="841248"/>
          </a:xfrm>
          <a:prstGeom prst="rect">
            <a:avLst/>
          </a:prstGeom>
          <a:solidFill>
            <a:srgbClr val="1E3A5F">
              <a:alpha val="7700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988820" y="3968496"/>
            <a:ext cx="8686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士業へ相談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4480560" y="3968496"/>
            <a:ext cx="19202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③情報収集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138160" y="3968496"/>
            <a:ext cx="1828800" cy="841248"/>
          </a:xfrm>
          <a:prstGeom prst="rect">
            <a:avLst/>
          </a:prstGeom>
          <a:solidFill>
            <a:srgbClr val="C9603F">
              <a:alpha val="77000"/>
            </a:srgb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183880" y="3968496"/>
            <a:ext cx="1737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個別相談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サポートアドバイザー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125980" y="4901184"/>
            <a:ext cx="594360" cy="84124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480560" y="4901184"/>
            <a:ext cx="19202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④比較検討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・成約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618220" y="4901184"/>
            <a:ext cx="868680" cy="841248"/>
          </a:xfrm>
          <a:prstGeom prst="rect">
            <a:avLst/>
          </a:prstGeom>
          <a:solidFill>
            <a:srgbClr val="C9603F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40080" y="61722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6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入口を「財産」から「人生」に変えたことで、フロント（課題化前）の母数そのものを構造的に拡大している。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1155161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9603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MARKET WE CREATED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hubとしての3年間 ― 創出した経済圏（想定内訳）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943600" y="2560320"/>
            <a:ext cx="9144" cy="1417320"/>
          </a:xfrm>
          <a:prstGeom prst="line">
            <a:avLst/>
          </a:prstGeom>
          <a:noFill/>
          <a:ln w="19050">
            <a:solidFill>
              <a:srgbClr val="C9C2B6"/>
            </a:solidFill>
            <a:prstDash val="sysDot"/>
          </a:ln>
        </p:spPr>
      </p:sp>
      <p:sp>
        <p:nvSpPr>
          <p:cNvPr id="5" name="Shape 3"/>
          <p:cNvSpPr/>
          <p:nvPr/>
        </p:nvSpPr>
        <p:spPr>
          <a:xfrm>
            <a:off x="5943600" y="2975443"/>
            <a:ext cx="2263025" cy="1002197"/>
          </a:xfrm>
          <a:prstGeom prst="line">
            <a:avLst/>
          </a:prstGeom>
          <a:noFill/>
          <a:ln w="19050">
            <a:solidFill>
              <a:srgbClr val="C9C2B6"/>
            </a:solidFill>
            <a:prstDash val="sysDot"/>
          </a:ln>
        </p:spPr>
      </p:sp>
      <p:sp>
        <p:nvSpPr>
          <p:cNvPr id="6" name="Shape 4"/>
          <p:cNvSpPr/>
          <p:nvPr/>
        </p:nvSpPr>
        <p:spPr>
          <a:xfrm>
            <a:off x="5943600" y="3977640"/>
            <a:ext cx="3200400" cy="9144"/>
          </a:xfrm>
          <a:prstGeom prst="line">
            <a:avLst/>
          </a:prstGeom>
          <a:noFill/>
          <a:ln w="19050">
            <a:solidFill>
              <a:srgbClr val="C9C2B6"/>
            </a:solidFill>
            <a:prstDash val="sysDot"/>
          </a:ln>
        </p:spPr>
      </p:sp>
      <p:sp>
        <p:nvSpPr>
          <p:cNvPr id="7" name="Shape 5"/>
          <p:cNvSpPr/>
          <p:nvPr/>
        </p:nvSpPr>
        <p:spPr>
          <a:xfrm>
            <a:off x="5943600" y="3977640"/>
            <a:ext cx="2263025" cy="1002197"/>
          </a:xfrm>
          <a:prstGeom prst="line">
            <a:avLst/>
          </a:prstGeom>
          <a:noFill/>
          <a:ln w="19050">
            <a:solidFill>
              <a:srgbClr val="C9C2B6"/>
            </a:solidFill>
            <a:prstDash val="sysDot"/>
          </a:ln>
        </p:spPr>
      </p:sp>
      <p:sp>
        <p:nvSpPr>
          <p:cNvPr id="8" name="Shape 6"/>
          <p:cNvSpPr/>
          <p:nvPr/>
        </p:nvSpPr>
        <p:spPr>
          <a:xfrm>
            <a:off x="5943600" y="3977640"/>
            <a:ext cx="9144" cy="1417320"/>
          </a:xfrm>
          <a:prstGeom prst="line">
            <a:avLst/>
          </a:prstGeom>
          <a:noFill/>
          <a:ln w="19050">
            <a:solidFill>
              <a:srgbClr val="C9C2B6"/>
            </a:solidFill>
            <a:prstDash val="sysDot"/>
          </a:ln>
        </p:spPr>
      </p:sp>
      <p:sp>
        <p:nvSpPr>
          <p:cNvPr id="9" name="Shape 7"/>
          <p:cNvSpPr/>
          <p:nvPr/>
        </p:nvSpPr>
        <p:spPr>
          <a:xfrm>
            <a:off x="3680575" y="3977640"/>
            <a:ext cx="2263025" cy="1002197"/>
          </a:xfrm>
          <a:prstGeom prst="line">
            <a:avLst/>
          </a:prstGeom>
          <a:noFill/>
          <a:ln w="19050">
            <a:solidFill>
              <a:srgbClr val="C9C2B6"/>
            </a:solidFill>
            <a:prstDash val="sysDot"/>
          </a:ln>
        </p:spPr>
      </p:sp>
      <p:sp>
        <p:nvSpPr>
          <p:cNvPr id="10" name="Shape 8"/>
          <p:cNvSpPr/>
          <p:nvPr/>
        </p:nvSpPr>
        <p:spPr>
          <a:xfrm>
            <a:off x="2743200" y="3977640"/>
            <a:ext cx="3200400" cy="9144"/>
          </a:xfrm>
          <a:prstGeom prst="line">
            <a:avLst/>
          </a:prstGeom>
          <a:noFill/>
          <a:ln w="19050">
            <a:solidFill>
              <a:srgbClr val="C9C2B6"/>
            </a:solidFill>
            <a:prstDash val="sysDot"/>
          </a:ln>
        </p:spPr>
      </p:sp>
      <p:sp>
        <p:nvSpPr>
          <p:cNvPr id="11" name="Shape 9"/>
          <p:cNvSpPr/>
          <p:nvPr/>
        </p:nvSpPr>
        <p:spPr>
          <a:xfrm>
            <a:off x="3680575" y="2975443"/>
            <a:ext cx="2263025" cy="1002197"/>
          </a:xfrm>
          <a:prstGeom prst="line">
            <a:avLst/>
          </a:prstGeom>
          <a:noFill/>
          <a:ln w="19050">
            <a:solidFill>
              <a:srgbClr val="C9C2B6"/>
            </a:solidFill>
            <a:prstDash val="sysDot"/>
          </a:ln>
        </p:spPr>
      </p:sp>
      <p:sp>
        <p:nvSpPr>
          <p:cNvPr id="12" name="Shape 10"/>
          <p:cNvSpPr/>
          <p:nvPr/>
        </p:nvSpPr>
        <p:spPr>
          <a:xfrm>
            <a:off x="5052060" y="1668780"/>
            <a:ext cx="1783080" cy="178308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732020" y="1668780"/>
            <a:ext cx="24231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金融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50億円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406525" y="2175343"/>
            <a:ext cx="1600200" cy="160020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086485" y="2175343"/>
            <a:ext cx="22402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不動産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30億円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549640" y="3383280"/>
            <a:ext cx="1188720" cy="118872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0" y="3383280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M&amp;A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5億円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566545" y="4339757"/>
            <a:ext cx="1280160" cy="128016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246505" y="4339757"/>
            <a:ext cx="1920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その他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7億円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372100" y="4823460"/>
            <a:ext cx="1143000" cy="114300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052060" y="4823460"/>
            <a:ext cx="1783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有料老人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ホーム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3億円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200515" y="4499777"/>
            <a:ext cx="960120" cy="96012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880475" y="4499777"/>
            <a:ext cx="1600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弁護士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1億円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2217420" y="3451860"/>
            <a:ext cx="1051560" cy="105156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897380" y="3451860"/>
            <a:ext cx="1691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司法書士・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行政書士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2億円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3154795" y="2449663"/>
            <a:ext cx="1051560" cy="105156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2834755" y="2449663"/>
            <a:ext cx="1691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税理士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2億円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097780" y="3131820"/>
            <a:ext cx="1691640" cy="1691640"/>
          </a:xfrm>
          <a:prstGeom prst="ellipse">
            <a:avLst/>
          </a:prstGeom>
          <a:solidFill>
            <a:srgbClr val="C9603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777740" y="3131820"/>
            <a:ext cx="23317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繋ぐグループ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（hub）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9464040" y="1783080"/>
            <a:ext cx="2103120" cy="1051560"/>
          </a:xfrm>
          <a:prstGeom prst="roundRect">
            <a:avLst>
              <a:gd name="adj" fmla="val 8696"/>
            </a:avLst>
          </a:prstGeom>
          <a:solidFill>
            <a:srgbClr val="10233A"/>
          </a:solidFill>
          <a:ln/>
          <a:effectLst>
            <a:outerShdw sx="100000" sy="100000" kx="0" ky="0" algn="bl" rotWithShape="0" blurRad="101600" dist="38100" dir="5400000">
              <a:srgbClr val="10233A">
                <a:alpha val="18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9646920" y="19019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1DCC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想定合計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9646920" y="217627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約100億円</a:t>
            </a:r>
            <a:endParaRPr lang="en-US" sz="2400" dirty="0"/>
          </a:p>
        </p:txBody>
      </p:sp>
      <p:sp>
        <p:nvSpPr>
          <p:cNvPr id="33" name="Text 31"/>
          <p:cNvSpPr txBox="1"/>
          <p:nvPr/>
        </p:nvSpPr>
        <p:spPr>
          <a:xfrm>
            <a:off x="640080" y="626364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6B6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金額は現時点の想定値。ファイナル資料で使う際は「概算」「エピソードとして」と位置づけ、根拠の精査を行う。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1155161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9603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BREAKDOWN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内訳ランキング ― 金融・不動産で全体の8割</a:t>
            </a:r>
            <a:endParaRPr lang="en-US" sz="27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691640"/>
          <a:ext cx="667512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635240" y="1783080"/>
            <a:ext cx="3931920" cy="1828800"/>
          </a:xfrm>
          <a:prstGeom prst="roundRect">
            <a:avLst>
              <a:gd name="adj" fmla="val 5000"/>
            </a:avLst>
          </a:prstGeom>
          <a:solidFill>
            <a:srgbClr val="F6F1EA"/>
          </a:solidFill>
          <a:ln/>
          <a:effectLst>
            <a:outerShdw sx="100000" sy="100000" kx="0" ky="0" algn="bl" rotWithShape="0" blurRad="101600" dist="38100" dir="5400000">
              <a:srgbClr val="10233A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863840" y="19659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9603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金融＋不動産　＝　80億円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863840" y="242316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A3A3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全体想定100億円のうち約8割を占める、資産性の高い意思決定支援（相続発生時の資産整理・組み換え）が中核であることを示す。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7635240" y="3794760"/>
            <a:ext cx="3931920" cy="2194560"/>
          </a:xfrm>
          <a:prstGeom prst="roundRect">
            <a:avLst>
              <a:gd name="adj" fmla="val 4167"/>
            </a:avLst>
          </a:prstGeom>
          <a:solidFill>
            <a:srgbClr val="F6F1EA"/>
          </a:solidFill>
          <a:ln/>
          <a:effectLst>
            <a:outerShdw sx="100000" sy="100000" kx="0" ky="0" algn="bl" rotWithShape="0" blurRad="101600" dist="38100" dir="5400000">
              <a:srgbClr val="10233A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7863840" y="39776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5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残り2割＝士業・施設・M&amp;Aの裾野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7863840" y="4434840"/>
            <a:ext cx="3474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8000"/>
              </a:lnSpc>
              <a:spcAft>
                <a:spcPts val="800"/>
              </a:spcAft>
              <a:buSzPct val="100000"/>
              <a:buChar char="●"/>
            </a:pPr>
            <a:r>
              <a:rPr lang="en-US" sz="1150" dirty="0">
                <a:solidFill>
                  <a:srgbClr val="3A3A3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税理士・司法書士・行政書士・弁護士＝合計7億円</a:t>
            </a:r>
            <a:endParaRPr lang="en-US" sz="1150" dirty="0"/>
          </a:p>
          <a:p>
            <a:pPr marL="342900" indent="-342900">
              <a:lnSpc>
                <a:spcPct val="128000"/>
              </a:lnSpc>
              <a:spcAft>
                <a:spcPts val="800"/>
              </a:spcAft>
              <a:buSzPct val="100000"/>
              <a:buChar char="●"/>
            </a:pPr>
            <a:r>
              <a:rPr lang="en-US" sz="1150" dirty="0">
                <a:solidFill>
                  <a:srgbClr val="3A3A3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有料老人ホーム3億円、法人バルクM&amp;A5億円</a:t>
            </a:r>
            <a:endParaRPr lang="en-US" sz="1150" dirty="0"/>
          </a:p>
          <a:p>
            <a:pPr marL="342900" indent="-342900">
              <a:lnSpc>
                <a:spcPct val="128000"/>
              </a:lnSpc>
              <a:spcAft>
                <a:spcPts val="800"/>
              </a:spcAft>
              <a:buSzPct val="100000"/>
              <a:buChar char="●"/>
            </a:pPr>
            <a:r>
              <a:rPr lang="en-US" sz="1150" dirty="0">
                <a:solidFill>
                  <a:srgbClr val="3A3A3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単発の大型案件だけでなく、裾野の広い専門家連携が常時発生している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1155161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9603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01 / NOVELTY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斬新性 ― 「hub」として経済圏を創るという発想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0607040" y="502920"/>
            <a:ext cx="822960" cy="822960"/>
          </a:xfrm>
          <a:prstGeom prst="ellipse">
            <a:avLst/>
          </a:prstGeom>
          <a:solidFill>
            <a:srgbClr val="C9603F"/>
          </a:solidFill>
          <a:ln/>
          <a:effectLst>
            <a:outerShdw sx="100000" sy="100000" kx="0" ky="0" algn="bl" rotWithShape="0" blurRad="101600" dist="38100" dir="5400000">
              <a:srgbClr val="10233A">
                <a:alpha val="1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0607040" y="5029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8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斬</a:t>
            </a:r>
            <a:endParaRPr lang="en-US" sz="288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783080"/>
            <a:ext cx="108813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8000"/>
              </a:lnSpc>
              <a:spcAft>
                <a:spcPts val="1200"/>
              </a:spcAft>
              <a:buSzPct val="100000"/>
              <a:buChar char="●"/>
            </a:pPr>
            <a:r>
              <a:rPr lang="en-US" sz="1500" dirty="0">
                <a:solidFill>
                  <a:srgbClr val="3A3A3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相続コンサルタントが自社の商品を売るのではなく、金融・不動産・士業など周辺専門家の収益の「結節点（hub）」になるという発想そのものが、他に類を見ない（素材①）</a:t>
            </a:r>
            <a:endParaRPr lang="en-US" sz="1500" dirty="0"/>
          </a:p>
          <a:p>
            <a:pPr marL="342900" indent="-342900">
              <a:lnSpc>
                <a:spcPct val="128000"/>
              </a:lnSpc>
              <a:spcAft>
                <a:spcPts val="1200"/>
              </a:spcAft>
              <a:buSzPct val="100000"/>
              <a:buChar char="●"/>
            </a:pPr>
            <a:r>
              <a:rPr lang="en-US" sz="1500" dirty="0">
                <a:solidFill>
                  <a:srgbClr val="3A3A3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厚生労働省が既に推進している公的な枠組み（ACP＝人生会議）を、自社の“フロントエンド”として活用するという発想の転換（素材②）</a:t>
            </a:r>
            <a:endParaRPr lang="en-US" sz="1500" dirty="0"/>
          </a:p>
          <a:p>
            <a:pPr marL="342900" indent="-342900">
              <a:lnSpc>
                <a:spcPct val="128000"/>
              </a:lnSpc>
              <a:spcAft>
                <a:spcPts val="1200"/>
              </a:spcAft>
              <a:buSzPct val="100000"/>
              <a:buChar char="●"/>
            </a:pPr>
            <a:r>
              <a:rPr lang="en-US" sz="1500" dirty="0">
                <a:solidFill>
                  <a:srgbClr val="3A3A3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「財産ではなく、家族の抱える“隠れた課題”を見つけに行く」という視点を、育成カリキュラムとして体系化・教材化している（素材③）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484632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14400" y="484632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1DCC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「ノートを売る」会社ではなく、「専門家たちの収益の結節点になる」会社。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1155161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9603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02 / PROFITABILITY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収益性 ― 自社の売上ではなく、創出した経済圏で語る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0607040" y="502920"/>
            <a:ext cx="822960" cy="822960"/>
          </a:xfrm>
          <a:prstGeom prst="ellipse">
            <a:avLst/>
          </a:prstGeom>
          <a:solidFill>
            <a:srgbClr val="C9603F"/>
          </a:solidFill>
          <a:ln/>
          <a:effectLst>
            <a:outerShdw sx="100000" sy="100000" kx="0" ky="0" algn="bl" rotWithShape="0" blurRad="101600" dist="38100" dir="5400000">
              <a:srgbClr val="10233A">
                <a:alpha val="1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0607040" y="5029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8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収</a:t>
            </a:r>
            <a:endParaRPr lang="en-US" sz="288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783080"/>
            <a:ext cx="108813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8000"/>
              </a:lnSpc>
              <a:spcAft>
                <a:spcPts val="1200"/>
              </a:spcAft>
              <a:buSzPct val="100000"/>
              <a:buChar char="●"/>
            </a:pPr>
            <a:r>
              <a:rPr lang="en-US" sz="1500" dirty="0">
                <a:solidFill>
                  <a:srgbClr val="3A3A3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自社単体の売上（約5,000万円）だけを見れば小さく映るが、hubとして周辺専門家にもたらした経済圏は約100億円</a:t>
            </a:r>
            <a:endParaRPr lang="en-US" sz="1500" dirty="0"/>
          </a:p>
          <a:p>
            <a:pPr marL="342900" indent="-342900">
              <a:lnSpc>
                <a:spcPct val="128000"/>
              </a:lnSpc>
              <a:spcAft>
                <a:spcPts val="1200"/>
              </a:spcAft>
              <a:buSzPct val="100000"/>
              <a:buChar char="●"/>
            </a:pPr>
            <a:r>
              <a:rPr lang="en-US" sz="1500" dirty="0">
                <a:solidFill>
                  <a:srgbClr val="3A3A3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信用金庫への新規資金導入 約7億円、法人バルクM&amp;A 2億円など、具体的な実例が裏付け（素材①）</a:t>
            </a:r>
            <a:endParaRPr lang="en-US" sz="1500" dirty="0"/>
          </a:p>
          <a:p>
            <a:pPr marL="342900" indent="-342900">
              <a:lnSpc>
                <a:spcPct val="128000"/>
              </a:lnSpc>
              <a:spcAft>
                <a:spcPts val="1200"/>
              </a:spcAft>
              <a:buSzPct val="100000"/>
              <a:buChar char="●"/>
            </a:pPr>
            <a:r>
              <a:rPr lang="en-US" sz="1500" dirty="0">
                <a:solidFill>
                  <a:srgbClr val="3A3A3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「繋ぐグループ全体の売上」という表現は“事業間シナジー”の指標として使ってよいと事務局（加藤氏）からも確認済み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4572000"/>
            <a:ext cx="3200400" cy="1371600"/>
          </a:xfrm>
          <a:prstGeom prst="roundRect">
            <a:avLst>
              <a:gd name="adj" fmla="val 6667"/>
            </a:avLst>
          </a:prstGeom>
          <a:solidFill>
            <a:srgbClr val="F6F1EA"/>
          </a:solidFill>
          <a:ln/>
          <a:effectLst>
            <a:outerShdw sx="100000" sy="100000" kx="0" ky="0" algn="bl" rotWithShape="0" blurRad="101600" dist="38100" dir="5400000">
              <a:srgbClr val="10233A">
                <a:alpha val="1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77240" y="47548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E3A5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5,000万円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54406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6B6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自社単体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3858768" y="4983480"/>
            <a:ext cx="3749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9603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→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4251960" y="4572000"/>
            <a:ext cx="3200400" cy="1371600"/>
          </a:xfrm>
          <a:prstGeom prst="roundRect">
            <a:avLst>
              <a:gd name="adj" fmla="val 6667"/>
            </a:avLst>
          </a:prstGeom>
          <a:solidFill>
            <a:srgbClr val="F6F1EA"/>
          </a:solidFill>
          <a:ln/>
          <a:effectLst>
            <a:outerShdw sx="100000" sy="100000" kx="0" ky="0" algn="bl" rotWithShape="0" blurRad="101600" dist="38100" dir="5400000">
              <a:srgbClr val="10233A">
                <a:alpha val="1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389120" y="47548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E3A5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3億円規模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4389120" y="54406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6B6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グループ全体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7470648" y="4983480"/>
            <a:ext cx="3749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9603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→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7863840" y="4572000"/>
            <a:ext cx="3200400" cy="1371600"/>
          </a:xfrm>
          <a:prstGeom prst="roundRect">
            <a:avLst>
              <a:gd name="adj" fmla="val 6667"/>
            </a:avLst>
          </a:prstGeom>
          <a:solidFill>
            <a:srgbClr val="C9603F"/>
          </a:solidFill>
          <a:ln/>
          <a:effectLst>
            <a:outerShdw sx="100000" sy="100000" kx="0" ky="0" algn="bl" rotWithShape="0" blurRad="101600" dist="38100" dir="5400000">
              <a:srgbClr val="10233A">
                <a:alpha val="1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8001000" y="47548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約100億円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8001000" y="54406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1DCC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周辺経済圏（hub）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1155161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9603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03 / GROWTH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成長性 ― 二つのファネルが、経済圏をさらに広げる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0607040" y="502920"/>
            <a:ext cx="822960" cy="822960"/>
          </a:xfrm>
          <a:prstGeom prst="ellipse">
            <a:avLst/>
          </a:prstGeom>
          <a:solidFill>
            <a:srgbClr val="C9603F"/>
          </a:solidFill>
          <a:ln/>
          <a:effectLst>
            <a:outerShdw sx="100000" sy="100000" kx="0" ky="0" algn="bl" rotWithShape="0" blurRad="101600" dist="38100" dir="5400000">
              <a:srgbClr val="10233A">
                <a:alpha val="1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0607040" y="5029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8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成</a:t>
            </a:r>
            <a:endParaRPr lang="en-US" sz="288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783080"/>
            <a:ext cx="108813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8000"/>
              </a:lnSpc>
              <a:spcAft>
                <a:spcPts val="1200"/>
              </a:spcAft>
              <a:buSzPct val="100000"/>
              <a:buChar char="●"/>
            </a:pPr>
            <a:r>
              <a:rPr lang="en-US" sz="1500" dirty="0">
                <a:solidFill>
                  <a:srgbClr val="3A3A3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顧客ファネル：ACP（人生会議）をフロントに据え、相続対策に着手する母数を構造的に拡大する仕組み（素材②）</a:t>
            </a:r>
            <a:endParaRPr lang="en-US" sz="1500" dirty="0"/>
          </a:p>
          <a:p>
            <a:pPr marL="342900" indent="-342900">
              <a:lnSpc>
                <a:spcPct val="128000"/>
              </a:lnSpc>
              <a:spcAft>
                <a:spcPts val="1200"/>
              </a:spcAft>
              <a:buSzPct val="100000"/>
              <a:buChar char="●"/>
            </a:pPr>
            <a:r>
              <a:rPr lang="en-US" sz="1500" dirty="0">
                <a:solidFill>
                  <a:srgbClr val="3A3A3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人材ファネル：資格講座の卒業生が「講師デビュー」し、自ら次の集客・紹介導線を生み出す自己増殖構造（素材③）</a:t>
            </a:r>
            <a:endParaRPr lang="en-US" sz="1500" dirty="0"/>
          </a:p>
          <a:p>
            <a:pPr marL="342900" indent="-342900">
              <a:lnSpc>
                <a:spcPct val="128000"/>
              </a:lnSpc>
              <a:spcAft>
                <a:spcPts val="1200"/>
              </a:spcAft>
              <a:buSzPct val="100000"/>
              <a:buChar char="●"/>
            </a:pPr>
            <a:r>
              <a:rPr lang="en-US" sz="1500" dirty="0">
                <a:solidFill>
                  <a:srgbClr val="3A3A3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二つのファネルが重なり合うことで、約100億円の経済圏をさらに拡大し、3年後FC100事業所という成長サイクルへつながる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4754880"/>
            <a:ext cx="3383280" cy="1371600"/>
          </a:xfrm>
          <a:prstGeom prst="roundRect">
            <a:avLst>
              <a:gd name="adj" fmla="val 6667"/>
            </a:avLst>
          </a:prstGeom>
          <a:solidFill>
            <a:srgbClr val="F6F1EA"/>
          </a:solidFill>
          <a:ln/>
          <a:effectLst>
            <a:outerShdw sx="100000" sy="100000" kx="0" ky="0" algn="bl" rotWithShape="0" blurRad="101600" dist="38100" dir="5400000">
              <a:srgbClr val="10233A">
                <a:alpha val="1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68680" y="4956048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顧客ファネル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5413248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A3A3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ACP（人生会議）が入口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297680" y="4754880"/>
            <a:ext cx="3383280" cy="1371600"/>
          </a:xfrm>
          <a:prstGeom prst="roundRect">
            <a:avLst>
              <a:gd name="adj" fmla="val 6667"/>
            </a:avLst>
          </a:prstGeom>
          <a:solidFill>
            <a:srgbClr val="F6F1EA"/>
          </a:solidFill>
          <a:ln/>
          <a:effectLst>
            <a:outerShdw sx="100000" sy="100000" kx="0" ky="0" algn="bl" rotWithShape="0" blurRad="101600" dist="38100" dir="5400000">
              <a:srgbClr val="10233A">
                <a:alpha val="1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4526280" y="4956048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人材ファネル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526280" y="5413248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A3A3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講師デビューが入口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4023360" y="5074920"/>
            <a:ext cx="274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9603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＋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7680960" y="5074920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9603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→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8229600" y="4754880"/>
            <a:ext cx="3322015" cy="1371600"/>
          </a:xfrm>
          <a:prstGeom prst="roundRect">
            <a:avLst>
              <a:gd name="adj" fmla="val 6667"/>
            </a:avLst>
          </a:prstGeom>
          <a:solidFill>
            <a:srgbClr val="C9603F"/>
          </a:solidFill>
          <a:ln/>
          <a:effectLst>
            <a:outerShdw sx="100000" sy="100000" kx="0" ky="0" algn="bl" rotWithShape="0" blurRad="101600" dist="38100" dir="5400000">
              <a:srgbClr val="10233A">
                <a:alpha val="1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8458200" y="4956048"/>
            <a:ext cx="3093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経済圏100億円のさらなる拡大</a:t>
            </a:r>
            <a:endParaRPr lang="en-US" sz="1550" dirty="0"/>
          </a:p>
        </p:txBody>
      </p:sp>
      <p:sp>
        <p:nvSpPr>
          <p:cNvPr id="17" name="Text 15"/>
          <p:cNvSpPr txBox="1"/>
          <p:nvPr/>
        </p:nvSpPr>
        <p:spPr>
          <a:xfrm>
            <a:off x="8458200" y="5413248"/>
            <a:ext cx="3093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1DCC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→ 3年後 FC100事業所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155161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9603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04 / MARKET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市場性 ― 「財産がある人」から、全世代・全業種へ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0607040" y="502920"/>
            <a:ext cx="822960" cy="822960"/>
          </a:xfrm>
          <a:prstGeom prst="ellipse">
            <a:avLst/>
          </a:prstGeom>
          <a:solidFill>
            <a:srgbClr val="C9603F"/>
          </a:solidFill>
          <a:ln/>
          <a:effectLst>
            <a:outerShdw sx="100000" sy="100000" kx="0" ky="0" algn="bl" rotWithShape="0" blurRad="101600" dist="38100" dir="5400000">
              <a:srgbClr val="10233A">
                <a:alpha val="1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0607040" y="5029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8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市</a:t>
            </a:r>
            <a:endParaRPr lang="en-US" sz="288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783080"/>
            <a:ext cx="108813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8000"/>
              </a:lnSpc>
              <a:spcAft>
                <a:spcPts val="1200"/>
              </a:spcAft>
              <a:buSzPct val="100000"/>
              <a:buChar char="●"/>
            </a:pPr>
            <a:r>
              <a:rPr lang="en-US" sz="1500" dirty="0">
                <a:solidFill>
                  <a:srgbClr val="3A3A3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直接のターゲット：資産5億円〜10億円超の富裕層・超富裕層（素材①）</a:t>
            </a:r>
            <a:endParaRPr lang="en-US" sz="1500" dirty="0"/>
          </a:p>
          <a:p>
            <a:pPr marL="342900" indent="-342900">
              <a:lnSpc>
                <a:spcPct val="128000"/>
              </a:lnSpc>
              <a:spcAft>
                <a:spcPts val="1200"/>
              </a:spcAft>
              <a:buSzPct val="100000"/>
              <a:buChar char="●"/>
            </a:pPr>
            <a:r>
              <a:rPr lang="en-US" sz="1500" dirty="0">
                <a:solidFill>
                  <a:srgbClr val="3A3A3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ACPを入口にすることで、財産の有無に関わらず誰もがターゲットになる市場へ構造的に拡大（素材②）</a:t>
            </a:r>
            <a:endParaRPr lang="en-US" sz="1500" dirty="0"/>
          </a:p>
          <a:p>
            <a:pPr marL="342900" indent="-342900">
              <a:lnSpc>
                <a:spcPct val="128000"/>
              </a:lnSpc>
              <a:spcAft>
                <a:spcPts val="1200"/>
              </a:spcAft>
              <a:buSzPct val="100000"/>
              <a:buChar char="●"/>
            </a:pPr>
            <a:r>
              <a:rPr lang="en-US" sz="1500" dirty="0">
                <a:solidFill>
                  <a:srgbClr val="3A3A3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周辺専門家（税理士・司法書士・行政書士・弁護士・不動産・金融・有料老人ホーム・M&amp;A）を含めれば、市場は相続業界単体にとどまらない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4709160"/>
            <a:ext cx="3200400" cy="1280160"/>
          </a:xfrm>
          <a:prstGeom prst="roundRect">
            <a:avLst>
              <a:gd name="adj" fmla="val 7143"/>
            </a:avLst>
          </a:prstGeom>
          <a:solidFill>
            <a:srgbClr val="F6F1EA"/>
          </a:solidFill>
          <a:ln/>
          <a:effectLst>
            <a:outerShdw sx="100000" sy="100000" kx="0" ky="0" algn="bl" rotWithShape="0" blurRad="101600" dist="38100" dir="5400000">
              <a:srgbClr val="10233A">
                <a:alpha val="1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77240" y="4873752"/>
            <a:ext cx="2926080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9603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50事業所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5426050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3A5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全国の拠点数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251960" y="4709160"/>
            <a:ext cx="3200400" cy="1280160"/>
          </a:xfrm>
          <a:prstGeom prst="roundRect">
            <a:avLst>
              <a:gd name="adj" fmla="val 7143"/>
            </a:avLst>
          </a:prstGeom>
          <a:solidFill>
            <a:srgbClr val="F6F1EA"/>
          </a:solidFill>
          <a:ln/>
          <a:effectLst>
            <a:outerShdw sx="100000" sy="100000" kx="0" ky="0" algn="bl" rotWithShape="0" blurRad="101600" dist="38100" dir="5400000">
              <a:srgbClr val="10233A">
                <a:alpha val="1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4389120" y="4873752"/>
            <a:ext cx="2926080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9603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資産5〜10億円超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4343400" y="5426050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3A5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直接の顧客層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863840" y="4709160"/>
            <a:ext cx="3200400" cy="1280160"/>
          </a:xfrm>
          <a:prstGeom prst="roundRect">
            <a:avLst>
              <a:gd name="adj" fmla="val 7143"/>
            </a:avLst>
          </a:prstGeom>
          <a:solidFill>
            <a:srgbClr val="F6F1EA"/>
          </a:solidFill>
          <a:ln/>
          <a:effectLst>
            <a:outerShdw sx="100000" sy="100000" kx="0" ky="0" algn="bl" rotWithShape="0" blurRad="101600" dist="38100" dir="5400000">
              <a:srgbClr val="10233A">
                <a:alpha val="1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8001000" y="4873752"/>
            <a:ext cx="2926080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9603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約100億円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7955280" y="5426050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3A5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周辺経済圏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1155161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9603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05 / ADVANTAGE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優位性 ― 「バッジのない」からこそ生まれた協業モデル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0607040" y="502920"/>
            <a:ext cx="822960" cy="822960"/>
          </a:xfrm>
          <a:prstGeom prst="ellipse">
            <a:avLst/>
          </a:prstGeom>
          <a:solidFill>
            <a:srgbClr val="C9603F"/>
          </a:solidFill>
          <a:ln/>
          <a:effectLst>
            <a:outerShdw sx="100000" sy="100000" kx="0" ky="0" algn="bl" rotWithShape="0" blurRad="101600" dist="38100" dir="5400000">
              <a:srgbClr val="10233A">
                <a:alpha val="1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0607040" y="5029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8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優</a:t>
            </a:r>
            <a:endParaRPr lang="en-US" sz="288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10881360" cy="822960"/>
          </a:xfrm>
          <a:prstGeom prst="roundRect">
            <a:avLst>
              <a:gd name="adj" fmla="val 8889"/>
            </a:avLst>
          </a:prstGeom>
          <a:solidFill>
            <a:srgbClr val="1E3A5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14400" y="178308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i="1" dirty="0">
                <a:solidFill>
                  <a:srgbClr val="F1DCC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『バッジのない、コンサルタントに、相続ビジネスの何ができるのか？』―起業当初、ある士業の先生に言われた言葉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834640"/>
            <a:ext cx="1088136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8000"/>
              </a:lnSpc>
              <a:spcAft>
                <a:spcPts val="1200"/>
              </a:spcAft>
              <a:buSzPct val="100000"/>
              <a:buChar char="●"/>
            </a:pPr>
            <a:r>
              <a:rPr lang="en-US" sz="1500" dirty="0">
                <a:solidFill>
                  <a:srgbClr val="3A3A3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その後、「士業の先生が私に足を向けて寝れないくらい」仕事を生み出し続け、自分の収益だけを追わない「本当の協業スタイル」を確立（素材①）</a:t>
            </a:r>
            <a:endParaRPr lang="en-US" sz="1500" dirty="0"/>
          </a:p>
          <a:p>
            <a:pPr marL="342900" indent="-342900">
              <a:lnSpc>
                <a:spcPct val="128000"/>
              </a:lnSpc>
              <a:spcAft>
                <a:spcPts val="1200"/>
              </a:spcAft>
              <a:buSzPct val="100000"/>
              <a:buChar char="●"/>
            </a:pPr>
            <a:r>
              <a:rPr lang="en-US" sz="1500" dirty="0">
                <a:solidFill>
                  <a:srgbClr val="3A3A3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この協業の仕組みを、第3回（紹介構造）・第4回（“人生の指揮官”モデル）のカリキュラムとして教材化し、再現可能な技術にしている（素材③）</a:t>
            </a:r>
            <a:endParaRPr lang="en-US" sz="1500" dirty="0"/>
          </a:p>
          <a:p>
            <a:pPr marL="342900" indent="-342900">
              <a:lnSpc>
                <a:spcPct val="128000"/>
              </a:lnSpc>
              <a:spcAft>
                <a:spcPts val="1200"/>
              </a:spcAft>
              <a:buSzPct val="100000"/>
              <a:buChar char="●"/>
            </a:pPr>
            <a:r>
              <a:rPr lang="en-US" sz="1500" dirty="0">
                <a:solidFill>
                  <a:srgbClr val="3A3A3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「財産に着目する」のではなく「家族の隠れた課題を見つけに行く」という視点そのものが、他の相続コンサル・士業・金融機関にはない方法論的な差別化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55161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9603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06 / CONTRIBUTION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貢献性 ― 100億円の中身は、関わった全員への貢献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0607040" y="502920"/>
            <a:ext cx="822960" cy="822960"/>
          </a:xfrm>
          <a:prstGeom prst="ellipse">
            <a:avLst/>
          </a:prstGeom>
          <a:solidFill>
            <a:srgbClr val="C9603F"/>
          </a:solidFill>
          <a:ln/>
          <a:effectLst>
            <a:outerShdw sx="100000" sy="100000" kx="0" ky="0" algn="bl" rotWithShape="0" blurRad="101600" dist="38100" dir="5400000">
              <a:srgbClr val="10233A">
                <a:alpha val="1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0607040" y="5029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8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貢</a:t>
            </a:r>
            <a:endParaRPr lang="en-US" sz="288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783080"/>
            <a:ext cx="108813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8000"/>
              </a:lnSpc>
              <a:spcAft>
                <a:spcPts val="1200"/>
              </a:spcAft>
              <a:buSzPct val="100000"/>
              <a:buChar char="●"/>
            </a:pPr>
            <a:r>
              <a:rPr lang="en-US" sz="1500" dirty="0">
                <a:solidFill>
                  <a:srgbClr val="3A3A3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末端の顧客（本人・家族）：財産ではなく「対話」による安心と幸福度の向上（終活×幸福度の各種調査）</a:t>
            </a:r>
            <a:endParaRPr lang="en-US" sz="1500" dirty="0"/>
          </a:p>
          <a:p>
            <a:pPr marL="342900" indent="-342900">
              <a:lnSpc>
                <a:spcPct val="128000"/>
              </a:lnSpc>
              <a:spcAft>
                <a:spcPts val="1200"/>
              </a:spcAft>
              <a:buSzPct val="100000"/>
              <a:buChar char="●"/>
            </a:pPr>
            <a:r>
              <a:rPr lang="en-US" sz="1500" dirty="0">
                <a:solidFill>
                  <a:srgbClr val="3A3A3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周辺専門家（税理士・弁護士・不動産・金融等）：新たな受任機会・収益機会の創出（素材①）</a:t>
            </a:r>
            <a:endParaRPr lang="en-US" sz="1500" dirty="0"/>
          </a:p>
          <a:p>
            <a:pPr marL="342900" indent="-342900">
              <a:lnSpc>
                <a:spcPct val="128000"/>
              </a:lnSpc>
              <a:spcAft>
                <a:spcPts val="1200"/>
              </a:spcAft>
              <a:buSzPct val="100000"/>
              <a:buChar char="●"/>
            </a:pPr>
            <a:r>
              <a:rPr lang="en-US" sz="1500" dirty="0">
                <a:solidFill>
                  <a:srgbClr val="3A3A3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企業：福利厚生導入を通じ「従業員を大切にする法人」への進化を支援</a:t>
            </a:r>
            <a:endParaRPr lang="en-US" sz="1500" dirty="0"/>
          </a:p>
          <a:p>
            <a:pPr marL="342900" indent="-342900">
              <a:lnSpc>
                <a:spcPct val="128000"/>
              </a:lnSpc>
              <a:spcAft>
                <a:spcPts val="1200"/>
              </a:spcAft>
              <a:buSzPct val="100000"/>
              <a:buChar char="●"/>
            </a:pPr>
            <a:r>
              <a:rPr lang="en-US" sz="1500" dirty="0">
                <a:solidFill>
                  <a:srgbClr val="3A3A3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行政・地域：朝来市 → 岸和田市など、一つの街で実証した連携モデルの横展開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4754880"/>
            <a:ext cx="2468880" cy="1325880"/>
          </a:xfrm>
          <a:prstGeom prst="roundRect">
            <a:avLst>
              <a:gd name="adj" fmla="val 6897"/>
            </a:avLst>
          </a:prstGeom>
          <a:solidFill>
            <a:srgbClr val="F6F1EA"/>
          </a:solidFill>
          <a:ln/>
          <a:effectLst>
            <a:outerShdw sx="100000" sy="100000" kx="0" ky="0" algn="bl" rotWithShape="0" blurRad="101600" dist="38100" dir="5400000">
              <a:srgbClr val="10233A">
                <a:alpha val="1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49377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603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顧客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534924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A3A3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対話による安心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83280" y="4754880"/>
            <a:ext cx="2468880" cy="1325880"/>
          </a:xfrm>
          <a:prstGeom prst="roundRect">
            <a:avLst>
              <a:gd name="adj" fmla="val 6897"/>
            </a:avLst>
          </a:prstGeom>
          <a:solidFill>
            <a:srgbClr val="F6F1EA"/>
          </a:solidFill>
          <a:ln/>
          <a:effectLst>
            <a:outerShdw sx="100000" sy="100000" kx="0" ky="0" algn="bl" rotWithShape="0" blurRad="101600" dist="38100" dir="5400000">
              <a:srgbClr val="10233A">
                <a:alpha val="1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3566160" y="49377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603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専門家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566160" y="534924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A3A3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新たな受任機会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126480" y="4754880"/>
            <a:ext cx="2468880" cy="1325880"/>
          </a:xfrm>
          <a:prstGeom prst="roundRect">
            <a:avLst>
              <a:gd name="adj" fmla="val 6897"/>
            </a:avLst>
          </a:prstGeom>
          <a:solidFill>
            <a:srgbClr val="F6F1EA"/>
          </a:solidFill>
          <a:ln/>
          <a:effectLst>
            <a:outerShdw sx="100000" sy="100000" kx="0" ky="0" algn="bl" rotWithShape="0" blurRad="101600" dist="38100" dir="5400000">
              <a:srgbClr val="10233A">
                <a:alpha val="1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309360" y="49377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603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企業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309360" y="534924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A3A3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従業員を大切にする法人へ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869680" y="4754880"/>
            <a:ext cx="2468880" cy="1325880"/>
          </a:xfrm>
          <a:prstGeom prst="roundRect">
            <a:avLst>
              <a:gd name="adj" fmla="val 6897"/>
            </a:avLst>
          </a:prstGeom>
          <a:solidFill>
            <a:srgbClr val="F6F1EA"/>
          </a:solidFill>
          <a:ln/>
          <a:effectLst>
            <a:outerShdw sx="100000" sy="100000" kx="0" ky="0" algn="bl" rotWithShape="0" blurRad="101600" dist="38100" dir="5400000">
              <a:srgbClr val="10233A">
                <a:alpha val="1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052560" y="49377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603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行政・地域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9052560" y="534924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A3A3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連携モデルの横展開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1155161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2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2286000"/>
            <a:ext cx="5486400" cy="5486400"/>
          </a:xfrm>
          <a:prstGeom prst="ellipse">
            <a:avLst/>
          </a:prstGeom>
          <a:solidFill>
            <a:srgbClr val="C9603F">
              <a:alpha val="12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548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1DCC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SUMMARY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8686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「実績」から「展望」へ ― 2段構成のストーリー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1783080"/>
            <a:ext cx="5120640" cy="1737360"/>
          </a:xfrm>
          <a:prstGeom prst="roundRect">
            <a:avLst>
              <a:gd name="adj" fmla="val 5263"/>
            </a:avLst>
          </a:prstGeom>
          <a:solidFill>
            <a:srgbClr val="C9603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51560" y="196596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1DCC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STAGE 1　実績（過去〜現在）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2331720"/>
            <a:ext cx="4663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hubとして3年間で創出した経済圏＝約100億円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17920" y="1783080"/>
            <a:ext cx="5120640" cy="1737360"/>
          </a:xfrm>
          <a:prstGeom prst="roundRect">
            <a:avLst>
              <a:gd name="adj" fmla="val 5263"/>
            </a:avLst>
          </a:prstGeom>
          <a:solidFill>
            <a:srgbClr val="2A4A6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46520" y="196596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1DCC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STAGE 2　展望（未来）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446520" y="2331720"/>
            <a:ext cx="4663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二つのファネル（顧客・人材）で、FC100事業所体制へ拡大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7947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1DCC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7分間プレゼン構成イメージ（たたき台）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4206240"/>
            <a:ext cx="100584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8000"/>
              </a:lnSpc>
              <a:spcAft>
                <a:spcPts val="700"/>
              </a:spcAft>
              <a:buSzPct val="100000"/>
              <a:buChar char="●"/>
            </a:pPr>
            <a:r>
              <a:rPr lang="en-US" sz="1300" dirty="0">
                <a:solidFill>
                  <a:srgbClr val="DCE3EC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① 課題提起 ― 相続ビジネスのレッドオーシャン化と「財産がある人だけのカルチャー」の限界</a:t>
            </a:r>
            <a:endParaRPr lang="en-US" sz="1300" dirty="0"/>
          </a:p>
          <a:p>
            <a:pPr marL="342900" indent="-342900">
              <a:lnSpc>
                <a:spcPct val="128000"/>
              </a:lnSpc>
              <a:spcAft>
                <a:spcPts val="700"/>
              </a:spcAft>
              <a:buSzPct val="100000"/>
              <a:buChar char="●"/>
            </a:pPr>
            <a:r>
              <a:rPr lang="en-US" sz="1300" dirty="0">
                <a:solidFill>
                  <a:srgbClr val="DCE3EC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② 新・相続ビジネス ― 財産から人生へ。“心置きなく生ききる人生のプロデュース”とフロント比較（ブルーオーシャンの所在）</a:t>
            </a:r>
            <a:endParaRPr lang="en-US" sz="1300" dirty="0"/>
          </a:p>
          <a:p>
            <a:pPr marL="342900" indent="-342900">
              <a:lnSpc>
                <a:spcPct val="128000"/>
              </a:lnSpc>
              <a:spcAft>
                <a:spcPts val="700"/>
              </a:spcAft>
              <a:buSzPct val="100000"/>
              <a:buChar char="●"/>
            </a:pPr>
            <a:r>
              <a:rPr lang="en-US" sz="1300" dirty="0">
                <a:solidFill>
                  <a:srgbClr val="DCE3EC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③ 実績 ― hub理論に基づく約100億円の経済圏（内訳と象徴エピソード）</a:t>
            </a:r>
            <a:endParaRPr lang="en-US" sz="1300" dirty="0"/>
          </a:p>
          <a:p>
            <a:pPr marL="342900" indent="-342900">
              <a:lnSpc>
                <a:spcPct val="128000"/>
              </a:lnSpc>
              <a:spcAft>
                <a:spcPts val="700"/>
              </a:spcAft>
              <a:buSzPct val="100000"/>
              <a:buChar char="●"/>
            </a:pPr>
            <a:r>
              <a:rPr lang="en-US" sz="1300" dirty="0">
                <a:solidFill>
                  <a:srgbClr val="DCE3EC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④ 優位性・貢献性 ― 「隠れた課題」を見つける協業モデル</a:t>
            </a:r>
            <a:endParaRPr lang="en-US" sz="1300" dirty="0"/>
          </a:p>
          <a:p>
            <a:pPr marL="342900" indent="-342900">
              <a:lnSpc>
                <a:spcPct val="128000"/>
              </a:lnSpc>
              <a:spcAft>
                <a:spcPts val="700"/>
              </a:spcAft>
              <a:buSzPct val="100000"/>
              <a:buChar char="●"/>
            </a:pPr>
            <a:r>
              <a:rPr lang="en-US" sz="1300" dirty="0">
                <a:solidFill>
                  <a:srgbClr val="DCE3EC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⑤ 成長性・市場性 ― 二つのファネルとFC100事業所</a:t>
            </a:r>
            <a:endParaRPr lang="en-US" sz="1300" dirty="0"/>
          </a:p>
          <a:p>
            <a:pPr marL="342900" indent="-342900">
              <a:lnSpc>
                <a:spcPct val="128000"/>
              </a:lnSpc>
              <a:spcAft>
                <a:spcPts val="700"/>
              </a:spcAft>
              <a:buSzPct val="100000"/>
              <a:buChar char="●"/>
            </a:pPr>
            <a:r>
              <a:rPr lang="en-US" sz="1300" dirty="0">
                <a:solidFill>
                  <a:srgbClr val="DCE3EC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⑥ 展望・締め ― 心置きなく生ききる社会へ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64465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FB0C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※「表現力」は、当日の話し方・時間配分（7分厳守）の練習で最終的に仕上げる。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2026-10-25T00:49:20Z</dcterms:created>
  <dcterms:modified xsi:type="dcterms:W3CDTF">2026-10-25T00:49:20Z</dcterms:modified>
</cp:coreProperties>
</file>