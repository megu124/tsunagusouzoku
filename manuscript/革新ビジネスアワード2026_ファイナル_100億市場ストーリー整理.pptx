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想定市場規模（億円）</c:v>
                </c:pt>
              </c:strCache>
            </c:strRef>
          </c:tx>
          <c:spPr>
            <a:solidFill>
              <a:srgbClr val="1E3A5F"/>
            </a:solidFill>
            <a:effectLst/>
          </c:spPr>
          <c:invertIfNegative val="0"/>
          <c:dLbls>
            <c:numFmt formatCode="#,##0" sourceLinked="0"/>
            <c:txPr>
              <a:bodyPr/>
              <a:lstStyle/>
              <a:p>
                <a:pPr>
                  <a:defRPr b="0" i="0" strike="noStrike" sz="1100" u="none">
                    <a:solidFill>
                      <a:srgbClr val="1E3A5F"/>
                    </a:solidFill>
                    <a:latin typeface="游ゴシック"/>
                  </a:defRPr>
                </a:pPr>
              </a:p>
            </c:txPr>
            <c:showLegendKey val="0"/>
            <c:showVal val="1"/>
            <c:showCatName val="0"/>
            <c:showSerName val="0"/>
            <c:showPercent val="0"/>
            <c:showBubbleSize val="0"/>
            <c:showLeaderLines val="0"/>
          </c:dLbls>
          <c:cat>
            <c:multiLvlStrRef>
              <c:f>Sheet1!$A$2:$A$9</c:f>
              <c:multiLvlStrCache>
                <c:ptCount val="8"/>
                <c:lvl>
                  <c:pt idx="0">
                    <c:v>金融</c:v>
                  </c:pt>
                  <c:pt idx="1">
                    <c:v>不動産</c:v>
                  </c:pt>
                  <c:pt idx="2">
                    <c:v>その他</c:v>
                  </c:pt>
                  <c:pt idx="3">
                    <c:v>M&amp;A</c:v>
                  </c:pt>
                  <c:pt idx="4">
                    <c:v>有料老人ホーム</c:v>
                  </c:pt>
                  <c:pt idx="5">
                    <c:v>税理士</c:v>
                  </c:pt>
                  <c:pt idx="6">
                    <c:v>司法書士・行政書士</c:v>
                  </c:pt>
                  <c:pt idx="7">
                    <c:v>弁護士</c:v>
                  </c:pt>
                </c:lvl>
              </c:multiLvlStrCache>
            </c:multiLvlStrRef>
          </c:cat>
          <c:val>
            <c:numRef>
              <c:f>Sheet1!$B$2:$B$9</c:f>
              <c:numCache>
                <c:formatCode>General</c:formatCode>
                <c:ptCount val="8"/>
                <c:pt idx="0">
                  <c:v>50</c:v>
                </c:pt>
                <c:pt idx="1">
                  <c:v>30</c:v>
                </c:pt>
                <c:pt idx="2">
                  <c:v>7</c:v>
                </c:pt>
                <c:pt idx="3">
                  <c:v>5</c:v>
                </c:pt>
                <c:pt idx="4">
                  <c:v>3</c:v>
                </c:pt>
                <c:pt idx="5">
                  <c:v>2</c:v>
                </c:pt>
                <c:pt idx="6">
                  <c:v>2</c:v>
                </c:pt>
                <c:pt idx="7">
                  <c:v>1</c:v>
                </c:pt>
              </c:numCache>
            </c:numRef>
          </c:val>
        </c:ser>
        <c:dLbls>
          <c:numFmt formatCode="#,##0" sourceLinked="0"/>
          <c:txPr>
            <a:bodyPr/>
            <a:lstStyle/>
            <a:p>
              <a:pPr>
                <a:defRPr b="0" i="0" strike="noStrike" sz="1100" u="none">
                  <a:solidFill>
                    <a:srgbClr val="1E3A5F"/>
                  </a:solidFill>
                  <a:latin typeface="游ゴシック"/>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3A3A"/>
                </a:solidFill>
                <a:latin typeface="游ゴシック"/>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Shape 0"/>
          <p:cNvSpPr/>
          <p:nvPr/>
        </p:nvSpPr>
        <p:spPr>
          <a:xfrm>
            <a:off x="8961120" y="-2011680"/>
            <a:ext cx="5486400" cy="5486400"/>
          </a:xfrm>
          <a:prstGeom prst="ellipse">
            <a:avLst/>
          </a:prstGeom>
          <a:solidFill>
            <a:srgbClr val="C9603F">
              <a:alpha val="15000"/>
            </a:srgbClr>
          </a:solidFill>
          <a:ln/>
        </p:spPr>
      </p:sp>
      <p:sp>
        <p:nvSpPr>
          <p:cNvPr id="3" name="Shape 1"/>
          <p:cNvSpPr/>
          <p:nvPr/>
        </p:nvSpPr>
        <p:spPr>
          <a:xfrm>
            <a:off x="-2286000" y="4389120"/>
            <a:ext cx="4572000" cy="4572000"/>
          </a:xfrm>
          <a:prstGeom prst="ellipse">
            <a:avLst/>
          </a:prstGeom>
          <a:solidFill>
            <a:srgbClr val="C9603F">
              <a:alpha val="10000"/>
            </a:srgbClr>
          </a:solidFill>
          <a:ln/>
        </p:spPr>
      </p:sp>
      <p:sp>
        <p:nvSpPr>
          <p:cNvPr id="4" name="Text 2"/>
          <p:cNvSpPr txBox="1"/>
          <p:nvPr/>
        </p:nvSpPr>
        <p:spPr>
          <a:xfrm>
            <a:off x="822960" y="822960"/>
            <a:ext cx="10058400" cy="365760"/>
          </a:xfrm>
          <a:prstGeom prst="rect">
            <a:avLst/>
          </a:prstGeom>
          <a:noFill/>
          <a:ln/>
        </p:spPr>
        <p:txBody>
          <a:bodyPr wrap="square" lIns="0" tIns="0" rIns="0" bIns="0" rtlCol="0" anchor="ctr"/>
          <a:lstStyle/>
          <a:p>
            <a:pPr indent="0" marL="0">
              <a:buNone/>
            </a:pPr>
            <a:r>
              <a:rPr lang="en-US" sz="1400" b="1" spc="100" kern="0" dirty="0">
                <a:solidFill>
                  <a:srgbClr val="F1DCCF"/>
                </a:solidFill>
                <a:latin typeface="游ゴシック" pitchFamily="34" charset="0"/>
                <a:ea typeface="游ゴシック" pitchFamily="34" charset="-122"/>
                <a:cs typeface="游ゴシック" pitchFamily="34" charset="-120"/>
              </a:rPr>
              <a:t>革新ビジネスアワード2026　ファイナル　ストーリー整理資料</a:t>
            </a:r>
            <a:endParaRPr lang="en-US" sz="1400" dirty="0"/>
          </a:p>
        </p:txBody>
      </p:sp>
      <p:sp>
        <p:nvSpPr>
          <p:cNvPr id="5" name="Text 3"/>
          <p:cNvSpPr txBox="1"/>
          <p:nvPr/>
        </p:nvSpPr>
        <p:spPr>
          <a:xfrm>
            <a:off x="822960" y="2194560"/>
            <a:ext cx="10515600" cy="1005840"/>
          </a:xfrm>
          <a:prstGeom prst="rect">
            <a:avLst/>
          </a:prstGeom>
          <a:noFill/>
          <a:ln/>
        </p:spPr>
        <p:txBody>
          <a:bodyPr wrap="square" lIns="0" tIns="0" rIns="0" bIns="0" rtlCol="0" anchor="ctr"/>
          <a:lstStyle/>
          <a:p>
            <a:pPr indent="0" marL="0">
              <a:buNone/>
            </a:pPr>
            <a:r>
              <a:rPr lang="en-US" sz="3800" b="1" dirty="0">
                <a:solidFill>
                  <a:srgbClr val="FFFFFF"/>
                </a:solidFill>
                <a:latin typeface="游ゴシック" pitchFamily="34" charset="0"/>
                <a:ea typeface="游ゴシック" pitchFamily="34" charset="-122"/>
                <a:cs typeface="游ゴシック" pitchFamily="34" charset="-120"/>
              </a:rPr>
              <a:t>繋ぐグループが創った、100億円の経済圏</a:t>
            </a:r>
            <a:endParaRPr lang="en-US" sz="3800" dirty="0"/>
          </a:p>
        </p:txBody>
      </p:sp>
      <p:sp>
        <p:nvSpPr>
          <p:cNvPr id="6" name="Text 4"/>
          <p:cNvSpPr txBox="1"/>
          <p:nvPr/>
        </p:nvSpPr>
        <p:spPr>
          <a:xfrm>
            <a:off x="822960" y="3154680"/>
            <a:ext cx="10515600" cy="548640"/>
          </a:xfrm>
          <a:prstGeom prst="rect">
            <a:avLst/>
          </a:prstGeom>
          <a:noFill/>
          <a:ln/>
        </p:spPr>
        <p:txBody>
          <a:bodyPr wrap="square" lIns="0" tIns="0" rIns="0" bIns="0" rtlCol="0" anchor="ctr"/>
          <a:lstStyle/>
          <a:p>
            <a:pPr indent="0" marL="0">
              <a:buNone/>
            </a:pPr>
            <a:r>
              <a:rPr lang="en-US" sz="1800" dirty="0">
                <a:solidFill>
                  <a:srgbClr val="F1DCCF"/>
                </a:solidFill>
                <a:latin typeface="游ゴシック" pitchFamily="34" charset="0"/>
                <a:ea typeface="游ゴシック" pitchFamily="34" charset="-122"/>
                <a:cs typeface="游ゴシック" pitchFamily="34" charset="-120"/>
              </a:rPr>
              <a:t>hub（結節点）として、過去3年間に周辺産業へもたらした市場インパクト（想定）</a:t>
            </a:r>
            <a:endParaRPr lang="en-US" sz="1800" dirty="0"/>
          </a:p>
        </p:txBody>
      </p:sp>
      <p:sp>
        <p:nvSpPr>
          <p:cNvPr id="7" name="Text 5"/>
          <p:cNvSpPr txBox="1"/>
          <p:nvPr/>
        </p:nvSpPr>
        <p:spPr>
          <a:xfrm>
            <a:off x="822960" y="3703320"/>
            <a:ext cx="10515600" cy="457200"/>
          </a:xfrm>
          <a:prstGeom prst="rect">
            <a:avLst/>
          </a:prstGeom>
          <a:noFill/>
          <a:ln/>
        </p:spPr>
        <p:txBody>
          <a:bodyPr wrap="square" lIns="0" tIns="0" rIns="0" bIns="0" rtlCol="0" anchor="ctr"/>
          <a:lstStyle/>
          <a:p>
            <a:pPr indent="0" marL="0">
              <a:buNone/>
            </a:pPr>
            <a:r>
              <a:rPr lang="en-US" sz="1400" dirty="0">
                <a:solidFill>
                  <a:srgbClr val="C7CEDA"/>
                </a:solidFill>
                <a:latin typeface="游ゴシック" pitchFamily="34" charset="0"/>
                <a:ea typeface="游ゴシック" pitchFamily="34" charset="-122"/>
                <a:cs typeface="游ゴシック" pitchFamily="34" charset="-120"/>
              </a:rPr>
              <a:t>審査7項目のうち「表現力」を除く6項目 ― 斬新性・収益性・成長性・市場性・優位性・貢献性 ― を整理</a:t>
            </a:r>
            <a:endParaRPr lang="en-US" sz="1400" dirty="0"/>
          </a:p>
        </p:txBody>
      </p:sp>
      <p:sp>
        <p:nvSpPr>
          <p:cNvPr id="8" name="Shape 6"/>
          <p:cNvSpPr/>
          <p:nvPr/>
        </p:nvSpPr>
        <p:spPr>
          <a:xfrm>
            <a:off x="868680" y="5120640"/>
            <a:ext cx="2011680" cy="0"/>
          </a:xfrm>
          <a:prstGeom prst="line">
            <a:avLst/>
          </a:prstGeom>
          <a:noFill/>
          <a:ln w="25400">
            <a:solidFill>
              <a:srgbClr val="C9603F"/>
            </a:solidFill>
            <a:prstDash val="solid"/>
          </a:ln>
        </p:spPr>
      </p:sp>
      <p:sp>
        <p:nvSpPr>
          <p:cNvPr id="9" name="Text 7"/>
          <p:cNvSpPr txBox="1"/>
          <p:nvPr/>
        </p:nvSpPr>
        <p:spPr>
          <a:xfrm>
            <a:off x="822960" y="5257800"/>
            <a:ext cx="8229600" cy="365760"/>
          </a:xfrm>
          <a:prstGeom prst="rect">
            <a:avLst/>
          </a:prstGeom>
          <a:noFill/>
          <a:ln/>
        </p:spPr>
        <p:txBody>
          <a:bodyPr wrap="square" lIns="0" tIns="0" rIns="0" bIns="0" rtlCol="0" anchor="ctr"/>
          <a:lstStyle/>
          <a:p>
            <a:pPr indent="0" marL="0">
              <a:buNone/>
            </a:pPr>
            <a:r>
              <a:rPr lang="en-US" sz="1400" dirty="0">
                <a:solidFill>
                  <a:srgbClr val="FFFFFF"/>
                </a:solidFill>
                <a:latin typeface="游ゴシック" pitchFamily="34" charset="0"/>
                <a:ea typeface="游ゴシック" pitchFamily="34" charset="-122"/>
                <a:cs typeface="游ゴシック" pitchFamily="34" charset="-120"/>
              </a:rPr>
              <a:t>株式会社繋ぐコンサルタントオフィス（繋ぐ相続サロン®本部）</a:t>
            </a:r>
            <a:endParaRPr lang="en-US" sz="1400" dirty="0"/>
          </a:p>
        </p:txBody>
      </p:sp>
      <p:sp>
        <p:nvSpPr>
          <p:cNvPr id="10" name="Text 8"/>
          <p:cNvSpPr txBox="1"/>
          <p:nvPr/>
        </p:nvSpPr>
        <p:spPr>
          <a:xfrm>
            <a:off x="822960" y="5623560"/>
            <a:ext cx="9144000" cy="365760"/>
          </a:xfrm>
          <a:prstGeom prst="rect">
            <a:avLst/>
          </a:prstGeom>
          <a:noFill/>
          <a:ln/>
        </p:spPr>
        <p:txBody>
          <a:bodyPr wrap="square" lIns="0" tIns="0" rIns="0" bIns="0" rtlCol="0" anchor="ctr"/>
          <a:lstStyle/>
          <a:p>
            <a:pPr indent="0" marL="0">
              <a:buNone/>
            </a:pPr>
            <a:r>
              <a:rPr lang="en-US" sz="1300" dirty="0">
                <a:solidFill>
                  <a:srgbClr val="C7CEDA"/>
                </a:solidFill>
                <a:latin typeface="游ゴシック" pitchFamily="34" charset="0"/>
                <a:ea typeface="游ゴシック" pitchFamily="34" charset="-122"/>
                <a:cs typeface="游ゴシック" pitchFamily="34" charset="-120"/>
              </a:rPr>
              <a:t>代表取締役　松本 恵　／　ストーリー整理用ドラフト（社内検討資料）</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OVERVIEW</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このストーリーが、6つの評価軸をどう満たすか</a:t>
            </a:r>
            <a:endParaRPr lang="en-US" sz="2700" dirty="0"/>
          </a:p>
        </p:txBody>
      </p:sp>
      <p:sp>
        <p:nvSpPr>
          <p:cNvPr id="4" name="Shape 2"/>
          <p:cNvSpPr/>
          <p:nvPr/>
        </p:nvSpPr>
        <p:spPr>
          <a:xfrm>
            <a:off x="64008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5" name="Shape 3"/>
          <p:cNvSpPr/>
          <p:nvPr/>
        </p:nvSpPr>
        <p:spPr>
          <a:xfrm>
            <a:off x="86868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6" name="Text 4"/>
          <p:cNvSpPr txBox="1"/>
          <p:nvPr/>
        </p:nvSpPr>
        <p:spPr>
          <a:xfrm>
            <a:off x="86868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斬</a:t>
            </a:r>
            <a:endParaRPr lang="en-US" sz="2080" dirty="0"/>
          </a:p>
        </p:txBody>
      </p:sp>
      <p:sp>
        <p:nvSpPr>
          <p:cNvPr id="7" name="Text 5"/>
          <p:cNvSpPr txBox="1"/>
          <p:nvPr/>
        </p:nvSpPr>
        <p:spPr>
          <a:xfrm>
            <a:off x="160020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斬新性</a:t>
            </a:r>
            <a:endParaRPr lang="en-US" sz="1700" dirty="0"/>
          </a:p>
        </p:txBody>
      </p:sp>
      <p:sp>
        <p:nvSpPr>
          <p:cNvPr id="8" name="Text 6"/>
          <p:cNvSpPr txBox="1"/>
          <p:nvPr/>
        </p:nvSpPr>
        <p:spPr>
          <a:xfrm>
            <a:off x="86868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hubとして経済圏を創る発想</a:t>
            </a:r>
            <a:endParaRPr lang="en-US" sz="1250" dirty="0"/>
          </a:p>
        </p:txBody>
      </p:sp>
      <p:sp>
        <p:nvSpPr>
          <p:cNvPr id="9" name="Shape 7"/>
          <p:cNvSpPr/>
          <p:nvPr/>
        </p:nvSpPr>
        <p:spPr>
          <a:xfrm>
            <a:off x="434340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10" name="Shape 8"/>
          <p:cNvSpPr/>
          <p:nvPr/>
        </p:nvSpPr>
        <p:spPr>
          <a:xfrm>
            <a:off x="457200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57200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収</a:t>
            </a:r>
            <a:endParaRPr lang="en-US" sz="2080" dirty="0"/>
          </a:p>
        </p:txBody>
      </p:sp>
      <p:sp>
        <p:nvSpPr>
          <p:cNvPr id="12" name="Text 10"/>
          <p:cNvSpPr txBox="1"/>
          <p:nvPr/>
        </p:nvSpPr>
        <p:spPr>
          <a:xfrm>
            <a:off x="530352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収益性</a:t>
            </a:r>
            <a:endParaRPr lang="en-US" sz="1700" dirty="0"/>
          </a:p>
        </p:txBody>
      </p:sp>
      <p:sp>
        <p:nvSpPr>
          <p:cNvPr id="13" name="Text 11"/>
          <p:cNvSpPr txBox="1"/>
          <p:nvPr/>
        </p:nvSpPr>
        <p:spPr>
          <a:xfrm>
            <a:off x="457200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自社売上ではなく創出経済圏で語る</a:t>
            </a:r>
            <a:endParaRPr lang="en-US" sz="1250" dirty="0"/>
          </a:p>
        </p:txBody>
      </p:sp>
      <p:sp>
        <p:nvSpPr>
          <p:cNvPr id="14" name="Shape 12"/>
          <p:cNvSpPr/>
          <p:nvPr/>
        </p:nvSpPr>
        <p:spPr>
          <a:xfrm>
            <a:off x="804672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15" name="Shape 13"/>
          <p:cNvSpPr/>
          <p:nvPr/>
        </p:nvSpPr>
        <p:spPr>
          <a:xfrm>
            <a:off x="827532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27532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成</a:t>
            </a:r>
            <a:endParaRPr lang="en-US" sz="2080" dirty="0"/>
          </a:p>
        </p:txBody>
      </p:sp>
      <p:sp>
        <p:nvSpPr>
          <p:cNvPr id="17" name="Text 15"/>
          <p:cNvSpPr txBox="1"/>
          <p:nvPr/>
        </p:nvSpPr>
        <p:spPr>
          <a:xfrm>
            <a:off x="900684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成長性</a:t>
            </a:r>
            <a:endParaRPr lang="en-US" sz="1700" dirty="0"/>
          </a:p>
        </p:txBody>
      </p:sp>
      <p:sp>
        <p:nvSpPr>
          <p:cNvPr id="18" name="Text 16"/>
          <p:cNvSpPr txBox="1"/>
          <p:nvPr/>
        </p:nvSpPr>
        <p:spPr>
          <a:xfrm>
            <a:off x="827532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二つのファネルで経済圏を拡大</a:t>
            </a:r>
            <a:endParaRPr lang="en-US" sz="1250" dirty="0"/>
          </a:p>
        </p:txBody>
      </p:sp>
      <p:sp>
        <p:nvSpPr>
          <p:cNvPr id="19" name="Shape 17"/>
          <p:cNvSpPr/>
          <p:nvPr/>
        </p:nvSpPr>
        <p:spPr>
          <a:xfrm>
            <a:off x="64008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20" name="Shape 18"/>
          <p:cNvSpPr/>
          <p:nvPr/>
        </p:nvSpPr>
        <p:spPr>
          <a:xfrm>
            <a:off x="86868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21" name="Text 19"/>
          <p:cNvSpPr txBox="1"/>
          <p:nvPr/>
        </p:nvSpPr>
        <p:spPr>
          <a:xfrm>
            <a:off x="86868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市</a:t>
            </a:r>
            <a:endParaRPr lang="en-US" sz="2080" dirty="0"/>
          </a:p>
        </p:txBody>
      </p:sp>
      <p:sp>
        <p:nvSpPr>
          <p:cNvPr id="22" name="Text 20"/>
          <p:cNvSpPr txBox="1"/>
          <p:nvPr/>
        </p:nvSpPr>
        <p:spPr>
          <a:xfrm>
            <a:off x="160020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市場性</a:t>
            </a:r>
            <a:endParaRPr lang="en-US" sz="1700" dirty="0"/>
          </a:p>
        </p:txBody>
      </p:sp>
      <p:sp>
        <p:nvSpPr>
          <p:cNvPr id="23" name="Text 21"/>
          <p:cNvSpPr txBox="1"/>
          <p:nvPr/>
        </p:nvSpPr>
        <p:spPr>
          <a:xfrm>
            <a:off x="86868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富裕層から全世代・全業種へ</a:t>
            </a:r>
            <a:endParaRPr lang="en-US" sz="1250" dirty="0"/>
          </a:p>
        </p:txBody>
      </p:sp>
      <p:sp>
        <p:nvSpPr>
          <p:cNvPr id="24" name="Shape 22"/>
          <p:cNvSpPr/>
          <p:nvPr/>
        </p:nvSpPr>
        <p:spPr>
          <a:xfrm>
            <a:off x="434340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25" name="Shape 23"/>
          <p:cNvSpPr/>
          <p:nvPr/>
        </p:nvSpPr>
        <p:spPr>
          <a:xfrm>
            <a:off x="457200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26" name="Text 24"/>
          <p:cNvSpPr txBox="1"/>
          <p:nvPr/>
        </p:nvSpPr>
        <p:spPr>
          <a:xfrm>
            <a:off x="457200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優</a:t>
            </a:r>
            <a:endParaRPr lang="en-US" sz="2080" dirty="0"/>
          </a:p>
        </p:txBody>
      </p:sp>
      <p:sp>
        <p:nvSpPr>
          <p:cNvPr id="27" name="Text 25"/>
          <p:cNvSpPr txBox="1"/>
          <p:nvPr/>
        </p:nvSpPr>
        <p:spPr>
          <a:xfrm>
            <a:off x="530352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優位性</a:t>
            </a:r>
            <a:endParaRPr lang="en-US" sz="1700" dirty="0"/>
          </a:p>
        </p:txBody>
      </p:sp>
      <p:sp>
        <p:nvSpPr>
          <p:cNvPr id="28" name="Text 26"/>
          <p:cNvSpPr txBox="1"/>
          <p:nvPr/>
        </p:nvSpPr>
        <p:spPr>
          <a:xfrm>
            <a:off x="457200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「隠れた課題」を見つける協業モデル</a:t>
            </a:r>
            <a:endParaRPr lang="en-US" sz="1250" dirty="0"/>
          </a:p>
        </p:txBody>
      </p:sp>
      <p:sp>
        <p:nvSpPr>
          <p:cNvPr id="29" name="Shape 27"/>
          <p:cNvSpPr/>
          <p:nvPr/>
        </p:nvSpPr>
        <p:spPr>
          <a:xfrm>
            <a:off x="804672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30" name="Shape 28"/>
          <p:cNvSpPr/>
          <p:nvPr/>
        </p:nvSpPr>
        <p:spPr>
          <a:xfrm>
            <a:off x="827532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31" name="Text 29"/>
          <p:cNvSpPr txBox="1"/>
          <p:nvPr/>
        </p:nvSpPr>
        <p:spPr>
          <a:xfrm>
            <a:off x="827532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貢</a:t>
            </a:r>
            <a:endParaRPr lang="en-US" sz="2080" dirty="0"/>
          </a:p>
        </p:txBody>
      </p:sp>
      <p:sp>
        <p:nvSpPr>
          <p:cNvPr id="32" name="Text 30"/>
          <p:cNvSpPr txBox="1"/>
          <p:nvPr/>
        </p:nvSpPr>
        <p:spPr>
          <a:xfrm>
            <a:off x="900684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貢献性</a:t>
            </a:r>
            <a:endParaRPr lang="en-US" sz="1700" dirty="0"/>
          </a:p>
        </p:txBody>
      </p:sp>
      <p:sp>
        <p:nvSpPr>
          <p:cNvPr id="33" name="Text 31"/>
          <p:cNvSpPr txBox="1"/>
          <p:nvPr/>
        </p:nvSpPr>
        <p:spPr>
          <a:xfrm>
            <a:off x="827532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関わった全員への貢献</a:t>
            </a:r>
            <a:endParaRPr lang="en-US" sz="125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50" i="1" dirty="0">
                <a:solidFill>
                  <a:srgbClr val="6B6B6B"/>
                </a:solidFill>
                <a:latin typeface="游ゴシック" pitchFamily="34" charset="0"/>
                <a:ea typeface="游ゴシック" pitchFamily="34" charset="-122"/>
                <a:cs typeface="游ゴシック" pitchFamily="34" charset="-120"/>
              </a:rPr>
              <a:t>すべての軸の起点になっているのが、「新・相続ビジネス」という切り口と、約100億円の経済圏という実績です。</a:t>
            </a:r>
            <a:endParaRPr lang="en-US" sz="1250" dirty="0"/>
          </a:p>
        </p:txBody>
      </p:sp>
      <p:sp>
        <p:nvSpPr>
          <p:cNvPr id="35" name="Text 3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BLUE OCEAN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新・相続ビジネスとは ― 財産ではなく、人生をプロデュースする</a:t>
            </a:r>
            <a:endParaRPr lang="en-US" sz="2700" dirty="0"/>
          </a:p>
        </p:txBody>
      </p:sp>
      <p:sp>
        <p:nvSpPr>
          <p:cNvPr id="4" name="Text 2"/>
          <p:cNvSpPr txBox="1"/>
          <p:nvPr/>
        </p:nvSpPr>
        <p:spPr>
          <a:xfrm>
            <a:off x="640080" y="1783080"/>
            <a:ext cx="10881360" cy="23774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相続ビジネスへの参入者は年々増加し、節税・遺産分割・保険など「財産をどう残すか」を軸にした競争が激化（レッドオーシャン化）</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繋ぐグループは、相続の起点を「財産」から「人生」へ転換。テーマを“死ぬ準備”ではなく“生きる準備”に据え直した</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他の相続ビジネスパーソンが「財産がある人」という狭いフロントを奪い合う一方、繋ぐグループは“生きる準備”を入口にすることで、競争相手のいない市場＝ブルーオーシャンを独自に切り拓いた</a:t>
            </a:r>
            <a:endParaRPr lang="en-US" sz="1500" dirty="0"/>
          </a:p>
        </p:txBody>
      </p:sp>
      <p:sp>
        <p:nvSpPr>
          <p:cNvPr id="5" name="Shape 3"/>
          <p:cNvSpPr/>
          <p:nvPr/>
        </p:nvSpPr>
        <p:spPr>
          <a:xfrm>
            <a:off x="640080" y="4343400"/>
            <a:ext cx="5257800" cy="1783080"/>
          </a:xfrm>
          <a:prstGeom prst="roundRect">
            <a:avLst>
              <a:gd name="adj" fmla="val 5128"/>
            </a:avLst>
          </a:prstGeom>
          <a:solidFill>
            <a:srgbClr val="1E3A5F"/>
          </a:solidFill>
          <a:ln/>
          <a:effectLst>
            <a:outerShdw sx="100000" sy="100000" kx="0" ky="0" algn="bl" rotWithShape="0" blurRad="101600" dist="38100" dir="5400000">
              <a:srgbClr val="10233A">
                <a:alpha val="18000"/>
              </a:srgbClr>
            </a:outerShdw>
          </a:effectLst>
        </p:spPr>
      </p:sp>
      <p:sp>
        <p:nvSpPr>
          <p:cNvPr id="6" name="Text 4"/>
          <p:cNvSpPr txBox="1"/>
          <p:nvPr/>
        </p:nvSpPr>
        <p:spPr>
          <a:xfrm>
            <a:off x="914400" y="4544568"/>
            <a:ext cx="4709160" cy="411480"/>
          </a:xfrm>
          <a:prstGeom prst="rect">
            <a:avLst/>
          </a:prstGeom>
          <a:noFill/>
          <a:ln/>
        </p:spPr>
        <p:txBody>
          <a:bodyPr wrap="square" lIns="0" tIns="0" rIns="0" bIns="0" rtlCol="0" anchor="ctr"/>
          <a:lstStyle/>
          <a:p>
            <a:pPr indent="0" marL="0">
              <a:buNone/>
            </a:pPr>
            <a:r>
              <a:rPr lang="en-US" sz="1700" b="1" dirty="0">
                <a:solidFill>
                  <a:srgbClr val="F1DCCF"/>
                </a:solidFill>
                <a:latin typeface="游ゴシック" pitchFamily="34" charset="0"/>
                <a:ea typeface="游ゴシック" pitchFamily="34" charset="-122"/>
                <a:cs typeface="游ゴシック" pitchFamily="34" charset="-120"/>
              </a:rPr>
              <a:t>レッドオーシャン</a:t>
            </a:r>
            <a:endParaRPr lang="en-US" sz="1700" dirty="0"/>
          </a:p>
        </p:txBody>
      </p:sp>
      <p:sp>
        <p:nvSpPr>
          <p:cNvPr id="7" name="Text 5"/>
          <p:cNvSpPr txBox="1"/>
          <p:nvPr/>
        </p:nvSpPr>
        <p:spPr>
          <a:xfrm>
            <a:off x="914400" y="5001768"/>
            <a:ext cx="4709160" cy="1005840"/>
          </a:xfrm>
          <a:prstGeom prst="rect">
            <a:avLst/>
          </a:prstGeom>
          <a:noFill/>
          <a:ln/>
        </p:spPr>
        <p:txBody>
          <a:bodyPr wrap="square" lIns="0" tIns="0" rIns="0" bIns="0" rtlCol="0" anchor="t"/>
          <a:lstStyle/>
          <a:p>
            <a:pPr indent="0" marL="0">
              <a:lnSpc>
                <a:spcPct val="130000"/>
              </a:lnSpc>
              <a:buNone/>
            </a:pPr>
            <a:r>
              <a:rPr lang="en-US" sz="1300" dirty="0">
                <a:solidFill>
                  <a:srgbClr val="DCE3EC"/>
                </a:solidFill>
                <a:latin typeface="游ゴシック" pitchFamily="34" charset="0"/>
                <a:ea typeface="游ゴシック" pitchFamily="34" charset="-122"/>
                <a:cs typeface="游ゴシック" pitchFamily="34" charset="-120"/>
              </a:rPr>
              <a:t>財産を巡る競争 ― 節税・遺産分割・保険など、“商品”を軸にした相続ビジネスパーソン同士の奪い合い</a:t>
            </a:r>
            <a:endParaRPr lang="en-US" sz="1300" dirty="0"/>
          </a:p>
        </p:txBody>
      </p:sp>
      <p:sp>
        <p:nvSpPr>
          <p:cNvPr id="8" name="Shape 6"/>
          <p:cNvSpPr/>
          <p:nvPr/>
        </p:nvSpPr>
        <p:spPr>
          <a:xfrm>
            <a:off x="6263640" y="4343400"/>
            <a:ext cx="5257800" cy="1783080"/>
          </a:xfrm>
          <a:prstGeom prst="roundRect">
            <a:avLst>
              <a:gd name="adj" fmla="val 5128"/>
            </a:avLst>
          </a:prstGeom>
          <a:solidFill>
            <a:srgbClr val="C9603F"/>
          </a:solidFill>
          <a:ln/>
          <a:effectLst>
            <a:outerShdw sx="100000" sy="100000" kx="0" ky="0" algn="bl" rotWithShape="0" blurRad="101600" dist="38100" dir="5400000">
              <a:srgbClr val="10233A">
                <a:alpha val="18000"/>
              </a:srgbClr>
            </a:outerShdw>
          </a:effectLst>
        </p:spPr>
      </p:sp>
      <p:sp>
        <p:nvSpPr>
          <p:cNvPr id="9" name="Text 7"/>
          <p:cNvSpPr txBox="1"/>
          <p:nvPr/>
        </p:nvSpPr>
        <p:spPr>
          <a:xfrm>
            <a:off x="6537960" y="4544568"/>
            <a:ext cx="4709160" cy="411480"/>
          </a:xfrm>
          <a:prstGeom prst="rect">
            <a:avLst/>
          </a:prstGeom>
          <a:noFill/>
          <a:ln/>
        </p:spPr>
        <p:txBody>
          <a:bodyPr wrap="square" lIns="0" tIns="0" rIns="0" bIns="0" rtlCol="0" anchor="ctr"/>
          <a:lstStyle/>
          <a:p>
            <a:pPr indent="0" marL="0">
              <a:buNone/>
            </a:pPr>
            <a:r>
              <a:rPr lang="en-US" sz="1700" b="1" dirty="0">
                <a:solidFill>
                  <a:srgbClr val="FFFFFF"/>
                </a:solidFill>
                <a:latin typeface="游ゴシック" pitchFamily="34" charset="0"/>
                <a:ea typeface="游ゴシック" pitchFamily="34" charset="-122"/>
                <a:cs typeface="游ゴシック" pitchFamily="34" charset="-120"/>
              </a:rPr>
              <a:t>ブルーオーシャン</a:t>
            </a:r>
            <a:endParaRPr lang="en-US" sz="1700" dirty="0"/>
          </a:p>
        </p:txBody>
      </p:sp>
      <p:sp>
        <p:nvSpPr>
          <p:cNvPr id="10" name="Text 8"/>
          <p:cNvSpPr txBox="1"/>
          <p:nvPr/>
        </p:nvSpPr>
        <p:spPr>
          <a:xfrm>
            <a:off x="6537960" y="5001768"/>
            <a:ext cx="4709160" cy="1005840"/>
          </a:xfrm>
          <a:prstGeom prst="rect">
            <a:avLst/>
          </a:prstGeom>
          <a:noFill/>
          <a:ln/>
        </p:spPr>
        <p:txBody>
          <a:bodyPr wrap="square" lIns="0" tIns="0" rIns="0" bIns="0" rtlCol="0" anchor="t"/>
          <a:lstStyle/>
          <a:p>
            <a:pPr indent="0" marL="0">
              <a:lnSpc>
                <a:spcPct val="130000"/>
              </a:lnSpc>
              <a:buNone/>
            </a:pPr>
            <a:r>
              <a:rPr lang="en-US" sz="1300" dirty="0">
                <a:solidFill>
                  <a:srgbClr val="FFFFFF"/>
                </a:solidFill>
                <a:latin typeface="游ゴシック" pitchFamily="34" charset="0"/>
                <a:ea typeface="游ゴシック" pitchFamily="34" charset="-122"/>
                <a:cs typeface="游ゴシック" pitchFamily="34" charset="-120"/>
              </a:rPr>
              <a:t>人生をプロデュースする市場 ― 「心置きなく生ききる人生のプロデュース」という、競合不在の独自領域</a:t>
            </a:r>
            <a:endParaRPr lang="en-US" sz="1300" dirty="0"/>
          </a:p>
        </p:txBody>
      </p:sp>
      <p:sp>
        <p:nvSpPr>
          <p:cNvPr id="11" name="Text 9"/>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OUR METHODOLOGY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「心置きなく生ききる人生のプロデュース」というメソッド</a:t>
            </a:r>
            <a:endParaRPr lang="en-US" sz="2700" dirty="0"/>
          </a:p>
        </p:txBody>
      </p:sp>
      <p:sp>
        <p:nvSpPr>
          <p:cNvPr id="4" name="Shape 2"/>
          <p:cNvSpPr/>
          <p:nvPr/>
        </p:nvSpPr>
        <p:spPr>
          <a:xfrm>
            <a:off x="640080" y="1783080"/>
            <a:ext cx="1920240" cy="1051560"/>
          </a:xfrm>
          <a:prstGeom prst="roundRect">
            <a:avLst>
              <a:gd name="adj" fmla="val 6957"/>
            </a:avLst>
          </a:prstGeom>
          <a:solidFill>
            <a:srgbClr val="10233A"/>
          </a:solidFill>
          <a:ln/>
        </p:spPr>
      </p:sp>
      <p:sp>
        <p:nvSpPr>
          <p:cNvPr id="5" name="Text 3"/>
          <p:cNvSpPr txBox="1"/>
          <p:nvPr/>
        </p:nvSpPr>
        <p:spPr>
          <a:xfrm>
            <a:off x="640080" y="178308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テーマ</a:t>
            </a:r>
            <a:endParaRPr lang="en-US" sz="1400" dirty="0"/>
          </a:p>
        </p:txBody>
      </p:sp>
      <p:sp>
        <p:nvSpPr>
          <p:cNvPr id="6" name="Shape 4"/>
          <p:cNvSpPr/>
          <p:nvPr/>
        </p:nvSpPr>
        <p:spPr>
          <a:xfrm>
            <a:off x="2743200" y="1783080"/>
            <a:ext cx="3200400" cy="1051560"/>
          </a:xfrm>
          <a:prstGeom prst="roundRect">
            <a:avLst>
              <a:gd name="adj" fmla="val 6957"/>
            </a:avLst>
          </a:prstGeom>
          <a:solidFill>
            <a:srgbClr val="F6F1EA"/>
          </a:solidFill>
          <a:ln/>
        </p:spPr>
      </p:sp>
      <p:sp>
        <p:nvSpPr>
          <p:cNvPr id="7" name="Text 5"/>
          <p:cNvSpPr txBox="1"/>
          <p:nvPr/>
        </p:nvSpPr>
        <p:spPr>
          <a:xfrm>
            <a:off x="2743200" y="178308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死ぬ準備</a:t>
            </a:r>
            <a:endParaRPr lang="en-US" sz="1600" dirty="0"/>
          </a:p>
        </p:txBody>
      </p:sp>
      <p:sp>
        <p:nvSpPr>
          <p:cNvPr id="8" name="Text 6"/>
          <p:cNvSpPr txBox="1"/>
          <p:nvPr/>
        </p:nvSpPr>
        <p:spPr>
          <a:xfrm>
            <a:off x="5943600" y="178308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9" name="Shape 7"/>
          <p:cNvSpPr/>
          <p:nvPr/>
        </p:nvSpPr>
        <p:spPr>
          <a:xfrm>
            <a:off x="6675120" y="178308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10" name="Text 8"/>
          <p:cNvSpPr txBox="1"/>
          <p:nvPr/>
        </p:nvSpPr>
        <p:spPr>
          <a:xfrm>
            <a:off x="6675120" y="178308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生きる準備</a:t>
            </a:r>
            <a:endParaRPr lang="en-US" sz="1600" dirty="0"/>
          </a:p>
        </p:txBody>
      </p:sp>
      <p:sp>
        <p:nvSpPr>
          <p:cNvPr id="11" name="Shape 9"/>
          <p:cNvSpPr/>
          <p:nvPr/>
        </p:nvSpPr>
        <p:spPr>
          <a:xfrm>
            <a:off x="640080" y="2971800"/>
            <a:ext cx="1920240" cy="1051560"/>
          </a:xfrm>
          <a:prstGeom prst="roundRect">
            <a:avLst>
              <a:gd name="adj" fmla="val 6957"/>
            </a:avLst>
          </a:prstGeom>
          <a:solidFill>
            <a:srgbClr val="10233A"/>
          </a:solidFill>
          <a:ln/>
        </p:spPr>
      </p:sp>
      <p:sp>
        <p:nvSpPr>
          <p:cNvPr id="12" name="Text 10"/>
          <p:cNvSpPr txBox="1"/>
          <p:nvPr/>
        </p:nvSpPr>
        <p:spPr>
          <a:xfrm>
            <a:off x="640080" y="297180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主語</a:t>
            </a:r>
            <a:endParaRPr lang="en-US" sz="1400" dirty="0"/>
          </a:p>
        </p:txBody>
      </p:sp>
      <p:sp>
        <p:nvSpPr>
          <p:cNvPr id="13" name="Shape 11"/>
          <p:cNvSpPr/>
          <p:nvPr/>
        </p:nvSpPr>
        <p:spPr>
          <a:xfrm>
            <a:off x="2743200" y="2971800"/>
            <a:ext cx="3200400" cy="1051560"/>
          </a:xfrm>
          <a:prstGeom prst="roundRect">
            <a:avLst>
              <a:gd name="adj" fmla="val 6957"/>
            </a:avLst>
          </a:prstGeom>
          <a:solidFill>
            <a:srgbClr val="F6F1EA"/>
          </a:solidFill>
          <a:ln/>
        </p:spPr>
      </p:sp>
      <p:sp>
        <p:nvSpPr>
          <p:cNvPr id="14" name="Text 12"/>
          <p:cNvSpPr txBox="1"/>
          <p:nvPr/>
        </p:nvSpPr>
        <p:spPr>
          <a:xfrm>
            <a:off x="2743200" y="297180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財産</a:t>
            </a:r>
            <a:endParaRPr lang="en-US" sz="1600" dirty="0"/>
          </a:p>
        </p:txBody>
      </p:sp>
      <p:sp>
        <p:nvSpPr>
          <p:cNvPr id="15" name="Text 13"/>
          <p:cNvSpPr txBox="1"/>
          <p:nvPr/>
        </p:nvSpPr>
        <p:spPr>
          <a:xfrm>
            <a:off x="5943600" y="297180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16" name="Shape 14"/>
          <p:cNvSpPr/>
          <p:nvPr/>
        </p:nvSpPr>
        <p:spPr>
          <a:xfrm>
            <a:off x="6675120" y="297180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17" name="Text 15"/>
          <p:cNvSpPr txBox="1"/>
          <p:nvPr/>
        </p:nvSpPr>
        <p:spPr>
          <a:xfrm>
            <a:off x="6675120" y="297180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人生</a:t>
            </a:r>
            <a:endParaRPr lang="en-US" sz="1600" dirty="0"/>
          </a:p>
        </p:txBody>
      </p:sp>
      <p:sp>
        <p:nvSpPr>
          <p:cNvPr id="18" name="Shape 16"/>
          <p:cNvSpPr/>
          <p:nvPr/>
        </p:nvSpPr>
        <p:spPr>
          <a:xfrm>
            <a:off x="640080" y="4160520"/>
            <a:ext cx="1920240" cy="1051560"/>
          </a:xfrm>
          <a:prstGeom prst="roundRect">
            <a:avLst>
              <a:gd name="adj" fmla="val 6957"/>
            </a:avLst>
          </a:prstGeom>
          <a:solidFill>
            <a:srgbClr val="10233A"/>
          </a:solidFill>
          <a:ln/>
        </p:spPr>
      </p:sp>
      <p:sp>
        <p:nvSpPr>
          <p:cNvPr id="19" name="Text 17"/>
          <p:cNvSpPr txBox="1"/>
          <p:nvPr/>
        </p:nvSpPr>
        <p:spPr>
          <a:xfrm>
            <a:off x="640080" y="416052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関わり方</a:t>
            </a:r>
            <a:endParaRPr lang="en-US" sz="1400" dirty="0"/>
          </a:p>
        </p:txBody>
      </p:sp>
      <p:sp>
        <p:nvSpPr>
          <p:cNvPr id="20" name="Shape 18"/>
          <p:cNvSpPr/>
          <p:nvPr/>
        </p:nvSpPr>
        <p:spPr>
          <a:xfrm>
            <a:off x="2743200" y="4160520"/>
            <a:ext cx="3200400" cy="1051560"/>
          </a:xfrm>
          <a:prstGeom prst="roundRect">
            <a:avLst>
              <a:gd name="adj" fmla="val 6957"/>
            </a:avLst>
          </a:prstGeom>
          <a:solidFill>
            <a:srgbClr val="F6F1EA"/>
          </a:solidFill>
          <a:ln/>
        </p:spPr>
      </p:sp>
      <p:sp>
        <p:nvSpPr>
          <p:cNvPr id="21" name="Text 19"/>
          <p:cNvSpPr txBox="1"/>
          <p:nvPr/>
        </p:nvSpPr>
        <p:spPr>
          <a:xfrm>
            <a:off x="2743200" y="416052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相続の処理（点）</a:t>
            </a:r>
            <a:endParaRPr lang="en-US" sz="1600" dirty="0"/>
          </a:p>
        </p:txBody>
      </p:sp>
      <p:sp>
        <p:nvSpPr>
          <p:cNvPr id="22" name="Text 20"/>
          <p:cNvSpPr txBox="1"/>
          <p:nvPr/>
        </p:nvSpPr>
        <p:spPr>
          <a:xfrm>
            <a:off x="5943600" y="416052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23" name="Shape 21"/>
          <p:cNvSpPr/>
          <p:nvPr/>
        </p:nvSpPr>
        <p:spPr>
          <a:xfrm>
            <a:off x="6675120" y="416052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24" name="Text 22"/>
          <p:cNvSpPr txBox="1"/>
          <p:nvPr/>
        </p:nvSpPr>
        <p:spPr>
          <a:xfrm>
            <a:off x="6675120" y="416052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人生との伴走（線）</a:t>
            </a:r>
            <a:endParaRPr lang="en-US" sz="1600" dirty="0"/>
          </a:p>
        </p:txBody>
      </p:sp>
      <p:sp>
        <p:nvSpPr>
          <p:cNvPr id="25" name="Text 23"/>
          <p:cNvSpPr txBox="1"/>
          <p:nvPr/>
        </p:nvSpPr>
        <p:spPr>
          <a:xfrm>
            <a:off x="640080" y="5257800"/>
            <a:ext cx="10881360" cy="457200"/>
          </a:xfrm>
          <a:prstGeom prst="rect">
            <a:avLst/>
          </a:prstGeom>
          <a:noFill/>
          <a:ln/>
        </p:spPr>
        <p:txBody>
          <a:bodyPr wrap="square" lIns="0" tIns="0" rIns="0" bIns="0" rtlCol="0" anchor="ctr"/>
          <a:lstStyle/>
          <a:p>
            <a:pPr indent="0" marL="0">
              <a:buNone/>
            </a:pPr>
            <a:r>
              <a:rPr lang="en-US" sz="1400" i="1" dirty="0">
                <a:solidFill>
                  <a:srgbClr val="3A3A3A"/>
                </a:solidFill>
                <a:latin typeface="游ゴシック" pitchFamily="34" charset="0"/>
                <a:ea typeface="游ゴシック" pitchFamily="34" charset="-122"/>
                <a:cs typeface="游ゴシック" pitchFamily="34" charset="-120"/>
              </a:rPr>
              <a:t>専門家だけが人生の最期を支えるのではなく、社会のさまざまな場所に「気づき、話し、必要な支援へ繋ぐ人」を増やしていく。</a:t>
            </a:r>
            <a:endParaRPr lang="en-US" sz="1400" dirty="0"/>
          </a:p>
        </p:txBody>
      </p:sp>
      <p:sp>
        <p:nvSpPr>
          <p:cNvPr id="26" name="Text 24"/>
          <p:cNvSpPr txBox="1"/>
          <p:nvPr/>
        </p:nvSpPr>
        <p:spPr>
          <a:xfrm>
            <a:off x="640080" y="5715000"/>
            <a:ext cx="10881360" cy="457200"/>
          </a:xfrm>
          <a:prstGeom prst="rect">
            <a:avLst/>
          </a:prstGeom>
          <a:noFill/>
          <a:ln/>
        </p:spPr>
        <p:txBody>
          <a:bodyPr wrap="square" lIns="0" tIns="0" rIns="0" bIns="0" rtlCol="0" anchor="ctr"/>
          <a:lstStyle/>
          <a:p>
            <a:pPr indent="0" marL="0">
              <a:buNone/>
            </a:pPr>
            <a:r>
              <a:rPr lang="en-US" sz="1250" dirty="0">
                <a:solidFill>
                  <a:srgbClr val="6B6B6B"/>
                </a:solidFill>
                <a:latin typeface="游ゴシック" pitchFamily="34" charset="0"/>
                <a:ea typeface="游ゴシック" pitchFamily="34" charset="-122"/>
                <a:cs typeface="游ゴシック" pitchFamily="34" charset="-120"/>
              </a:rPr>
              <a:t>このメソッドを「繋ぐノート」「繋ぐノートサポートアドバイザー®資格制度」「エキスパートコース（育成カリキュラム）」として実装している（素材②③）。</a:t>
            </a:r>
            <a:endParaRPr lang="en-US" sz="1250" dirty="0"/>
          </a:p>
        </p:txBody>
      </p:sp>
      <p:sp>
        <p:nvSpPr>
          <p:cNvPr id="27" name="Text 25"/>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FUNNEL COMPARISON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フロントの囲い込みが、違う。</a:t>
            </a:r>
            <a:endParaRPr lang="en-US" sz="2700" dirty="0"/>
          </a:p>
        </p:txBody>
      </p:sp>
      <p:sp>
        <p:nvSpPr>
          <p:cNvPr id="4" name="Text 2"/>
          <p:cNvSpPr txBox="1"/>
          <p:nvPr/>
        </p:nvSpPr>
        <p:spPr>
          <a:xfrm>
            <a:off x="457200" y="1627632"/>
            <a:ext cx="3931920" cy="365760"/>
          </a:xfrm>
          <a:prstGeom prst="rect">
            <a:avLst/>
          </a:prstGeom>
          <a:noFill/>
          <a:ln/>
        </p:spPr>
        <p:txBody>
          <a:bodyPr wrap="square" lIns="0" tIns="0" rIns="0" bIns="0" rtlCol="0" anchor="ctr"/>
          <a:lstStyle/>
          <a:p>
            <a:pPr algn="ctr" indent="0" marL="0">
              <a:buNone/>
            </a:pPr>
            <a:r>
              <a:rPr lang="en-US" sz="1500" b="1" dirty="0">
                <a:solidFill>
                  <a:srgbClr val="1E3A5F"/>
                </a:solidFill>
                <a:latin typeface="游ゴシック" pitchFamily="34" charset="0"/>
                <a:ea typeface="游ゴシック" pitchFamily="34" charset="-122"/>
                <a:cs typeface="游ゴシック" pitchFamily="34" charset="-120"/>
              </a:rPr>
              <a:t>一般的な相続ビジネス</a:t>
            </a:r>
            <a:endParaRPr lang="en-US" sz="1500" dirty="0"/>
          </a:p>
        </p:txBody>
      </p:sp>
      <p:sp>
        <p:nvSpPr>
          <p:cNvPr id="5" name="Text 3"/>
          <p:cNvSpPr txBox="1"/>
          <p:nvPr/>
        </p:nvSpPr>
        <p:spPr>
          <a:xfrm>
            <a:off x="6492240" y="1627632"/>
            <a:ext cx="5120640" cy="36576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繋ぐグループメソッド</a:t>
            </a:r>
            <a:endParaRPr lang="en-US" sz="1600" dirty="0"/>
          </a:p>
        </p:txBody>
      </p:sp>
      <p:sp>
        <p:nvSpPr>
          <p:cNvPr id="6" name="Shape 4"/>
          <p:cNvSpPr/>
          <p:nvPr/>
        </p:nvSpPr>
        <p:spPr>
          <a:xfrm>
            <a:off x="1508760" y="2103120"/>
            <a:ext cx="1828800" cy="841248"/>
          </a:xfrm>
          <a:prstGeom prst="rect">
            <a:avLst/>
          </a:prstGeom>
          <a:solidFill>
            <a:srgbClr val="1E3A5F">
              <a:alpha val="32000"/>
            </a:srgbClr>
          </a:solidFill>
          <a:ln/>
        </p:spPr>
      </p:sp>
      <p:sp>
        <p:nvSpPr>
          <p:cNvPr id="7" name="Text 5"/>
          <p:cNvSpPr txBox="1"/>
          <p:nvPr/>
        </p:nvSpPr>
        <p:spPr>
          <a:xfrm>
            <a:off x="1554480" y="2103120"/>
            <a:ext cx="1737360" cy="841248"/>
          </a:xfrm>
          <a:prstGeom prst="rect">
            <a:avLst/>
          </a:prstGeom>
          <a:noFill/>
          <a:ln/>
        </p:spPr>
        <p:txBody>
          <a:bodyPr wrap="square" lIns="0" tIns="0" rIns="0" bIns="0" rtlCol="0" anchor="ctr"/>
          <a:lstStyle/>
          <a:p>
            <a:pPr algn="ctr" indent="0" marL="0">
              <a:buNone/>
            </a:pPr>
            <a:r>
              <a:rPr lang="en-US" sz="1050" b="1" dirty="0">
                <a:solidFill>
                  <a:srgbClr val="10233A"/>
                </a:solidFill>
                <a:latin typeface="游ゴシック" pitchFamily="34" charset="0"/>
                <a:ea typeface="游ゴシック" pitchFamily="34" charset="-122"/>
                <a:cs typeface="游ゴシック" pitchFamily="34" charset="-120"/>
              </a:rPr>
              <a:t>財産保有者のみ</a:t>
            </a:r>
            <a:endParaRPr lang="en-US" sz="1050" dirty="0"/>
          </a:p>
        </p:txBody>
      </p:sp>
      <p:sp>
        <p:nvSpPr>
          <p:cNvPr id="8" name="Text 6"/>
          <p:cNvSpPr txBox="1"/>
          <p:nvPr/>
        </p:nvSpPr>
        <p:spPr>
          <a:xfrm>
            <a:off x="4480560" y="2103120"/>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①課題化前</a:t>
            </a:r>
            <a:endParaRPr lang="en-US" sz="1200" dirty="0"/>
          </a:p>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（フロント）</a:t>
            </a:r>
            <a:endParaRPr lang="en-US" sz="1200" dirty="0"/>
          </a:p>
        </p:txBody>
      </p:sp>
      <p:sp>
        <p:nvSpPr>
          <p:cNvPr id="9" name="Shape 7"/>
          <p:cNvSpPr/>
          <p:nvPr/>
        </p:nvSpPr>
        <p:spPr>
          <a:xfrm>
            <a:off x="6583680" y="2103120"/>
            <a:ext cx="4937760" cy="841248"/>
          </a:xfrm>
          <a:prstGeom prst="rect">
            <a:avLst/>
          </a:prstGeom>
          <a:solidFill>
            <a:srgbClr val="C9603F">
              <a:alpha val="32000"/>
            </a:srgbClr>
          </a:solidFill>
          <a:ln/>
        </p:spPr>
      </p:sp>
      <p:sp>
        <p:nvSpPr>
          <p:cNvPr id="10" name="Text 8"/>
          <p:cNvSpPr txBox="1"/>
          <p:nvPr/>
        </p:nvSpPr>
        <p:spPr>
          <a:xfrm>
            <a:off x="6629400" y="2103120"/>
            <a:ext cx="4846320" cy="841248"/>
          </a:xfrm>
          <a:prstGeom prst="rect">
            <a:avLst/>
          </a:prstGeom>
          <a:noFill/>
          <a:ln/>
        </p:spPr>
        <p:txBody>
          <a:bodyPr wrap="square" lIns="0" tIns="0" rIns="0" bIns="0" rtlCol="0" anchor="ctr"/>
          <a:lstStyle/>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全世代・全資産層</a:t>
            </a:r>
            <a:endParaRPr lang="en-US" sz="1100" dirty="0"/>
          </a:p>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（ACP・人生会議）</a:t>
            </a:r>
            <a:endParaRPr lang="en-US" sz="1100" dirty="0"/>
          </a:p>
        </p:txBody>
      </p:sp>
      <p:sp>
        <p:nvSpPr>
          <p:cNvPr id="11" name="Shape 9"/>
          <p:cNvSpPr/>
          <p:nvPr/>
        </p:nvSpPr>
        <p:spPr>
          <a:xfrm>
            <a:off x="1737360" y="3035808"/>
            <a:ext cx="1371600" cy="841248"/>
          </a:xfrm>
          <a:prstGeom prst="rect">
            <a:avLst/>
          </a:prstGeom>
          <a:solidFill>
            <a:srgbClr val="1E3A5F">
              <a:alpha val="55000"/>
            </a:srgbClr>
          </a:solidFill>
          <a:ln/>
        </p:spPr>
      </p:sp>
      <p:sp>
        <p:nvSpPr>
          <p:cNvPr id="12" name="Text 10"/>
          <p:cNvSpPr txBox="1"/>
          <p:nvPr/>
        </p:nvSpPr>
        <p:spPr>
          <a:xfrm>
            <a:off x="1783080" y="3035808"/>
            <a:ext cx="1280160" cy="841248"/>
          </a:xfrm>
          <a:prstGeom prst="rect">
            <a:avLst/>
          </a:prstGeom>
          <a:noFill/>
          <a:ln/>
        </p:spPr>
        <p:txBody>
          <a:bodyPr wrap="square" lIns="0" tIns="0" rIns="0" bIns="0" rtlCol="0" anchor="ctr"/>
          <a:lstStyle/>
          <a:p>
            <a:pPr algn="ctr" indent="0" marL="0">
              <a:buNone/>
            </a:pPr>
            <a:r>
              <a:rPr lang="en-US" sz="1050" b="1" dirty="0">
                <a:solidFill>
                  <a:srgbClr val="10233A"/>
                </a:solidFill>
                <a:latin typeface="游ゴシック" pitchFamily="34" charset="0"/>
                <a:ea typeface="游ゴシック" pitchFamily="34" charset="-122"/>
                <a:cs typeface="游ゴシック" pitchFamily="34" charset="-120"/>
              </a:rPr>
              <a:t>相続の悩みを自覚</a:t>
            </a:r>
            <a:endParaRPr lang="en-US" sz="1050" dirty="0"/>
          </a:p>
        </p:txBody>
      </p:sp>
      <p:sp>
        <p:nvSpPr>
          <p:cNvPr id="13" name="Text 11"/>
          <p:cNvSpPr txBox="1"/>
          <p:nvPr/>
        </p:nvSpPr>
        <p:spPr>
          <a:xfrm>
            <a:off x="4480560" y="3035808"/>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②認知</a:t>
            </a:r>
            <a:endParaRPr lang="en-US" sz="1200" dirty="0"/>
          </a:p>
        </p:txBody>
      </p:sp>
      <p:sp>
        <p:nvSpPr>
          <p:cNvPr id="14" name="Shape 12"/>
          <p:cNvSpPr/>
          <p:nvPr/>
        </p:nvSpPr>
        <p:spPr>
          <a:xfrm>
            <a:off x="7452360" y="3035808"/>
            <a:ext cx="3200400" cy="841248"/>
          </a:xfrm>
          <a:prstGeom prst="rect">
            <a:avLst/>
          </a:prstGeom>
          <a:solidFill>
            <a:srgbClr val="C9603F">
              <a:alpha val="55000"/>
            </a:srgbClr>
          </a:solidFill>
          <a:ln/>
        </p:spPr>
      </p:sp>
      <p:sp>
        <p:nvSpPr>
          <p:cNvPr id="15" name="Text 13"/>
          <p:cNvSpPr txBox="1"/>
          <p:nvPr/>
        </p:nvSpPr>
        <p:spPr>
          <a:xfrm>
            <a:off x="7498080" y="3035808"/>
            <a:ext cx="3108960" cy="841248"/>
          </a:xfrm>
          <a:prstGeom prst="rect">
            <a:avLst/>
          </a:prstGeom>
          <a:noFill/>
          <a:ln/>
        </p:spPr>
        <p:txBody>
          <a:bodyPr wrap="square" lIns="0" tIns="0" rIns="0" bIns="0" rtlCol="0" anchor="ctr"/>
          <a:lstStyle/>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人生会議の実践者</a:t>
            </a:r>
            <a:endParaRPr lang="en-US" sz="1100" dirty="0"/>
          </a:p>
        </p:txBody>
      </p:sp>
      <p:sp>
        <p:nvSpPr>
          <p:cNvPr id="16" name="Shape 14"/>
          <p:cNvSpPr/>
          <p:nvPr/>
        </p:nvSpPr>
        <p:spPr>
          <a:xfrm>
            <a:off x="1943100" y="3968496"/>
            <a:ext cx="960120" cy="841248"/>
          </a:xfrm>
          <a:prstGeom prst="rect">
            <a:avLst/>
          </a:prstGeom>
          <a:solidFill>
            <a:srgbClr val="1E3A5F">
              <a:alpha val="77000"/>
            </a:srgbClr>
          </a:solidFill>
          <a:ln/>
        </p:spPr>
      </p:sp>
      <p:sp>
        <p:nvSpPr>
          <p:cNvPr id="17" name="Text 15"/>
          <p:cNvSpPr txBox="1"/>
          <p:nvPr/>
        </p:nvSpPr>
        <p:spPr>
          <a:xfrm>
            <a:off x="1988820" y="3968496"/>
            <a:ext cx="868680" cy="841248"/>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士業へ相談</a:t>
            </a:r>
            <a:endParaRPr lang="en-US" sz="1050" dirty="0"/>
          </a:p>
        </p:txBody>
      </p:sp>
      <p:sp>
        <p:nvSpPr>
          <p:cNvPr id="18" name="Text 16"/>
          <p:cNvSpPr txBox="1"/>
          <p:nvPr/>
        </p:nvSpPr>
        <p:spPr>
          <a:xfrm>
            <a:off x="4480560" y="3968496"/>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③情報収集</a:t>
            </a:r>
            <a:endParaRPr lang="en-US" sz="1200" dirty="0"/>
          </a:p>
        </p:txBody>
      </p:sp>
      <p:sp>
        <p:nvSpPr>
          <p:cNvPr id="19" name="Shape 17"/>
          <p:cNvSpPr/>
          <p:nvPr/>
        </p:nvSpPr>
        <p:spPr>
          <a:xfrm>
            <a:off x="8138160" y="3968496"/>
            <a:ext cx="1828800" cy="841248"/>
          </a:xfrm>
          <a:prstGeom prst="rect">
            <a:avLst/>
          </a:prstGeom>
          <a:solidFill>
            <a:srgbClr val="C9603F">
              <a:alpha val="77000"/>
            </a:srgbClr>
          </a:solidFill>
          <a:ln/>
        </p:spPr>
      </p:sp>
      <p:sp>
        <p:nvSpPr>
          <p:cNvPr id="20" name="Text 18"/>
          <p:cNvSpPr txBox="1"/>
          <p:nvPr/>
        </p:nvSpPr>
        <p:spPr>
          <a:xfrm>
            <a:off x="8183880" y="3968496"/>
            <a:ext cx="1737360"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個別相談</a:t>
            </a:r>
            <a:endParaRPr lang="en-US" sz="1100" dirty="0"/>
          </a:p>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サポートアドバイザー</a:t>
            </a:r>
            <a:endParaRPr lang="en-US" sz="1100" dirty="0"/>
          </a:p>
        </p:txBody>
      </p:sp>
      <p:sp>
        <p:nvSpPr>
          <p:cNvPr id="21" name="Shape 19"/>
          <p:cNvSpPr/>
          <p:nvPr/>
        </p:nvSpPr>
        <p:spPr>
          <a:xfrm>
            <a:off x="2125980" y="4901184"/>
            <a:ext cx="594360" cy="841248"/>
          </a:xfrm>
          <a:prstGeom prst="rect">
            <a:avLst/>
          </a:prstGeom>
          <a:solidFill>
            <a:srgbClr val="1E3A5F"/>
          </a:solidFill>
          <a:ln/>
        </p:spPr>
      </p:sp>
      <p:sp>
        <p:nvSpPr>
          <p:cNvPr id="22" name="Text 20"/>
          <p:cNvSpPr txBox="1"/>
          <p:nvPr/>
        </p:nvSpPr>
        <p:spPr>
          <a:xfrm>
            <a:off x="4480560" y="4901184"/>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④比較検討</a:t>
            </a:r>
            <a:endParaRPr lang="en-US" sz="1200" dirty="0"/>
          </a:p>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・成約</a:t>
            </a:r>
            <a:endParaRPr lang="en-US" sz="1200" dirty="0"/>
          </a:p>
        </p:txBody>
      </p:sp>
      <p:sp>
        <p:nvSpPr>
          <p:cNvPr id="23" name="Shape 21"/>
          <p:cNvSpPr/>
          <p:nvPr/>
        </p:nvSpPr>
        <p:spPr>
          <a:xfrm>
            <a:off x="8618220" y="4901184"/>
            <a:ext cx="868680" cy="841248"/>
          </a:xfrm>
          <a:prstGeom prst="rect">
            <a:avLst/>
          </a:prstGeom>
          <a:solidFill>
            <a:srgbClr val="C9603F"/>
          </a:solidFill>
          <a:ln/>
        </p:spPr>
      </p:sp>
      <p:sp>
        <p:nvSpPr>
          <p:cNvPr id="24" name="Text 2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300" i="1" dirty="0">
                <a:solidFill>
                  <a:srgbClr val="6B6B6B"/>
                </a:solidFill>
                <a:latin typeface="游ゴシック" pitchFamily="34" charset="0"/>
                <a:ea typeface="游ゴシック" pitchFamily="34" charset="-122"/>
                <a:cs typeface="游ゴシック" pitchFamily="34" charset="-120"/>
              </a:rPr>
              <a:t>入口を「財産」から「人生」に変えたことで、フロント（課題化前）の母数そのものを構造的に拡大している。</a:t>
            </a:r>
            <a:endParaRPr lang="en-US" sz="1300" dirty="0"/>
          </a:p>
        </p:txBody>
      </p:sp>
      <p:sp>
        <p:nvSpPr>
          <p:cNvPr id="25" name="Text 2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MARKET WE CREATED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hubとしての3年間 ― 創出した経済圏（想定内訳）</a:t>
            </a:r>
            <a:endParaRPr lang="en-US" sz="2700" dirty="0"/>
          </a:p>
        </p:txBody>
      </p:sp>
      <p:sp>
        <p:nvSpPr>
          <p:cNvPr id="4" name="Shape 2"/>
          <p:cNvSpPr/>
          <p:nvPr/>
        </p:nvSpPr>
        <p:spPr>
          <a:xfrm>
            <a:off x="5943600" y="2560320"/>
            <a:ext cx="9144" cy="1417320"/>
          </a:xfrm>
          <a:prstGeom prst="line">
            <a:avLst/>
          </a:prstGeom>
          <a:noFill/>
          <a:ln w="19050">
            <a:solidFill>
              <a:srgbClr val="C9C2B6"/>
            </a:solidFill>
            <a:prstDash val="sysDot"/>
          </a:ln>
        </p:spPr>
      </p:sp>
      <p:sp>
        <p:nvSpPr>
          <p:cNvPr id="5" name="Shape 3"/>
          <p:cNvSpPr/>
          <p:nvPr/>
        </p:nvSpPr>
        <p:spPr>
          <a:xfrm>
            <a:off x="5943600" y="2975443"/>
            <a:ext cx="2263025" cy="1002197"/>
          </a:xfrm>
          <a:prstGeom prst="line">
            <a:avLst/>
          </a:prstGeom>
          <a:noFill/>
          <a:ln w="19050">
            <a:solidFill>
              <a:srgbClr val="C9C2B6"/>
            </a:solidFill>
            <a:prstDash val="sysDot"/>
          </a:ln>
        </p:spPr>
      </p:sp>
      <p:sp>
        <p:nvSpPr>
          <p:cNvPr id="6" name="Shape 4"/>
          <p:cNvSpPr/>
          <p:nvPr/>
        </p:nvSpPr>
        <p:spPr>
          <a:xfrm>
            <a:off x="5943600" y="3977640"/>
            <a:ext cx="3200400" cy="9144"/>
          </a:xfrm>
          <a:prstGeom prst="line">
            <a:avLst/>
          </a:prstGeom>
          <a:noFill/>
          <a:ln w="19050">
            <a:solidFill>
              <a:srgbClr val="C9C2B6"/>
            </a:solidFill>
            <a:prstDash val="sysDot"/>
          </a:ln>
        </p:spPr>
      </p:sp>
      <p:sp>
        <p:nvSpPr>
          <p:cNvPr id="7" name="Shape 5"/>
          <p:cNvSpPr/>
          <p:nvPr/>
        </p:nvSpPr>
        <p:spPr>
          <a:xfrm>
            <a:off x="5943600" y="3977640"/>
            <a:ext cx="2263025" cy="1002197"/>
          </a:xfrm>
          <a:prstGeom prst="line">
            <a:avLst/>
          </a:prstGeom>
          <a:noFill/>
          <a:ln w="19050">
            <a:solidFill>
              <a:srgbClr val="C9C2B6"/>
            </a:solidFill>
            <a:prstDash val="sysDot"/>
          </a:ln>
        </p:spPr>
      </p:sp>
      <p:sp>
        <p:nvSpPr>
          <p:cNvPr id="8" name="Shape 6"/>
          <p:cNvSpPr/>
          <p:nvPr/>
        </p:nvSpPr>
        <p:spPr>
          <a:xfrm>
            <a:off x="5943600" y="3977640"/>
            <a:ext cx="9144" cy="1417320"/>
          </a:xfrm>
          <a:prstGeom prst="line">
            <a:avLst/>
          </a:prstGeom>
          <a:noFill/>
          <a:ln w="19050">
            <a:solidFill>
              <a:srgbClr val="C9C2B6"/>
            </a:solidFill>
            <a:prstDash val="sysDot"/>
          </a:ln>
        </p:spPr>
      </p:sp>
      <p:sp>
        <p:nvSpPr>
          <p:cNvPr id="9" name="Shape 7"/>
          <p:cNvSpPr/>
          <p:nvPr/>
        </p:nvSpPr>
        <p:spPr>
          <a:xfrm>
            <a:off x="3680575" y="3977640"/>
            <a:ext cx="2263025" cy="1002197"/>
          </a:xfrm>
          <a:prstGeom prst="line">
            <a:avLst/>
          </a:prstGeom>
          <a:noFill/>
          <a:ln w="19050">
            <a:solidFill>
              <a:srgbClr val="C9C2B6"/>
            </a:solidFill>
            <a:prstDash val="sysDot"/>
          </a:ln>
        </p:spPr>
      </p:sp>
      <p:sp>
        <p:nvSpPr>
          <p:cNvPr id="10" name="Shape 8"/>
          <p:cNvSpPr/>
          <p:nvPr/>
        </p:nvSpPr>
        <p:spPr>
          <a:xfrm>
            <a:off x="2743200" y="3977640"/>
            <a:ext cx="3200400" cy="9144"/>
          </a:xfrm>
          <a:prstGeom prst="line">
            <a:avLst/>
          </a:prstGeom>
          <a:noFill/>
          <a:ln w="19050">
            <a:solidFill>
              <a:srgbClr val="C9C2B6"/>
            </a:solidFill>
            <a:prstDash val="sysDot"/>
          </a:ln>
        </p:spPr>
      </p:sp>
      <p:sp>
        <p:nvSpPr>
          <p:cNvPr id="11" name="Shape 9"/>
          <p:cNvSpPr/>
          <p:nvPr/>
        </p:nvSpPr>
        <p:spPr>
          <a:xfrm>
            <a:off x="3680575" y="2975443"/>
            <a:ext cx="2263025" cy="1002197"/>
          </a:xfrm>
          <a:prstGeom prst="line">
            <a:avLst/>
          </a:prstGeom>
          <a:noFill/>
          <a:ln w="19050">
            <a:solidFill>
              <a:srgbClr val="C9C2B6"/>
            </a:solidFill>
            <a:prstDash val="sysDot"/>
          </a:ln>
        </p:spPr>
      </p:sp>
      <p:sp>
        <p:nvSpPr>
          <p:cNvPr id="12" name="Shape 10"/>
          <p:cNvSpPr/>
          <p:nvPr/>
        </p:nvSpPr>
        <p:spPr>
          <a:xfrm>
            <a:off x="5052060" y="1668780"/>
            <a:ext cx="1783080" cy="1783080"/>
          </a:xfrm>
          <a:prstGeom prst="ellipse">
            <a:avLst/>
          </a:prstGeom>
          <a:solidFill>
            <a:srgbClr val="1E3A5F"/>
          </a:solidFill>
          <a:ln/>
        </p:spPr>
      </p:sp>
      <p:sp>
        <p:nvSpPr>
          <p:cNvPr id="13" name="Text 11"/>
          <p:cNvSpPr txBox="1"/>
          <p:nvPr/>
        </p:nvSpPr>
        <p:spPr>
          <a:xfrm>
            <a:off x="4732020" y="1668780"/>
            <a:ext cx="2423160" cy="178308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金融</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50億円</a:t>
            </a:r>
            <a:endParaRPr lang="en-US" sz="1050" dirty="0"/>
          </a:p>
        </p:txBody>
      </p:sp>
      <p:sp>
        <p:nvSpPr>
          <p:cNvPr id="14" name="Shape 12"/>
          <p:cNvSpPr/>
          <p:nvPr/>
        </p:nvSpPr>
        <p:spPr>
          <a:xfrm>
            <a:off x="7406525" y="2175343"/>
            <a:ext cx="1600200" cy="1600200"/>
          </a:xfrm>
          <a:prstGeom prst="ellipse">
            <a:avLst/>
          </a:prstGeom>
          <a:solidFill>
            <a:srgbClr val="1E3A5F"/>
          </a:solidFill>
          <a:ln/>
        </p:spPr>
      </p:sp>
      <p:sp>
        <p:nvSpPr>
          <p:cNvPr id="15" name="Text 13"/>
          <p:cNvSpPr txBox="1"/>
          <p:nvPr/>
        </p:nvSpPr>
        <p:spPr>
          <a:xfrm>
            <a:off x="7086485" y="2175343"/>
            <a:ext cx="2240280" cy="160020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不動産</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30億円</a:t>
            </a:r>
            <a:endParaRPr lang="en-US" sz="1050" dirty="0"/>
          </a:p>
        </p:txBody>
      </p:sp>
      <p:sp>
        <p:nvSpPr>
          <p:cNvPr id="16" name="Shape 14"/>
          <p:cNvSpPr/>
          <p:nvPr/>
        </p:nvSpPr>
        <p:spPr>
          <a:xfrm>
            <a:off x="8549640" y="3383280"/>
            <a:ext cx="1188720" cy="1188720"/>
          </a:xfrm>
          <a:prstGeom prst="ellipse">
            <a:avLst/>
          </a:prstGeom>
          <a:solidFill>
            <a:srgbClr val="1E3A5F"/>
          </a:solidFill>
          <a:ln/>
        </p:spPr>
      </p:sp>
      <p:sp>
        <p:nvSpPr>
          <p:cNvPr id="17" name="Text 15"/>
          <p:cNvSpPr txBox="1"/>
          <p:nvPr/>
        </p:nvSpPr>
        <p:spPr>
          <a:xfrm>
            <a:off x="8229600" y="3383280"/>
            <a:ext cx="1828800" cy="118872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M&amp;A</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5億円</a:t>
            </a:r>
            <a:endParaRPr lang="en-US" sz="1050" dirty="0"/>
          </a:p>
        </p:txBody>
      </p:sp>
      <p:sp>
        <p:nvSpPr>
          <p:cNvPr id="18" name="Shape 16"/>
          <p:cNvSpPr/>
          <p:nvPr/>
        </p:nvSpPr>
        <p:spPr>
          <a:xfrm>
            <a:off x="7566545" y="4339757"/>
            <a:ext cx="1280160" cy="1280160"/>
          </a:xfrm>
          <a:prstGeom prst="ellipse">
            <a:avLst/>
          </a:prstGeom>
          <a:solidFill>
            <a:srgbClr val="1E3A5F"/>
          </a:solidFill>
          <a:ln/>
        </p:spPr>
      </p:sp>
      <p:sp>
        <p:nvSpPr>
          <p:cNvPr id="19" name="Text 17"/>
          <p:cNvSpPr txBox="1"/>
          <p:nvPr/>
        </p:nvSpPr>
        <p:spPr>
          <a:xfrm>
            <a:off x="7246505" y="4339757"/>
            <a:ext cx="1920240" cy="12801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その他</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7億円</a:t>
            </a:r>
            <a:endParaRPr lang="en-US" sz="1050" dirty="0"/>
          </a:p>
        </p:txBody>
      </p:sp>
      <p:sp>
        <p:nvSpPr>
          <p:cNvPr id="20" name="Shape 18"/>
          <p:cNvSpPr/>
          <p:nvPr/>
        </p:nvSpPr>
        <p:spPr>
          <a:xfrm>
            <a:off x="5372100" y="4823460"/>
            <a:ext cx="1143000" cy="1143000"/>
          </a:xfrm>
          <a:prstGeom prst="ellipse">
            <a:avLst/>
          </a:prstGeom>
          <a:solidFill>
            <a:srgbClr val="1E3A5F"/>
          </a:solidFill>
          <a:ln/>
        </p:spPr>
      </p:sp>
      <p:sp>
        <p:nvSpPr>
          <p:cNvPr id="21" name="Text 19"/>
          <p:cNvSpPr txBox="1"/>
          <p:nvPr/>
        </p:nvSpPr>
        <p:spPr>
          <a:xfrm>
            <a:off x="5052060" y="4823460"/>
            <a:ext cx="1783080" cy="114300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有料老人</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ホーム</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3億円</a:t>
            </a:r>
            <a:endParaRPr lang="en-US" sz="1050" dirty="0"/>
          </a:p>
        </p:txBody>
      </p:sp>
      <p:sp>
        <p:nvSpPr>
          <p:cNvPr id="22" name="Shape 20"/>
          <p:cNvSpPr/>
          <p:nvPr/>
        </p:nvSpPr>
        <p:spPr>
          <a:xfrm>
            <a:off x="3200515" y="4499777"/>
            <a:ext cx="960120" cy="960120"/>
          </a:xfrm>
          <a:prstGeom prst="ellipse">
            <a:avLst/>
          </a:prstGeom>
          <a:solidFill>
            <a:srgbClr val="1E3A5F"/>
          </a:solidFill>
          <a:ln/>
        </p:spPr>
      </p:sp>
      <p:sp>
        <p:nvSpPr>
          <p:cNvPr id="23" name="Text 21"/>
          <p:cNvSpPr txBox="1"/>
          <p:nvPr/>
        </p:nvSpPr>
        <p:spPr>
          <a:xfrm>
            <a:off x="2880475" y="4499777"/>
            <a:ext cx="1600200"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弁護士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1億円</a:t>
            </a:r>
            <a:endParaRPr lang="en-US" sz="1050" dirty="0"/>
          </a:p>
        </p:txBody>
      </p:sp>
      <p:sp>
        <p:nvSpPr>
          <p:cNvPr id="24" name="Shape 22"/>
          <p:cNvSpPr/>
          <p:nvPr/>
        </p:nvSpPr>
        <p:spPr>
          <a:xfrm>
            <a:off x="2217420" y="3451860"/>
            <a:ext cx="1051560" cy="1051560"/>
          </a:xfrm>
          <a:prstGeom prst="ellipse">
            <a:avLst/>
          </a:prstGeom>
          <a:solidFill>
            <a:srgbClr val="1E3A5F"/>
          </a:solidFill>
          <a:ln/>
        </p:spPr>
      </p:sp>
      <p:sp>
        <p:nvSpPr>
          <p:cNvPr id="25" name="Text 23"/>
          <p:cNvSpPr txBox="1"/>
          <p:nvPr/>
        </p:nvSpPr>
        <p:spPr>
          <a:xfrm>
            <a:off x="1897380" y="3451860"/>
            <a:ext cx="1691640" cy="10515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司法書士・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行政書士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2億円</a:t>
            </a:r>
            <a:endParaRPr lang="en-US" sz="1050" dirty="0"/>
          </a:p>
        </p:txBody>
      </p:sp>
      <p:sp>
        <p:nvSpPr>
          <p:cNvPr id="26" name="Shape 24"/>
          <p:cNvSpPr/>
          <p:nvPr/>
        </p:nvSpPr>
        <p:spPr>
          <a:xfrm>
            <a:off x="3154795" y="2449663"/>
            <a:ext cx="1051560" cy="1051560"/>
          </a:xfrm>
          <a:prstGeom prst="ellipse">
            <a:avLst/>
          </a:prstGeom>
          <a:solidFill>
            <a:srgbClr val="1E3A5F"/>
          </a:solidFill>
          <a:ln/>
        </p:spPr>
      </p:sp>
      <p:sp>
        <p:nvSpPr>
          <p:cNvPr id="27" name="Text 25"/>
          <p:cNvSpPr txBox="1"/>
          <p:nvPr/>
        </p:nvSpPr>
        <p:spPr>
          <a:xfrm>
            <a:off x="2834755" y="2449663"/>
            <a:ext cx="1691640" cy="10515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税理士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2億円</a:t>
            </a:r>
            <a:endParaRPr lang="en-US" sz="1050" dirty="0"/>
          </a:p>
        </p:txBody>
      </p:sp>
      <p:sp>
        <p:nvSpPr>
          <p:cNvPr id="28" name="Shape 26"/>
          <p:cNvSpPr/>
          <p:nvPr/>
        </p:nvSpPr>
        <p:spPr>
          <a:xfrm>
            <a:off x="5097780" y="3131820"/>
            <a:ext cx="1691640" cy="1691640"/>
          </a:xfrm>
          <a:prstGeom prst="ellipse">
            <a:avLst/>
          </a:prstGeom>
          <a:solidFill>
            <a:srgbClr val="C9603F"/>
          </a:solidFill>
          <a:ln/>
        </p:spPr>
      </p:sp>
      <p:sp>
        <p:nvSpPr>
          <p:cNvPr id="29" name="Text 27"/>
          <p:cNvSpPr txBox="1"/>
          <p:nvPr/>
        </p:nvSpPr>
        <p:spPr>
          <a:xfrm>
            <a:off x="4777740" y="3131820"/>
            <a:ext cx="2331720" cy="1691640"/>
          </a:xfrm>
          <a:prstGeom prst="rect">
            <a:avLst/>
          </a:prstGeom>
          <a:noFill/>
          <a:ln/>
        </p:spPr>
        <p:txBody>
          <a:bodyPr wrap="square" lIns="0" tIns="0" rIns="0" bIns="0" rtlCol="0" anchor="ctr"/>
          <a:lstStyle/>
          <a:p>
            <a:pPr algn="ctr" indent="0" marL="0">
              <a:buNone/>
            </a:pPr>
            <a:r>
              <a:rPr lang="en-US" sz="1300" b="1" dirty="0">
                <a:solidFill>
                  <a:srgbClr val="FFFFFF"/>
                </a:solidFill>
                <a:latin typeface="游ゴシック" pitchFamily="34" charset="0"/>
                <a:ea typeface="游ゴシック" pitchFamily="34" charset="-122"/>
                <a:cs typeface="游ゴシック" pitchFamily="34" charset="-120"/>
              </a:rPr>
              <a:t>繋ぐグループ</a:t>
            </a:r>
            <a:endParaRPr lang="en-US" sz="1300" dirty="0"/>
          </a:p>
          <a:p>
            <a:pPr algn="ctr" indent="0" marL="0">
              <a:buNone/>
            </a:pPr>
            <a:r>
              <a:rPr lang="en-US" sz="1300" b="1" dirty="0">
                <a:solidFill>
                  <a:srgbClr val="FFFFFF"/>
                </a:solidFill>
                <a:latin typeface="游ゴシック" pitchFamily="34" charset="0"/>
                <a:ea typeface="游ゴシック" pitchFamily="34" charset="-122"/>
                <a:cs typeface="游ゴシック" pitchFamily="34" charset="-120"/>
              </a:rPr>
              <a:t>（hub）</a:t>
            </a:r>
            <a:endParaRPr lang="en-US" sz="1300" dirty="0"/>
          </a:p>
        </p:txBody>
      </p:sp>
      <p:sp>
        <p:nvSpPr>
          <p:cNvPr id="30" name="Shape 28"/>
          <p:cNvSpPr/>
          <p:nvPr/>
        </p:nvSpPr>
        <p:spPr>
          <a:xfrm>
            <a:off x="9464040" y="1783080"/>
            <a:ext cx="2103120" cy="1051560"/>
          </a:xfrm>
          <a:prstGeom prst="roundRect">
            <a:avLst>
              <a:gd name="adj" fmla="val 8696"/>
            </a:avLst>
          </a:prstGeom>
          <a:solidFill>
            <a:srgbClr val="10233A"/>
          </a:solidFill>
          <a:ln/>
          <a:effectLst>
            <a:outerShdw sx="100000" sy="100000" kx="0" ky="0" algn="bl" rotWithShape="0" blurRad="101600" dist="38100" dir="5400000">
              <a:srgbClr val="10233A">
                <a:alpha val="18000"/>
              </a:srgbClr>
            </a:outerShdw>
          </a:effectLst>
        </p:spPr>
      </p:sp>
      <p:sp>
        <p:nvSpPr>
          <p:cNvPr id="31" name="Text 29"/>
          <p:cNvSpPr txBox="1"/>
          <p:nvPr/>
        </p:nvSpPr>
        <p:spPr>
          <a:xfrm>
            <a:off x="9646920" y="1901952"/>
            <a:ext cx="1737360" cy="274320"/>
          </a:xfrm>
          <a:prstGeom prst="rect">
            <a:avLst/>
          </a:prstGeom>
          <a:noFill/>
          <a:ln/>
        </p:spPr>
        <p:txBody>
          <a:bodyPr wrap="square" lIns="0" tIns="0" rIns="0" bIns="0" rtlCol="0" anchor="ctr"/>
          <a:lstStyle/>
          <a:p>
            <a:pPr indent="0" marL="0">
              <a:buNone/>
            </a:pPr>
            <a:r>
              <a:rPr lang="en-US" sz="1100" dirty="0">
                <a:solidFill>
                  <a:srgbClr val="F1DCCF"/>
                </a:solidFill>
                <a:latin typeface="游ゴシック" pitchFamily="34" charset="0"/>
                <a:ea typeface="游ゴシック" pitchFamily="34" charset="-122"/>
                <a:cs typeface="游ゴシック" pitchFamily="34" charset="-120"/>
              </a:rPr>
              <a:t>想定合計</a:t>
            </a:r>
            <a:endParaRPr lang="en-US" sz="1100" dirty="0"/>
          </a:p>
        </p:txBody>
      </p:sp>
      <p:sp>
        <p:nvSpPr>
          <p:cNvPr id="32" name="Text 30"/>
          <p:cNvSpPr txBox="1"/>
          <p:nvPr/>
        </p:nvSpPr>
        <p:spPr>
          <a:xfrm>
            <a:off x="9646920" y="2176272"/>
            <a:ext cx="1737360" cy="548640"/>
          </a:xfrm>
          <a:prstGeom prst="rect">
            <a:avLst/>
          </a:prstGeom>
          <a:noFill/>
          <a:ln/>
        </p:spPr>
        <p:txBody>
          <a:bodyPr wrap="square" lIns="0" tIns="0" rIns="0" bIns="0" rtlCol="0" anchor="ctr"/>
          <a:lstStyle/>
          <a:p>
            <a:pPr indent="0" marL="0">
              <a:buNone/>
            </a:pPr>
            <a:r>
              <a:rPr lang="en-US" sz="2400" b="1" dirty="0">
                <a:solidFill>
                  <a:srgbClr val="FFFFFF"/>
                </a:solidFill>
                <a:latin typeface="游ゴシック" pitchFamily="34" charset="0"/>
                <a:ea typeface="游ゴシック" pitchFamily="34" charset="-122"/>
                <a:cs typeface="游ゴシック" pitchFamily="34" charset="-120"/>
              </a:rPr>
              <a:t>約100億円</a:t>
            </a:r>
            <a:endParaRPr lang="en-US" sz="2400" dirty="0"/>
          </a:p>
        </p:txBody>
      </p:sp>
      <p:sp>
        <p:nvSpPr>
          <p:cNvPr id="33" name="Text 31"/>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050" i="1" dirty="0">
                <a:solidFill>
                  <a:srgbClr val="6B6B6B"/>
                </a:solidFill>
                <a:latin typeface="游ゴシック" pitchFamily="34" charset="0"/>
                <a:ea typeface="游ゴシック" pitchFamily="34" charset="-122"/>
                <a:cs typeface="游ゴシック" pitchFamily="34" charset="-120"/>
              </a:rPr>
              <a:t>金額は現時点の想定値。ファイナル資料で使う際は「概算」「エピソードとして」と位置づけ、根拠の精査を行う。</a:t>
            </a:r>
            <a:endParaRPr lang="en-US" sz="1050" dirty="0"/>
          </a:p>
        </p:txBody>
      </p:sp>
      <p:sp>
        <p:nvSpPr>
          <p:cNvPr id="34" name="Text 32"/>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BREAKDOWN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内訳ランキング ― 金融・不動産で全体の8割</a:t>
            </a:r>
            <a:endParaRPr lang="en-US" sz="2700" dirty="0"/>
          </a:p>
        </p:txBody>
      </p:sp>
      <p:graphicFrame>
        <p:nvGraphicFramePr>
          <p:cNvPr id="4" name="Chart 0" descr=""/>
          <p:cNvGraphicFramePr/>
          <p:nvPr/>
        </p:nvGraphicFramePr>
        <p:xfrm>
          <a:off x="640080" y="1691640"/>
          <a:ext cx="6675120" cy="42976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35240" y="1783080"/>
            <a:ext cx="3931920" cy="1828800"/>
          </a:xfrm>
          <a:prstGeom prst="roundRect">
            <a:avLst>
              <a:gd name="adj" fmla="val 5000"/>
            </a:avLst>
          </a:prstGeom>
          <a:solidFill>
            <a:srgbClr val="F6F1EA"/>
          </a:solidFill>
          <a:ln/>
          <a:effectLst>
            <a:outerShdw sx="100000" sy="100000" kx="0" ky="0" algn="bl" rotWithShape="0" blurRad="101600" dist="38100" dir="5400000">
              <a:srgbClr val="10233A">
                <a:alpha val="18000"/>
              </a:srgbClr>
            </a:outerShdw>
          </a:effectLst>
        </p:spPr>
      </p:sp>
      <p:sp>
        <p:nvSpPr>
          <p:cNvPr id="6" name="Text 3"/>
          <p:cNvSpPr txBox="1"/>
          <p:nvPr/>
        </p:nvSpPr>
        <p:spPr>
          <a:xfrm>
            <a:off x="7863840" y="1965960"/>
            <a:ext cx="3474720" cy="457200"/>
          </a:xfrm>
          <a:prstGeom prst="rect">
            <a:avLst/>
          </a:prstGeom>
          <a:noFill/>
          <a:ln/>
        </p:spPr>
        <p:txBody>
          <a:bodyPr wrap="square" lIns="0" tIns="0" rIns="0" bIns="0" rtlCol="0" anchor="ctr"/>
          <a:lstStyle/>
          <a:p>
            <a:pPr indent="0" marL="0">
              <a:buNone/>
            </a:pPr>
            <a:r>
              <a:rPr lang="en-US" sz="1600" b="1" dirty="0">
                <a:solidFill>
                  <a:srgbClr val="C9603F"/>
                </a:solidFill>
                <a:latin typeface="游ゴシック" pitchFamily="34" charset="0"/>
                <a:ea typeface="游ゴシック" pitchFamily="34" charset="-122"/>
                <a:cs typeface="游ゴシック" pitchFamily="34" charset="-120"/>
              </a:rPr>
              <a:t>金融＋不動産　＝　80億円</a:t>
            </a:r>
            <a:endParaRPr lang="en-US" sz="1600" dirty="0"/>
          </a:p>
        </p:txBody>
      </p:sp>
      <p:sp>
        <p:nvSpPr>
          <p:cNvPr id="7" name="Text 4"/>
          <p:cNvSpPr txBox="1"/>
          <p:nvPr/>
        </p:nvSpPr>
        <p:spPr>
          <a:xfrm>
            <a:off x="7863840" y="2423160"/>
            <a:ext cx="3474720" cy="1097280"/>
          </a:xfrm>
          <a:prstGeom prst="rect">
            <a:avLst/>
          </a:prstGeom>
          <a:noFill/>
          <a:ln/>
        </p:spPr>
        <p:txBody>
          <a:bodyPr wrap="square" lIns="0" tIns="0" rIns="0" bIns="0" rtlCol="0" anchor="t"/>
          <a:lstStyle/>
          <a:p>
            <a:pPr indent="0" marL="0">
              <a:lnSpc>
                <a:spcPct val="125000"/>
              </a:lnSpc>
              <a:buNone/>
            </a:pPr>
            <a:r>
              <a:rPr lang="en-US" sz="1200" dirty="0">
                <a:solidFill>
                  <a:srgbClr val="3A3A3A"/>
                </a:solidFill>
                <a:latin typeface="游ゴシック" pitchFamily="34" charset="0"/>
                <a:ea typeface="游ゴシック" pitchFamily="34" charset="-122"/>
                <a:cs typeface="游ゴシック" pitchFamily="34" charset="-120"/>
              </a:rPr>
              <a:t>全体想定100億円のうち約8割を占める、資産性の高い意思決定支援（相続発生時の資産整理・組み換え）が中核であることを示す。</a:t>
            </a:r>
            <a:endParaRPr lang="en-US" sz="1200" dirty="0"/>
          </a:p>
        </p:txBody>
      </p:sp>
      <p:sp>
        <p:nvSpPr>
          <p:cNvPr id="8" name="Shape 5"/>
          <p:cNvSpPr/>
          <p:nvPr/>
        </p:nvSpPr>
        <p:spPr>
          <a:xfrm>
            <a:off x="7635240" y="3794760"/>
            <a:ext cx="3931920" cy="2194560"/>
          </a:xfrm>
          <a:prstGeom prst="roundRect">
            <a:avLst>
              <a:gd name="adj" fmla="val 4167"/>
            </a:avLst>
          </a:prstGeom>
          <a:solidFill>
            <a:srgbClr val="F6F1EA"/>
          </a:solidFill>
          <a:ln/>
          <a:effectLst>
            <a:outerShdw sx="100000" sy="100000" kx="0" ky="0" algn="bl" rotWithShape="0" blurRad="101600" dist="38100" dir="5400000">
              <a:srgbClr val="10233A">
                <a:alpha val="18000"/>
              </a:srgbClr>
            </a:outerShdw>
          </a:effectLst>
        </p:spPr>
      </p:sp>
      <p:sp>
        <p:nvSpPr>
          <p:cNvPr id="9" name="Text 6"/>
          <p:cNvSpPr txBox="1"/>
          <p:nvPr/>
        </p:nvSpPr>
        <p:spPr>
          <a:xfrm>
            <a:off x="7863840" y="3977640"/>
            <a:ext cx="3474720" cy="457200"/>
          </a:xfrm>
          <a:prstGeom prst="rect">
            <a:avLst/>
          </a:prstGeom>
          <a:noFill/>
          <a:ln/>
        </p:spPr>
        <p:txBody>
          <a:bodyPr wrap="square" lIns="0" tIns="0" rIns="0" bIns="0" rtlCol="0" anchor="ctr"/>
          <a:lstStyle/>
          <a:p>
            <a:pPr indent="0" marL="0">
              <a:buNone/>
            </a:pPr>
            <a:r>
              <a:rPr lang="en-US" sz="1500" b="1" dirty="0">
                <a:solidFill>
                  <a:srgbClr val="1E3A5F"/>
                </a:solidFill>
                <a:latin typeface="游ゴシック" pitchFamily="34" charset="0"/>
                <a:ea typeface="游ゴシック" pitchFamily="34" charset="-122"/>
                <a:cs typeface="游ゴシック" pitchFamily="34" charset="-120"/>
              </a:rPr>
              <a:t>残り2割＝士業・施設・M&amp;Aの裾野</a:t>
            </a:r>
            <a:endParaRPr lang="en-US" sz="1500" dirty="0"/>
          </a:p>
        </p:txBody>
      </p:sp>
      <p:sp>
        <p:nvSpPr>
          <p:cNvPr id="10" name="Text 7"/>
          <p:cNvSpPr txBox="1"/>
          <p:nvPr/>
        </p:nvSpPr>
        <p:spPr>
          <a:xfrm>
            <a:off x="7863840" y="4434840"/>
            <a:ext cx="3474720" cy="1463040"/>
          </a:xfrm>
          <a:prstGeom prst="rect">
            <a:avLst/>
          </a:prstGeom>
          <a:noFill/>
          <a:ln/>
        </p:spPr>
        <p:txBody>
          <a:bodyPr wrap="square" lIns="0" tIns="0" rIns="0" bIns="0" rtlCol="0" anchor="t"/>
          <a:lstStyle/>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税理士・司法書士・行政書士・弁護士＝合計7億円</a:t>
            </a:r>
            <a:endParaRPr lang="en-US" sz="1150" dirty="0"/>
          </a:p>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有料老人ホーム3億円、法人バルクM&amp;A5億円</a:t>
            </a:r>
            <a:endParaRPr lang="en-US" sz="1150" dirty="0"/>
          </a:p>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単発の大型案件だけでなく、裾野の広い専門家連携が常時発生している</a:t>
            </a:r>
            <a:endParaRPr lang="en-US" sz="1150" dirty="0"/>
          </a:p>
        </p:txBody>
      </p:sp>
      <p:sp>
        <p:nvSpPr>
          <p:cNvPr id="11" name="Text 8"/>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01 / NOVELTY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斬新性 ― 「hub」として経済圏を創るという発想</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斬</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相続コンサルタントが自社の商品を売るのではなく、金融・不動産・士業など周辺専門家の収益の「結節点（hub）」になるという発想そのものが、他に類を見ない（素材①）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厚生労働省が既に推進している公的な枠組み（ACP＝人生会議）を、自社の“フロントエンド”として活用するという発想の転換（素材②）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「財産ではなく、家族の抱える“隠れた課題”を見つけに行く」という視点を、育成カリキュラムとして体系化・教材化している（素材③）</a:t>
            </a:r>
            <a:endParaRPr lang="en-US" sz="1500" dirty="0"/>
          </a:p>
        </p:txBody>
      </p:sp>
      <p:sp>
        <p:nvSpPr>
          <p:cNvPr id="7" name="Shape 5"/>
          <p:cNvSpPr/>
          <p:nvPr/>
        </p:nvSpPr>
        <p:spPr>
          <a:xfrm>
            <a:off x="640080" y="4846320"/>
            <a:ext cx="10881360" cy="914400"/>
          </a:xfrm>
          <a:prstGeom prst="roundRect">
            <a:avLst>
              <a:gd name="adj" fmla="val 8000"/>
            </a:avLst>
          </a:prstGeom>
          <a:solidFill>
            <a:srgbClr val="1E3A5F"/>
          </a:solidFill>
          <a:ln/>
        </p:spPr>
      </p:sp>
      <p:sp>
        <p:nvSpPr>
          <p:cNvPr id="8" name="Text 6"/>
          <p:cNvSpPr txBox="1"/>
          <p:nvPr/>
        </p:nvSpPr>
        <p:spPr>
          <a:xfrm>
            <a:off x="914400" y="4846320"/>
            <a:ext cx="10332720" cy="914400"/>
          </a:xfrm>
          <a:prstGeom prst="rect">
            <a:avLst/>
          </a:prstGeom>
          <a:noFill/>
          <a:ln/>
        </p:spPr>
        <p:txBody>
          <a:bodyPr wrap="square" lIns="0" tIns="0" rIns="0" bIns="0" rtlCol="0" anchor="ctr"/>
          <a:lstStyle/>
          <a:p>
            <a:pPr algn="l" indent="0" marL="0">
              <a:buNone/>
            </a:pPr>
            <a:r>
              <a:rPr lang="en-US" sz="1700" b="1" dirty="0">
                <a:solidFill>
                  <a:srgbClr val="F1DCCF"/>
                </a:solidFill>
                <a:latin typeface="游ゴシック" pitchFamily="34" charset="0"/>
                <a:ea typeface="游ゴシック" pitchFamily="34" charset="-122"/>
                <a:cs typeface="游ゴシック" pitchFamily="34" charset="-120"/>
              </a:rPr>
              <a:t>「ノートを売る」会社ではなく、「専門家たちの収益の結節点になる」会社。</a:t>
            </a:r>
            <a:endParaRPr lang="en-US" sz="1700" dirty="0"/>
          </a:p>
        </p:txBody>
      </p:sp>
      <p:sp>
        <p:nvSpPr>
          <p:cNvPr id="9" name="Text 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02 / PROFITABILITY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収益性 ― 自社の売上ではなく、創出した経済圏で語る</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収</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自社単体の売上（約5,000万円）だけを見れば小さく映るが、hubとして周辺専門家にもたらした経済圏は約100億円</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信用金庫への新規資金導入 約7億円、法人バルクM&amp;A 2億円など、具体的な実例が裏付け（素材①）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「繋ぐグループ全体の売上」という表現は“事業間シナジー”の指標として使ってよいと事務局（加藤氏）からも確認済み</a:t>
            </a:r>
            <a:endParaRPr lang="en-US" sz="1500" dirty="0"/>
          </a:p>
        </p:txBody>
      </p:sp>
      <p:sp>
        <p:nvSpPr>
          <p:cNvPr id="7" name="Shape 5"/>
          <p:cNvSpPr/>
          <p:nvPr/>
        </p:nvSpPr>
        <p:spPr>
          <a:xfrm>
            <a:off x="640080" y="4572000"/>
            <a:ext cx="320040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777240" y="4754880"/>
            <a:ext cx="2926080" cy="640080"/>
          </a:xfrm>
          <a:prstGeom prst="rect">
            <a:avLst/>
          </a:prstGeom>
          <a:noFill/>
          <a:ln/>
        </p:spPr>
        <p:txBody>
          <a:bodyPr wrap="square" lIns="0" tIns="0" rIns="0" bIns="0" rtlCol="0" anchor="ctr"/>
          <a:lstStyle/>
          <a:p>
            <a:pPr algn="ctr" indent="0" marL="0">
              <a:buNone/>
            </a:pPr>
            <a:r>
              <a:rPr lang="en-US" sz="2400" b="1" dirty="0">
                <a:solidFill>
                  <a:srgbClr val="1E3A5F"/>
                </a:solidFill>
                <a:latin typeface="游ゴシック" pitchFamily="34" charset="0"/>
                <a:ea typeface="游ゴシック" pitchFamily="34" charset="-122"/>
                <a:cs typeface="游ゴシック" pitchFamily="34" charset="-120"/>
              </a:rPr>
              <a:t>5,000万円</a:t>
            </a:r>
            <a:endParaRPr lang="en-US" sz="2400" dirty="0"/>
          </a:p>
        </p:txBody>
      </p:sp>
      <p:sp>
        <p:nvSpPr>
          <p:cNvPr id="9" name="Text 7"/>
          <p:cNvSpPr txBox="1"/>
          <p:nvPr/>
        </p:nvSpPr>
        <p:spPr>
          <a:xfrm>
            <a:off x="777240" y="5440680"/>
            <a:ext cx="2926080" cy="411480"/>
          </a:xfrm>
          <a:prstGeom prst="rect">
            <a:avLst/>
          </a:prstGeom>
          <a:noFill/>
          <a:ln/>
        </p:spPr>
        <p:txBody>
          <a:bodyPr wrap="square" lIns="0" tIns="0" rIns="0" bIns="0" rtlCol="0" anchor="ctr"/>
          <a:lstStyle/>
          <a:p>
            <a:pPr algn="ctr" indent="0" marL="0">
              <a:buNone/>
            </a:pPr>
            <a:r>
              <a:rPr lang="en-US" sz="1250" dirty="0">
                <a:solidFill>
                  <a:srgbClr val="6B6B6B"/>
                </a:solidFill>
                <a:latin typeface="游ゴシック" pitchFamily="34" charset="0"/>
                <a:ea typeface="游ゴシック" pitchFamily="34" charset="-122"/>
                <a:cs typeface="游ゴシック" pitchFamily="34" charset="-120"/>
              </a:rPr>
              <a:t>自社単体</a:t>
            </a:r>
            <a:endParaRPr lang="en-US" sz="1250" dirty="0"/>
          </a:p>
        </p:txBody>
      </p:sp>
      <p:sp>
        <p:nvSpPr>
          <p:cNvPr id="10" name="Text 8"/>
          <p:cNvSpPr txBox="1"/>
          <p:nvPr/>
        </p:nvSpPr>
        <p:spPr>
          <a:xfrm>
            <a:off x="3858768" y="4983480"/>
            <a:ext cx="374904" cy="54864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1" name="Shape 9"/>
          <p:cNvSpPr/>
          <p:nvPr/>
        </p:nvSpPr>
        <p:spPr>
          <a:xfrm>
            <a:off x="4251960" y="4572000"/>
            <a:ext cx="320040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12" name="Text 10"/>
          <p:cNvSpPr txBox="1"/>
          <p:nvPr/>
        </p:nvSpPr>
        <p:spPr>
          <a:xfrm>
            <a:off x="4389120" y="4754880"/>
            <a:ext cx="2926080" cy="640080"/>
          </a:xfrm>
          <a:prstGeom prst="rect">
            <a:avLst/>
          </a:prstGeom>
          <a:noFill/>
          <a:ln/>
        </p:spPr>
        <p:txBody>
          <a:bodyPr wrap="square" lIns="0" tIns="0" rIns="0" bIns="0" rtlCol="0" anchor="ctr"/>
          <a:lstStyle/>
          <a:p>
            <a:pPr algn="ctr" indent="0" marL="0">
              <a:buNone/>
            </a:pPr>
            <a:r>
              <a:rPr lang="en-US" sz="2400" b="1" dirty="0">
                <a:solidFill>
                  <a:srgbClr val="1E3A5F"/>
                </a:solidFill>
                <a:latin typeface="游ゴシック" pitchFamily="34" charset="0"/>
                <a:ea typeface="游ゴシック" pitchFamily="34" charset="-122"/>
                <a:cs typeface="游ゴシック" pitchFamily="34" charset="-120"/>
              </a:rPr>
              <a:t>3億円規模</a:t>
            </a:r>
            <a:endParaRPr lang="en-US" sz="2400" dirty="0"/>
          </a:p>
        </p:txBody>
      </p:sp>
      <p:sp>
        <p:nvSpPr>
          <p:cNvPr id="13" name="Text 11"/>
          <p:cNvSpPr txBox="1"/>
          <p:nvPr/>
        </p:nvSpPr>
        <p:spPr>
          <a:xfrm>
            <a:off x="4389120" y="5440680"/>
            <a:ext cx="2926080" cy="411480"/>
          </a:xfrm>
          <a:prstGeom prst="rect">
            <a:avLst/>
          </a:prstGeom>
          <a:noFill/>
          <a:ln/>
        </p:spPr>
        <p:txBody>
          <a:bodyPr wrap="square" lIns="0" tIns="0" rIns="0" bIns="0" rtlCol="0" anchor="ctr"/>
          <a:lstStyle/>
          <a:p>
            <a:pPr algn="ctr" indent="0" marL="0">
              <a:buNone/>
            </a:pPr>
            <a:r>
              <a:rPr lang="en-US" sz="1250" dirty="0">
                <a:solidFill>
                  <a:srgbClr val="6B6B6B"/>
                </a:solidFill>
                <a:latin typeface="游ゴシック" pitchFamily="34" charset="0"/>
                <a:ea typeface="游ゴシック" pitchFamily="34" charset="-122"/>
                <a:cs typeface="游ゴシック" pitchFamily="34" charset="-120"/>
              </a:rPr>
              <a:t>グループ全体</a:t>
            </a:r>
            <a:endParaRPr lang="en-US" sz="1250" dirty="0"/>
          </a:p>
        </p:txBody>
      </p:sp>
      <p:sp>
        <p:nvSpPr>
          <p:cNvPr id="14" name="Text 12"/>
          <p:cNvSpPr txBox="1"/>
          <p:nvPr/>
        </p:nvSpPr>
        <p:spPr>
          <a:xfrm>
            <a:off x="7470648" y="4983480"/>
            <a:ext cx="374904" cy="54864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5" name="Shape 13"/>
          <p:cNvSpPr/>
          <p:nvPr/>
        </p:nvSpPr>
        <p:spPr>
          <a:xfrm>
            <a:off x="7863840" y="4572000"/>
            <a:ext cx="3200400" cy="1371600"/>
          </a:xfrm>
          <a:prstGeom prst="roundRect">
            <a:avLst>
              <a:gd name="adj" fmla="val 6667"/>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001000" y="4754880"/>
            <a:ext cx="2926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游ゴシック" pitchFamily="34" charset="0"/>
                <a:ea typeface="游ゴシック" pitchFamily="34" charset="-122"/>
                <a:cs typeface="游ゴシック" pitchFamily="34" charset="-120"/>
              </a:rPr>
              <a:t>約100億円</a:t>
            </a:r>
            <a:endParaRPr lang="en-US" sz="2400" dirty="0"/>
          </a:p>
        </p:txBody>
      </p:sp>
      <p:sp>
        <p:nvSpPr>
          <p:cNvPr id="17" name="Text 15"/>
          <p:cNvSpPr txBox="1"/>
          <p:nvPr/>
        </p:nvSpPr>
        <p:spPr>
          <a:xfrm>
            <a:off x="8001000" y="5440680"/>
            <a:ext cx="2926080" cy="411480"/>
          </a:xfrm>
          <a:prstGeom prst="rect">
            <a:avLst/>
          </a:prstGeom>
          <a:noFill/>
          <a:ln/>
        </p:spPr>
        <p:txBody>
          <a:bodyPr wrap="square" lIns="0" tIns="0" rIns="0" bIns="0" rtlCol="0" anchor="ctr"/>
          <a:lstStyle/>
          <a:p>
            <a:pPr algn="ctr" indent="0" marL="0">
              <a:buNone/>
            </a:pPr>
            <a:r>
              <a:rPr lang="en-US" sz="1250" dirty="0">
                <a:solidFill>
                  <a:srgbClr val="F1DCCF"/>
                </a:solidFill>
                <a:latin typeface="游ゴシック" pitchFamily="34" charset="0"/>
                <a:ea typeface="游ゴシック" pitchFamily="34" charset="-122"/>
                <a:cs typeface="游ゴシック" pitchFamily="34" charset="-120"/>
              </a:rPr>
              <a:t>周辺経済圏（hub）</a:t>
            </a:r>
            <a:endParaRPr lang="en-US" sz="1250" dirty="0"/>
          </a:p>
        </p:txBody>
      </p:sp>
      <p:sp>
        <p:nvSpPr>
          <p:cNvPr id="18" name="Text 16"/>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03 / GROWTH</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成長性 ― 二つのファネルが、経済圏をさらに広げる</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成</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顧客ファネル：ACP（人生会議）をフロントに据え、相続対策に着手する母数を構造的に拡大する仕組み（素材②）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人材ファネル：資格講座の卒業生が「講師デビュー」し、自ら次の集客・紹介導線を生み出す自己増殖構造（素材③）</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二つのファネルが重なり合うことで、約100億円の経済圏をさらに拡大し、3年後FC100事業所という成長サイクルへつながる</a:t>
            </a:r>
            <a:endParaRPr lang="en-US" sz="1500" dirty="0"/>
          </a:p>
        </p:txBody>
      </p:sp>
      <p:sp>
        <p:nvSpPr>
          <p:cNvPr id="7" name="Shape 5"/>
          <p:cNvSpPr/>
          <p:nvPr/>
        </p:nvSpPr>
        <p:spPr>
          <a:xfrm>
            <a:off x="640080" y="4754880"/>
            <a:ext cx="338328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868680" y="4956048"/>
            <a:ext cx="2926080" cy="41148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顧客ファネル</a:t>
            </a:r>
            <a:endParaRPr lang="en-US" sz="1600" dirty="0"/>
          </a:p>
        </p:txBody>
      </p:sp>
      <p:sp>
        <p:nvSpPr>
          <p:cNvPr id="9" name="Text 7"/>
          <p:cNvSpPr txBox="1"/>
          <p:nvPr/>
        </p:nvSpPr>
        <p:spPr>
          <a:xfrm>
            <a:off x="868680" y="5413248"/>
            <a:ext cx="2926080" cy="5943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ACP（人生会議）が入口</a:t>
            </a:r>
            <a:endParaRPr lang="en-US" sz="1250" dirty="0"/>
          </a:p>
        </p:txBody>
      </p:sp>
      <p:sp>
        <p:nvSpPr>
          <p:cNvPr id="10" name="Shape 8"/>
          <p:cNvSpPr/>
          <p:nvPr/>
        </p:nvSpPr>
        <p:spPr>
          <a:xfrm>
            <a:off x="4297680" y="4754880"/>
            <a:ext cx="338328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526280" y="4956048"/>
            <a:ext cx="2926080" cy="41148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人材ファネル</a:t>
            </a:r>
            <a:endParaRPr lang="en-US" sz="1600" dirty="0"/>
          </a:p>
        </p:txBody>
      </p:sp>
      <p:sp>
        <p:nvSpPr>
          <p:cNvPr id="12" name="Text 10"/>
          <p:cNvSpPr txBox="1"/>
          <p:nvPr/>
        </p:nvSpPr>
        <p:spPr>
          <a:xfrm>
            <a:off x="4526280" y="5413248"/>
            <a:ext cx="2926080" cy="5943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講師デビューが入口</a:t>
            </a:r>
            <a:endParaRPr lang="en-US" sz="1250" dirty="0"/>
          </a:p>
        </p:txBody>
      </p:sp>
      <p:sp>
        <p:nvSpPr>
          <p:cNvPr id="13" name="Text 11"/>
          <p:cNvSpPr txBox="1"/>
          <p:nvPr/>
        </p:nvSpPr>
        <p:spPr>
          <a:xfrm>
            <a:off x="4023360" y="5074920"/>
            <a:ext cx="274320" cy="73152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4" name="Text 12"/>
          <p:cNvSpPr txBox="1"/>
          <p:nvPr/>
        </p:nvSpPr>
        <p:spPr>
          <a:xfrm>
            <a:off x="7680960" y="5074920"/>
            <a:ext cx="548640" cy="731520"/>
          </a:xfrm>
          <a:prstGeom prst="rect">
            <a:avLst/>
          </a:prstGeom>
          <a:noFill/>
          <a:ln/>
        </p:spPr>
        <p:txBody>
          <a:bodyPr wrap="square" lIns="0" tIns="0" rIns="0" bIns="0" rtlCol="0" anchor="ctr"/>
          <a:lstStyle/>
          <a:p>
            <a:pPr algn="ctr" indent="0" marL="0">
              <a:buNone/>
            </a:pPr>
            <a:r>
              <a:rPr lang="en-US" sz="2400" b="1" dirty="0">
                <a:solidFill>
                  <a:srgbClr val="C9603F"/>
                </a:solidFill>
                <a:latin typeface="游ゴシック" pitchFamily="34" charset="0"/>
                <a:ea typeface="游ゴシック" pitchFamily="34" charset="-122"/>
                <a:cs typeface="游ゴシック" pitchFamily="34" charset="-120"/>
              </a:rPr>
              <a:t>→</a:t>
            </a:r>
            <a:endParaRPr lang="en-US" sz="2400" dirty="0"/>
          </a:p>
        </p:txBody>
      </p:sp>
      <p:sp>
        <p:nvSpPr>
          <p:cNvPr id="15" name="Shape 13"/>
          <p:cNvSpPr/>
          <p:nvPr/>
        </p:nvSpPr>
        <p:spPr>
          <a:xfrm>
            <a:off x="8229600" y="4754880"/>
            <a:ext cx="3322015" cy="1371600"/>
          </a:xfrm>
          <a:prstGeom prst="roundRect">
            <a:avLst>
              <a:gd name="adj" fmla="val 6667"/>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458200" y="4956048"/>
            <a:ext cx="3093415" cy="411480"/>
          </a:xfrm>
          <a:prstGeom prst="rect">
            <a:avLst/>
          </a:prstGeom>
          <a:noFill/>
          <a:ln/>
        </p:spPr>
        <p:txBody>
          <a:bodyPr wrap="square" lIns="0" tIns="0" rIns="0" bIns="0" rtlCol="0" anchor="ctr"/>
          <a:lstStyle/>
          <a:p>
            <a:pPr indent="0" marL="0">
              <a:buNone/>
            </a:pPr>
            <a:r>
              <a:rPr lang="en-US" sz="1550" b="1" dirty="0">
                <a:solidFill>
                  <a:srgbClr val="FFFFFF"/>
                </a:solidFill>
                <a:latin typeface="游ゴシック" pitchFamily="34" charset="0"/>
                <a:ea typeface="游ゴシック" pitchFamily="34" charset="-122"/>
                <a:cs typeface="游ゴシック" pitchFamily="34" charset="-120"/>
              </a:rPr>
              <a:t>経済圏100億円のさらなる拡大</a:t>
            </a:r>
            <a:endParaRPr lang="en-US" sz="1550" dirty="0"/>
          </a:p>
        </p:txBody>
      </p:sp>
      <p:sp>
        <p:nvSpPr>
          <p:cNvPr id="17" name="Text 15"/>
          <p:cNvSpPr txBox="1"/>
          <p:nvPr/>
        </p:nvSpPr>
        <p:spPr>
          <a:xfrm>
            <a:off x="8458200" y="5413248"/>
            <a:ext cx="3093415" cy="548640"/>
          </a:xfrm>
          <a:prstGeom prst="rect">
            <a:avLst/>
          </a:prstGeom>
          <a:noFill/>
          <a:ln/>
        </p:spPr>
        <p:txBody>
          <a:bodyPr wrap="square" lIns="0" tIns="0" rIns="0" bIns="0" rtlCol="0" anchor="t"/>
          <a:lstStyle/>
          <a:p>
            <a:pPr indent="0" marL="0">
              <a:buNone/>
            </a:pPr>
            <a:r>
              <a:rPr lang="en-US" sz="1300" dirty="0">
                <a:solidFill>
                  <a:srgbClr val="F1DCCF"/>
                </a:solidFill>
                <a:latin typeface="游ゴシック" pitchFamily="34" charset="0"/>
                <a:ea typeface="游ゴシック" pitchFamily="34" charset="-122"/>
                <a:cs typeface="游ゴシック" pitchFamily="34" charset="-120"/>
              </a:rPr>
              <a:t>→ 3年後 FC100事業所</a:t>
            </a:r>
            <a:endParaRPr lang="en-US" sz="1300" dirty="0"/>
          </a:p>
        </p:txBody>
      </p:sp>
      <p:sp>
        <p:nvSpPr>
          <p:cNvPr id="18" name="Text 16"/>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BEYOND THE AWARD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展望 ― 教育コンテンツ事業としての可能性</a:t>
            </a:r>
            <a:endParaRPr lang="en-US" sz="2700" dirty="0"/>
          </a:p>
        </p:txBody>
      </p:sp>
      <p:sp>
        <p:nvSpPr>
          <p:cNvPr id="4" name="Text 2"/>
          <p:cNvSpPr txBox="1"/>
          <p:nvPr/>
        </p:nvSpPr>
        <p:spPr>
          <a:xfrm>
            <a:off x="640080" y="1783080"/>
            <a:ext cx="10881360" cy="137160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450" dirty="0">
                <a:solidFill>
                  <a:srgbClr val="3A3A3A"/>
                </a:solidFill>
                <a:latin typeface="游ゴシック" pitchFamily="34" charset="0"/>
                <a:ea typeface="游ゴシック" pitchFamily="34" charset="-122"/>
                <a:cs typeface="游ゴシック" pitchFamily="34" charset="-120"/>
              </a:rPr>
              <a:t>大賞獲得を目指す先に、「繋ぐ相続サロン®」の人材育成メソッドそのものを、金融機関・不動産業界など相続ビジネスに関わるすべての専門家への教育コンテンツとして展開していく展望を持っている</a:t>
            </a:r>
            <a:endParaRPr lang="en-US" sz="1450" dirty="0"/>
          </a:p>
          <a:p>
            <a:pPr marL="342900" indent="-342900">
              <a:lnSpc>
                <a:spcPct val="128000"/>
              </a:lnSpc>
              <a:spcAft>
                <a:spcPts val="1200"/>
              </a:spcAft>
              <a:buSzPct val="100000"/>
              <a:buChar char="●"/>
            </a:pPr>
            <a:r>
              <a:rPr lang="en-US" sz="1450" dirty="0">
                <a:solidFill>
                  <a:srgbClr val="3A3A3A"/>
                </a:solidFill>
                <a:latin typeface="游ゴシック" pitchFamily="34" charset="0"/>
                <a:ea typeface="游ゴシック" pitchFamily="34" charset="-122"/>
                <a:cs typeface="游ゴシック" pitchFamily="34" charset="-120"/>
              </a:rPr>
              <a:t>これはアイデアではない。「エキスパートコース」全6回分のカリキュラム（素材③）として、既に体系化・顕在化された教材が存在する</a:t>
            </a:r>
            <a:endParaRPr lang="en-US" sz="1450" dirty="0"/>
          </a:p>
        </p:txBody>
      </p:sp>
      <p:sp>
        <p:nvSpPr>
          <p:cNvPr id="5" name="Shape 3"/>
          <p:cNvSpPr/>
          <p:nvPr/>
        </p:nvSpPr>
        <p:spPr>
          <a:xfrm>
            <a:off x="640080" y="3429000"/>
            <a:ext cx="2487168" cy="1874520"/>
          </a:xfrm>
          <a:prstGeom prst="roundRect">
            <a:avLst>
              <a:gd name="adj" fmla="val 4878"/>
            </a:avLst>
          </a:prstGeom>
          <a:solidFill>
            <a:srgbClr val="C9603F"/>
          </a:solidFill>
          <a:ln/>
          <a:effectLst>
            <a:outerShdw sx="100000" sy="100000" kx="0" ky="0" algn="bl" rotWithShape="0" blurRad="101600" dist="38100" dir="5400000">
              <a:srgbClr val="10233A">
                <a:alpha val="18000"/>
              </a:srgbClr>
            </a:outerShdw>
          </a:effectLst>
        </p:spPr>
      </p:sp>
      <p:sp>
        <p:nvSpPr>
          <p:cNvPr id="6" name="Text 4"/>
          <p:cNvSpPr txBox="1"/>
          <p:nvPr/>
        </p:nvSpPr>
        <p:spPr>
          <a:xfrm>
            <a:off x="804672" y="3593592"/>
            <a:ext cx="2157984" cy="274320"/>
          </a:xfrm>
          <a:prstGeom prst="rect">
            <a:avLst/>
          </a:prstGeom>
          <a:noFill/>
          <a:ln/>
        </p:spPr>
        <p:txBody>
          <a:bodyPr wrap="square" lIns="0" tIns="0" rIns="0" bIns="0" rtlCol="0" anchor="ctr"/>
          <a:lstStyle/>
          <a:p>
            <a:pPr indent="0" marL="0">
              <a:buNone/>
            </a:pPr>
            <a:r>
              <a:rPr lang="en-US" sz="1050" b="1" dirty="0">
                <a:solidFill>
                  <a:srgbClr val="F1DCCF"/>
                </a:solidFill>
                <a:latin typeface="游ゴシック" pitchFamily="34" charset="0"/>
                <a:ea typeface="游ゴシック" pitchFamily="34" charset="-122"/>
                <a:cs typeface="游ゴシック" pitchFamily="34" charset="-120"/>
              </a:rPr>
              <a:t>実績（現在）</a:t>
            </a:r>
            <a:endParaRPr lang="en-US" sz="1050" dirty="0"/>
          </a:p>
        </p:txBody>
      </p:sp>
      <p:sp>
        <p:nvSpPr>
          <p:cNvPr id="7" name="Text 5"/>
          <p:cNvSpPr txBox="1"/>
          <p:nvPr/>
        </p:nvSpPr>
        <p:spPr>
          <a:xfrm>
            <a:off x="804672" y="3886200"/>
            <a:ext cx="2157984" cy="594360"/>
          </a:xfrm>
          <a:prstGeom prst="rect">
            <a:avLst/>
          </a:prstGeom>
          <a:noFill/>
          <a:ln/>
        </p:spPr>
        <p:txBody>
          <a:bodyPr wrap="square" lIns="0" tIns="0" rIns="0" bIns="0" rtlCol="0" anchor="t"/>
          <a:lstStyle/>
          <a:p>
            <a:pPr indent="0" marL="0">
              <a:buNone/>
            </a:pPr>
            <a:r>
              <a:rPr lang="en-US" sz="1400" b="1" dirty="0">
                <a:solidFill>
                  <a:srgbClr val="FFFFFF"/>
                </a:solidFill>
                <a:latin typeface="游ゴシック" pitchFamily="34" charset="0"/>
                <a:ea typeface="游ゴシック" pitchFamily="34" charset="-122"/>
                <a:cs typeface="游ゴシック" pitchFamily="34" charset="-120"/>
              </a:rPr>
              <a:t>自社での育成</a:t>
            </a:r>
            <a:endParaRPr lang="en-US" sz="1400" dirty="0"/>
          </a:p>
        </p:txBody>
      </p:sp>
      <p:sp>
        <p:nvSpPr>
          <p:cNvPr id="8" name="Text 6"/>
          <p:cNvSpPr txBox="1"/>
          <p:nvPr/>
        </p:nvSpPr>
        <p:spPr>
          <a:xfrm>
            <a:off x="8046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F8E9DF"/>
                </a:solidFill>
                <a:latin typeface="游ゴシック" pitchFamily="34" charset="0"/>
                <a:ea typeface="游ゴシック" pitchFamily="34" charset="-122"/>
                <a:cs typeface="游ゴシック" pitchFamily="34" charset="-120"/>
              </a:rPr>
              <a:t>エキスパートコース全6回</a:t>
            </a:r>
            <a:endParaRPr lang="en-US" sz="1100" dirty="0"/>
          </a:p>
          <a:p>
            <a:pPr indent="0" marL="0">
              <a:lnSpc>
                <a:spcPct val="120000"/>
              </a:lnSpc>
              <a:buNone/>
            </a:pPr>
            <a:r>
              <a:rPr lang="en-US" sz="1100" dirty="0">
                <a:solidFill>
                  <a:srgbClr val="F8E9DF"/>
                </a:solidFill>
                <a:latin typeface="游ゴシック" pitchFamily="34" charset="0"/>
                <a:ea typeface="游ゴシック" pitchFamily="34" charset="-122"/>
                <a:cs typeface="游ゴシック" pitchFamily="34" charset="-120"/>
              </a:rPr>
              <a:t>資格者50名（2年）</a:t>
            </a:r>
            <a:endParaRPr lang="en-US" sz="1100" dirty="0"/>
          </a:p>
        </p:txBody>
      </p:sp>
      <p:sp>
        <p:nvSpPr>
          <p:cNvPr id="9" name="Text 7"/>
          <p:cNvSpPr txBox="1"/>
          <p:nvPr/>
        </p:nvSpPr>
        <p:spPr>
          <a:xfrm>
            <a:off x="31272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10" name="Shape 8"/>
          <p:cNvSpPr/>
          <p:nvPr/>
        </p:nvSpPr>
        <p:spPr>
          <a:xfrm>
            <a:off x="33832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35478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展望①</a:t>
            </a:r>
            <a:endParaRPr lang="en-US" sz="1050" dirty="0"/>
          </a:p>
        </p:txBody>
      </p:sp>
      <p:sp>
        <p:nvSpPr>
          <p:cNvPr id="12" name="Text 10"/>
          <p:cNvSpPr txBox="1"/>
          <p:nvPr/>
        </p:nvSpPr>
        <p:spPr>
          <a:xfrm>
            <a:off x="35478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金融機関への採用</a:t>
            </a:r>
            <a:endParaRPr lang="en-US" sz="1400" dirty="0"/>
          </a:p>
        </p:txBody>
      </p:sp>
      <p:sp>
        <p:nvSpPr>
          <p:cNvPr id="13" name="Text 11"/>
          <p:cNvSpPr txBox="1"/>
          <p:nvPr/>
        </p:nvSpPr>
        <p:spPr>
          <a:xfrm>
            <a:off x="35478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行員研修プログラム</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として導入</a:t>
            </a:r>
            <a:endParaRPr lang="en-US" sz="1100" dirty="0"/>
          </a:p>
        </p:txBody>
      </p:sp>
      <p:sp>
        <p:nvSpPr>
          <p:cNvPr id="14" name="Text 12"/>
          <p:cNvSpPr txBox="1"/>
          <p:nvPr/>
        </p:nvSpPr>
        <p:spPr>
          <a:xfrm>
            <a:off x="58704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15" name="Shape 13"/>
          <p:cNvSpPr/>
          <p:nvPr/>
        </p:nvSpPr>
        <p:spPr>
          <a:xfrm>
            <a:off x="61264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62910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展望②</a:t>
            </a:r>
            <a:endParaRPr lang="en-US" sz="1050" dirty="0"/>
          </a:p>
        </p:txBody>
      </p:sp>
      <p:sp>
        <p:nvSpPr>
          <p:cNvPr id="17" name="Text 15"/>
          <p:cNvSpPr txBox="1"/>
          <p:nvPr/>
        </p:nvSpPr>
        <p:spPr>
          <a:xfrm>
            <a:off x="62910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不動産・士業への展開</a:t>
            </a:r>
            <a:endParaRPr lang="en-US" sz="1400" dirty="0"/>
          </a:p>
        </p:txBody>
      </p:sp>
      <p:sp>
        <p:nvSpPr>
          <p:cNvPr id="18" name="Text 16"/>
          <p:cNvSpPr txBox="1"/>
          <p:nvPr/>
        </p:nvSpPr>
        <p:spPr>
          <a:xfrm>
            <a:off x="62910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業界横断の</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標準研修へ</a:t>
            </a:r>
            <a:endParaRPr lang="en-US" sz="1100" dirty="0"/>
          </a:p>
        </p:txBody>
      </p:sp>
      <p:sp>
        <p:nvSpPr>
          <p:cNvPr id="19" name="Text 17"/>
          <p:cNvSpPr txBox="1"/>
          <p:nvPr/>
        </p:nvSpPr>
        <p:spPr>
          <a:xfrm>
            <a:off x="86136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20" name="Shape 18"/>
          <p:cNvSpPr/>
          <p:nvPr/>
        </p:nvSpPr>
        <p:spPr>
          <a:xfrm>
            <a:off x="88696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21" name="Text 19"/>
          <p:cNvSpPr txBox="1"/>
          <p:nvPr/>
        </p:nvSpPr>
        <p:spPr>
          <a:xfrm>
            <a:off x="90342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展望③</a:t>
            </a:r>
            <a:endParaRPr lang="en-US" sz="1050" dirty="0"/>
          </a:p>
        </p:txBody>
      </p:sp>
      <p:sp>
        <p:nvSpPr>
          <p:cNvPr id="22" name="Text 20"/>
          <p:cNvSpPr txBox="1"/>
          <p:nvPr/>
        </p:nvSpPr>
        <p:spPr>
          <a:xfrm>
            <a:off x="90342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全国教育インフラ化</a:t>
            </a:r>
            <a:endParaRPr lang="en-US" sz="1400" dirty="0"/>
          </a:p>
        </p:txBody>
      </p:sp>
      <p:sp>
        <p:nvSpPr>
          <p:cNvPr id="23" name="Text 21"/>
          <p:cNvSpPr txBox="1"/>
          <p:nvPr/>
        </p:nvSpPr>
        <p:spPr>
          <a:xfrm>
            <a:off x="90342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「生きる準備」を教える人</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を全国に輩出</a:t>
            </a:r>
            <a:endParaRPr lang="en-US" sz="1100" dirty="0"/>
          </a:p>
        </p:txBody>
      </p:sp>
      <p:sp>
        <p:nvSpPr>
          <p:cNvPr id="24" name="Text 22"/>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300" i="1" dirty="0">
                <a:solidFill>
                  <a:srgbClr val="6B6B6B"/>
                </a:solidFill>
                <a:latin typeface="游ゴシック" pitchFamily="34" charset="0"/>
                <a:ea typeface="游ゴシック" pitchFamily="34" charset="-122"/>
                <a:cs typeface="游ゴシック" pitchFamily="34" charset="-120"/>
              </a:rPr>
              <a:t>「教育コンテンツ」という形のある資産が、相続コンサルティングの提供だけでなく、採用・ライセンスという新しい収益源になりうる。</a:t>
            </a:r>
            <a:endParaRPr lang="en-US" sz="1300" dirty="0"/>
          </a:p>
        </p:txBody>
      </p:sp>
      <p:sp>
        <p:nvSpPr>
          <p:cNvPr id="25" name="Text 2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04 / MARKET</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市場性 ― 「財産がある人」から、全世代・全業種へ</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市</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直接のターゲット：資産5億円〜10億円超の富裕層・超富裕層（素材①）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ACPを入口にすることで、財産の有無に関わらず誰もがターゲットになる市場へ構造的に拡大（素材②）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周辺専門家（税理士・司法書士・行政書士・弁護士・不動産・金融・有料老人ホーム・M&amp;A）を含めれば、市場は相続業界単体にとどまらない</a:t>
            </a:r>
            <a:endParaRPr lang="en-US" sz="1500" dirty="0"/>
          </a:p>
        </p:txBody>
      </p:sp>
      <p:sp>
        <p:nvSpPr>
          <p:cNvPr id="7" name="Shape 5"/>
          <p:cNvSpPr/>
          <p:nvPr/>
        </p:nvSpPr>
        <p:spPr>
          <a:xfrm>
            <a:off x="64008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77724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50事業所</a:t>
            </a:r>
            <a:endParaRPr lang="en-US" sz="2200" dirty="0"/>
          </a:p>
        </p:txBody>
      </p:sp>
      <p:sp>
        <p:nvSpPr>
          <p:cNvPr id="9" name="Text 7"/>
          <p:cNvSpPr txBox="1"/>
          <p:nvPr/>
        </p:nvSpPr>
        <p:spPr>
          <a:xfrm>
            <a:off x="73152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全国の拠点数</a:t>
            </a:r>
            <a:endParaRPr lang="en-US" sz="1100" dirty="0"/>
          </a:p>
        </p:txBody>
      </p:sp>
      <p:sp>
        <p:nvSpPr>
          <p:cNvPr id="10" name="Shape 8"/>
          <p:cNvSpPr/>
          <p:nvPr/>
        </p:nvSpPr>
        <p:spPr>
          <a:xfrm>
            <a:off x="425196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38912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資産5〜10億円超</a:t>
            </a:r>
            <a:endParaRPr lang="en-US" sz="2200" dirty="0"/>
          </a:p>
        </p:txBody>
      </p:sp>
      <p:sp>
        <p:nvSpPr>
          <p:cNvPr id="12" name="Text 10"/>
          <p:cNvSpPr txBox="1"/>
          <p:nvPr/>
        </p:nvSpPr>
        <p:spPr>
          <a:xfrm>
            <a:off x="434340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直接の顧客層</a:t>
            </a:r>
            <a:endParaRPr lang="en-US" sz="1100" dirty="0"/>
          </a:p>
        </p:txBody>
      </p:sp>
      <p:sp>
        <p:nvSpPr>
          <p:cNvPr id="13" name="Shape 11"/>
          <p:cNvSpPr/>
          <p:nvPr/>
        </p:nvSpPr>
        <p:spPr>
          <a:xfrm>
            <a:off x="786384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14" name="Text 12"/>
          <p:cNvSpPr txBox="1"/>
          <p:nvPr/>
        </p:nvSpPr>
        <p:spPr>
          <a:xfrm>
            <a:off x="800100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約100億円</a:t>
            </a:r>
            <a:endParaRPr lang="en-US" sz="2200" dirty="0"/>
          </a:p>
        </p:txBody>
      </p:sp>
      <p:sp>
        <p:nvSpPr>
          <p:cNvPr id="15" name="Text 13"/>
          <p:cNvSpPr txBox="1"/>
          <p:nvPr/>
        </p:nvSpPr>
        <p:spPr>
          <a:xfrm>
            <a:off x="795528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周辺経済圏</a:t>
            </a:r>
            <a:endParaRPr lang="en-US" sz="1100" dirty="0"/>
          </a:p>
        </p:txBody>
      </p:sp>
      <p:sp>
        <p:nvSpPr>
          <p:cNvPr id="16" name="Text 14"/>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05 / ADVANTAGE</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優位性 ― 「バッジのない」からこそ生まれた協業モデル</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優</a:t>
            </a:r>
            <a:endParaRPr lang="en-US" sz="2880" dirty="0"/>
          </a:p>
        </p:txBody>
      </p:sp>
      <p:sp>
        <p:nvSpPr>
          <p:cNvPr id="6" name="Shape 4"/>
          <p:cNvSpPr/>
          <p:nvPr/>
        </p:nvSpPr>
        <p:spPr>
          <a:xfrm>
            <a:off x="640080" y="1783080"/>
            <a:ext cx="10881360" cy="822960"/>
          </a:xfrm>
          <a:prstGeom prst="roundRect">
            <a:avLst>
              <a:gd name="adj" fmla="val 8889"/>
            </a:avLst>
          </a:prstGeom>
          <a:solidFill>
            <a:srgbClr val="1E3A5F"/>
          </a:solidFill>
          <a:ln/>
        </p:spPr>
      </p:sp>
      <p:sp>
        <p:nvSpPr>
          <p:cNvPr id="7" name="Text 5"/>
          <p:cNvSpPr txBox="1"/>
          <p:nvPr/>
        </p:nvSpPr>
        <p:spPr>
          <a:xfrm>
            <a:off x="914400" y="1783080"/>
            <a:ext cx="10332720" cy="822960"/>
          </a:xfrm>
          <a:prstGeom prst="rect">
            <a:avLst/>
          </a:prstGeom>
          <a:noFill/>
          <a:ln/>
        </p:spPr>
        <p:txBody>
          <a:bodyPr wrap="square" lIns="0" tIns="0" rIns="0" bIns="0" rtlCol="0" anchor="ctr"/>
          <a:lstStyle/>
          <a:p>
            <a:pPr algn="l" indent="0" marL="0">
              <a:buNone/>
            </a:pPr>
            <a:r>
              <a:rPr lang="en-US" sz="1450" i="1" dirty="0">
                <a:solidFill>
                  <a:srgbClr val="F1DCCF"/>
                </a:solidFill>
                <a:latin typeface="游ゴシック" pitchFamily="34" charset="0"/>
                <a:ea typeface="游ゴシック" pitchFamily="34" charset="-122"/>
                <a:cs typeface="游ゴシック" pitchFamily="34" charset="-120"/>
              </a:rPr>
              <a:t>『バッジのない、コンサルタントに、相続ビジネスの何ができるのか？』―起業当初、ある士業の先生に言われた言葉</a:t>
            </a:r>
            <a:endParaRPr lang="en-US" sz="1450" dirty="0"/>
          </a:p>
        </p:txBody>
      </p:sp>
      <p:sp>
        <p:nvSpPr>
          <p:cNvPr id="8" name="Text 6"/>
          <p:cNvSpPr txBox="1"/>
          <p:nvPr/>
        </p:nvSpPr>
        <p:spPr>
          <a:xfrm>
            <a:off x="640080" y="2834640"/>
            <a:ext cx="10881360" cy="315468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その後、「士業の先生が私に足を向けて寝れないくらい」仕事を生み出し続け、自分の収益だけを追わない「本当の協業スタイル」を確立（素材①）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この協業の仕組みを、第3回（紹介構造）・第4回（“人生の指揮官”モデル）のカリキュラムとして教材化し、再現可能な技術にしている（素材③）</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「財産に着目する」のではなく「家族の隠れた課題を見つけに行く」という視点そのものが、他の相続コンサル・士業・金融機関にはない方法論的な差別化</a:t>
            </a:r>
            <a:endParaRPr lang="en-US" sz="1500" dirty="0"/>
          </a:p>
        </p:txBody>
      </p:sp>
      <p:sp>
        <p:nvSpPr>
          <p:cNvPr id="9" name="Text 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06 / CONTRIBUTION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貢献性 ― 100億円の中身は、関わった全員への貢献</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貢</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末端の顧客（本人・家族）：財産ではなく「対話」による安心と幸福度の向上（終活×幸福度の各種調査）</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周辺専門家（税理士・弁護士・不動産・金融等）：新たな受任機会・収益機会の創出（素材①）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企業：福利厚生導入を通じ「従業員を大切にする法人」への進化を支援</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行政・地域：朝来市 → 岸和田市など、一つの街で実証した連携モデルの横展開</a:t>
            </a:r>
            <a:endParaRPr lang="en-US" sz="1500" dirty="0"/>
          </a:p>
        </p:txBody>
      </p:sp>
      <p:sp>
        <p:nvSpPr>
          <p:cNvPr id="7" name="Shape 5"/>
          <p:cNvSpPr/>
          <p:nvPr/>
        </p:nvSpPr>
        <p:spPr>
          <a:xfrm>
            <a:off x="6400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8229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顧客</a:t>
            </a:r>
            <a:endParaRPr lang="en-US" sz="1500" dirty="0"/>
          </a:p>
        </p:txBody>
      </p:sp>
      <p:sp>
        <p:nvSpPr>
          <p:cNvPr id="9" name="Text 7"/>
          <p:cNvSpPr txBox="1"/>
          <p:nvPr/>
        </p:nvSpPr>
        <p:spPr>
          <a:xfrm>
            <a:off x="8229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対話による安心</a:t>
            </a:r>
            <a:endParaRPr lang="en-US" sz="1150" dirty="0"/>
          </a:p>
        </p:txBody>
      </p:sp>
      <p:sp>
        <p:nvSpPr>
          <p:cNvPr id="10" name="Shape 8"/>
          <p:cNvSpPr/>
          <p:nvPr/>
        </p:nvSpPr>
        <p:spPr>
          <a:xfrm>
            <a:off x="33832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35661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専門家</a:t>
            </a:r>
            <a:endParaRPr lang="en-US" sz="1500" dirty="0"/>
          </a:p>
        </p:txBody>
      </p:sp>
      <p:sp>
        <p:nvSpPr>
          <p:cNvPr id="12" name="Text 10"/>
          <p:cNvSpPr txBox="1"/>
          <p:nvPr/>
        </p:nvSpPr>
        <p:spPr>
          <a:xfrm>
            <a:off x="35661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新たな受任機会</a:t>
            </a:r>
            <a:endParaRPr lang="en-US" sz="1150" dirty="0"/>
          </a:p>
        </p:txBody>
      </p:sp>
      <p:sp>
        <p:nvSpPr>
          <p:cNvPr id="13" name="Shape 11"/>
          <p:cNvSpPr/>
          <p:nvPr/>
        </p:nvSpPr>
        <p:spPr>
          <a:xfrm>
            <a:off x="61264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4" name="Text 12"/>
          <p:cNvSpPr txBox="1"/>
          <p:nvPr/>
        </p:nvSpPr>
        <p:spPr>
          <a:xfrm>
            <a:off x="63093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企業</a:t>
            </a:r>
            <a:endParaRPr lang="en-US" sz="1500" dirty="0"/>
          </a:p>
        </p:txBody>
      </p:sp>
      <p:sp>
        <p:nvSpPr>
          <p:cNvPr id="15" name="Text 13"/>
          <p:cNvSpPr txBox="1"/>
          <p:nvPr/>
        </p:nvSpPr>
        <p:spPr>
          <a:xfrm>
            <a:off x="63093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従業員を大切にする法人へ</a:t>
            </a:r>
            <a:endParaRPr lang="en-US" sz="1150" dirty="0"/>
          </a:p>
        </p:txBody>
      </p:sp>
      <p:sp>
        <p:nvSpPr>
          <p:cNvPr id="16" name="Shape 14"/>
          <p:cNvSpPr/>
          <p:nvPr/>
        </p:nvSpPr>
        <p:spPr>
          <a:xfrm>
            <a:off x="88696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7" name="Text 15"/>
          <p:cNvSpPr txBox="1"/>
          <p:nvPr/>
        </p:nvSpPr>
        <p:spPr>
          <a:xfrm>
            <a:off x="90525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行政・地域</a:t>
            </a:r>
            <a:endParaRPr lang="en-US" sz="1500" dirty="0"/>
          </a:p>
        </p:txBody>
      </p:sp>
      <p:sp>
        <p:nvSpPr>
          <p:cNvPr id="18" name="Text 16"/>
          <p:cNvSpPr txBox="1"/>
          <p:nvPr/>
        </p:nvSpPr>
        <p:spPr>
          <a:xfrm>
            <a:off x="90525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連携モデルの横展開</a:t>
            </a:r>
            <a:endParaRPr lang="en-US" sz="1150" dirty="0"/>
          </a:p>
        </p:txBody>
      </p:sp>
      <p:sp>
        <p:nvSpPr>
          <p:cNvPr id="19" name="Text 1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Shape 0"/>
          <p:cNvSpPr/>
          <p:nvPr/>
        </p:nvSpPr>
        <p:spPr>
          <a:xfrm>
            <a:off x="-1828800" y="-2286000"/>
            <a:ext cx="5486400" cy="5486400"/>
          </a:xfrm>
          <a:prstGeom prst="ellipse">
            <a:avLst/>
          </a:prstGeom>
          <a:solidFill>
            <a:srgbClr val="C9603F">
              <a:alpha val="12000"/>
            </a:srgbClr>
          </a:solidFill>
          <a:ln/>
        </p:spPr>
      </p:sp>
      <p:sp>
        <p:nvSpPr>
          <p:cNvPr id="3" name="Text 1"/>
          <p:cNvSpPr txBox="1"/>
          <p:nvPr/>
        </p:nvSpPr>
        <p:spPr>
          <a:xfrm>
            <a:off x="822960" y="548640"/>
            <a:ext cx="9144000" cy="365760"/>
          </a:xfrm>
          <a:prstGeom prst="rect">
            <a:avLst/>
          </a:prstGeom>
          <a:noFill/>
          <a:ln/>
        </p:spPr>
        <p:txBody>
          <a:bodyPr wrap="square" lIns="0" tIns="0" rIns="0" bIns="0" rtlCol="0" anchor="ctr"/>
          <a:lstStyle/>
          <a:p>
            <a:pPr indent="0" marL="0">
              <a:buNone/>
            </a:pPr>
            <a:r>
              <a:rPr lang="en-US" sz="1300" b="1" spc="100" kern="0" dirty="0">
                <a:solidFill>
                  <a:srgbClr val="F1DCCF"/>
                </a:solidFill>
                <a:latin typeface="游ゴシック" pitchFamily="34" charset="0"/>
                <a:ea typeface="游ゴシック" pitchFamily="34" charset="-122"/>
                <a:cs typeface="游ゴシック" pitchFamily="34" charset="-120"/>
              </a:rPr>
              <a:t>SUMMARY</a:t>
            </a:r>
            <a:endParaRPr lang="en-US" sz="1300" dirty="0"/>
          </a:p>
        </p:txBody>
      </p:sp>
      <p:sp>
        <p:nvSpPr>
          <p:cNvPr id="4" name="Text 2"/>
          <p:cNvSpPr txBox="1"/>
          <p:nvPr/>
        </p:nvSpPr>
        <p:spPr>
          <a:xfrm>
            <a:off x="822960" y="868680"/>
            <a:ext cx="10515600" cy="731520"/>
          </a:xfrm>
          <a:prstGeom prst="rect">
            <a:avLst/>
          </a:prstGeom>
          <a:noFill/>
          <a:ln/>
        </p:spPr>
        <p:txBody>
          <a:bodyPr wrap="square" lIns="0" tIns="0" rIns="0" bIns="0" rtlCol="0" anchor="ctr"/>
          <a:lstStyle/>
          <a:p>
            <a:pPr indent="0" marL="0">
              <a:buNone/>
            </a:pPr>
            <a:r>
              <a:rPr lang="en-US" sz="2800" b="1" dirty="0">
                <a:solidFill>
                  <a:srgbClr val="FFFFFF"/>
                </a:solidFill>
                <a:latin typeface="游ゴシック" pitchFamily="34" charset="0"/>
                <a:ea typeface="游ゴシック" pitchFamily="34" charset="-122"/>
                <a:cs typeface="游ゴシック" pitchFamily="34" charset="-120"/>
              </a:rPr>
              <a:t>「実績」から「展望」へ ― 2段構成のストーリー</a:t>
            </a:r>
            <a:endParaRPr lang="en-US" sz="2800" dirty="0"/>
          </a:p>
        </p:txBody>
      </p:sp>
      <p:sp>
        <p:nvSpPr>
          <p:cNvPr id="5" name="Shape 3"/>
          <p:cNvSpPr/>
          <p:nvPr/>
        </p:nvSpPr>
        <p:spPr>
          <a:xfrm>
            <a:off x="822960" y="1783080"/>
            <a:ext cx="5120640" cy="1737360"/>
          </a:xfrm>
          <a:prstGeom prst="roundRect">
            <a:avLst>
              <a:gd name="adj" fmla="val 5263"/>
            </a:avLst>
          </a:prstGeom>
          <a:solidFill>
            <a:srgbClr val="C9603F"/>
          </a:solidFill>
          <a:ln/>
        </p:spPr>
      </p:sp>
      <p:sp>
        <p:nvSpPr>
          <p:cNvPr id="6" name="Text 4"/>
          <p:cNvSpPr txBox="1"/>
          <p:nvPr/>
        </p:nvSpPr>
        <p:spPr>
          <a:xfrm>
            <a:off x="1051560" y="1965960"/>
            <a:ext cx="4663440" cy="365760"/>
          </a:xfrm>
          <a:prstGeom prst="rect">
            <a:avLst/>
          </a:prstGeom>
          <a:noFill/>
          <a:ln/>
        </p:spPr>
        <p:txBody>
          <a:bodyPr wrap="square" lIns="0" tIns="0" rIns="0" bIns="0" rtlCol="0" anchor="ctr"/>
          <a:lstStyle/>
          <a:p>
            <a:pPr indent="0" marL="0">
              <a:buNone/>
            </a:pPr>
            <a:r>
              <a:rPr lang="en-US" sz="1300" b="1" dirty="0">
                <a:solidFill>
                  <a:srgbClr val="F1DCCF"/>
                </a:solidFill>
                <a:latin typeface="游ゴシック" pitchFamily="34" charset="0"/>
                <a:ea typeface="游ゴシック" pitchFamily="34" charset="-122"/>
                <a:cs typeface="游ゴシック" pitchFamily="34" charset="-120"/>
              </a:rPr>
              <a:t>STAGE 1　実績（過去〜現在）</a:t>
            </a:r>
            <a:endParaRPr lang="en-US" sz="1300" dirty="0"/>
          </a:p>
        </p:txBody>
      </p:sp>
      <p:sp>
        <p:nvSpPr>
          <p:cNvPr id="7" name="Text 5"/>
          <p:cNvSpPr txBox="1"/>
          <p:nvPr/>
        </p:nvSpPr>
        <p:spPr>
          <a:xfrm>
            <a:off x="1051560" y="2331720"/>
            <a:ext cx="4663440" cy="1005840"/>
          </a:xfrm>
          <a:prstGeom prst="rect">
            <a:avLst/>
          </a:prstGeom>
          <a:noFill/>
          <a:ln/>
        </p:spPr>
        <p:txBody>
          <a:bodyPr wrap="square" lIns="0" tIns="0" rIns="0" bIns="0" rtlCol="0" anchor="t"/>
          <a:lstStyle/>
          <a:p>
            <a:pPr indent="0" marL="0">
              <a:buNone/>
            </a:pPr>
            <a:r>
              <a:rPr lang="en-US" sz="1700" b="1" dirty="0">
                <a:solidFill>
                  <a:srgbClr val="FFFFFF"/>
                </a:solidFill>
                <a:latin typeface="游ゴシック" pitchFamily="34" charset="0"/>
                <a:ea typeface="游ゴシック" pitchFamily="34" charset="-122"/>
                <a:cs typeface="游ゴシック" pitchFamily="34" charset="-120"/>
              </a:rPr>
              <a:t>hubとして3年間で創出した経済圏＝約100億円</a:t>
            </a:r>
            <a:endParaRPr lang="en-US" sz="1700" dirty="0"/>
          </a:p>
        </p:txBody>
      </p:sp>
      <p:sp>
        <p:nvSpPr>
          <p:cNvPr id="8" name="Shape 6"/>
          <p:cNvSpPr/>
          <p:nvPr/>
        </p:nvSpPr>
        <p:spPr>
          <a:xfrm>
            <a:off x="6217920" y="1783080"/>
            <a:ext cx="5120640" cy="1737360"/>
          </a:xfrm>
          <a:prstGeom prst="roundRect">
            <a:avLst>
              <a:gd name="adj" fmla="val 5263"/>
            </a:avLst>
          </a:prstGeom>
          <a:solidFill>
            <a:srgbClr val="2A4A6E"/>
          </a:solidFill>
          <a:ln/>
        </p:spPr>
      </p:sp>
      <p:sp>
        <p:nvSpPr>
          <p:cNvPr id="9" name="Text 7"/>
          <p:cNvSpPr txBox="1"/>
          <p:nvPr/>
        </p:nvSpPr>
        <p:spPr>
          <a:xfrm>
            <a:off x="6446520" y="1965960"/>
            <a:ext cx="4663440" cy="365760"/>
          </a:xfrm>
          <a:prstGeom prst="rect">
            <a:avLst/>
          </a:prstGeom>
          <a:noFill/>
          <a:ln/>
        </p:spPr>
        <p:txBody>
          <a:bodyPr wrap="square" lIns="0" tIns="0" rIns="0" bIns="0" rtlCol="0" anchor="ctr"/>
          <a:lstStyle/>
          <a:p>
            <a:pPr indent="0" marL="0">
              <a:buNone/>
            </a:pPr>
            <a:r>
              <a:rPr lang="en-US" sz="1300" b="1" dirty="0">
                <a:solidFill>
                  <a:srgbClr val="F1DCCF"/>
                </a:solidFill>
                <a:latin typeface="游ゴシック" pitchFamily="34" charset="0"/>
                <a:ea typeface="游ゴシック" pitchFamily="34" charset="-122"/>
                <a:cs typeface="游ゴシック" pitchFamily="34" charset="-120"/>
              </a:rPr>
              <a:t>STAGE 2　展望（未来）</a:t>
            </a:r>
            <a:endParaRPr lang="en-US" sz="1300" dirty="0"/>
          </a:p>
        </p:txBody>
      </p:sp>
      <p:sp>
        <p:nvSpPr>
          <p:cNvPr id="10" name="Text 8"/>
          <p:cNvSpPr txBox="1"/>
          <p:nvPr/>
        </p:nvSpPr>
        <p:spPr>
          <a:xfrm>
            <a:off x="6446520" y="2331720"/>
            <a:ext cx="4663440" cy="1005840"/>
          </a:xfrm>
          <a:prstGeom prst="rect">
            <a:avLst/>
          </a:prstGeom>
          <a:noFill/>
          <a:ln/>
        </p:spPr>
        <p:txBody>
          <a:bodyPr wrap="square" lIns="0" tIns="0" rIns="0" bIns="0" rtlCol="0" anchor="t"/>
          <a:lstStyle/>
          <a:p>
            <a:pPr indent="0" marL="0">
              <a:buNone/>
            </a:pPr>
            <a:r>
              <a:rPr lang="en-US" sz="1550" b="1" dirty="0">
                <a:solidFill>
                  <a:srgbClr val="FFFFFF"/>
                </a:solidFill>
                <a:latin typeface="游ゴシック" pitchFamily="34" charset="0"/>
                <a:ea typeface="游ゴシック" pitchFamily="34" charset="-122"/>
                <a:cs typeface="游ゴシック" pitchFamily="34" charset="-120"/>
              </a:rPr>
              <a:t>二つのファネル（顧客・人材）でFC100事業所へ拡大 ＋ 教育コンテンツの金融機関等への採用展開</a:t>
            </a:r>
            <a:endParaRPr lang="en-US" sz="1550" dirty="0"/>
          </a:p>
        </p:txBody>
      </p:sp>
      <p:sp>
        <p:nvSpPr>
          <p:cNvPr id="11" name="Text 9"/>
          <p:cNvSpPr txBox="1"/>
          <p:nvPr/>
        </p:nvSpPr>
        <p:spPr>
          <a:xfrm>
            <a:off x="822960" y="3794760"/>
            <a:ext cx="7315200" cy="365760"/>
          </a:xfrm>
          <a:prstGeom prst="rect">
            <a:avLst/>
          </a:prstGeom>
          <a:noFill/>
          <a:ln/>
        </p:spPr>
        <p:txBody>
          <a:bodyPr wrap="square" lIns="0" tIns="0" rIns="0" bIns="0" rtlCol="0" anchor="ctr"/>
          <a:lstStyle/>
          <a:p>
            <a:pPr indent="0" marL="0">
              <a:buNone/>
            </a:pPr>
            <a:r>
              <a:rPr lang="en-US" sz="1500" b="1" dirty="0">
                <a:solidFill>
                  <a:srgbClr val="F1DCCF"/>
                </a:solidFill>
                <a:latin typeface="游ゴシック" pitchFamily="34" charset="0"/>
                <a:ea typeface="游ゴシック" pitchFamily="34" charset="-122"/>
                <a:cs typeface="游ゴシック" pitchFamily="34" charset="-120"/>
              </a:rPr>
              <a:t>7分間プレゼン構成イメージ（たたき台）</a:t>
            </a:r>
            <a:endParaRPr lang="en-US" sz="1500" dirty="0"/>
          </a:p>
        </p:txBody>
      </p:sp>
      <p:sp>
        <p:nvSpPr>
          <p:cNvPr id="12" name="Text 10"/>
          <p:cNvSpPr txBox="1"/>
          <p:nvPr/>
        </p:nvSpPr>
        <p:spPr>
          <a:xfrm>
            <a:off x="822960" y="4206240"/>
            <a:ext cx="10058400" cy="2286000"/>
          </a:xfrm>
          <a:prstGeom prst="rect">
            <a:avLst/>
          </a:prstGeom>
          <a:noFill/>
          <a:ln/>
        </p:spPr>
        <p:txBody>
          <a:bodyPr wrap="square" lIns="0" tIns="0" rIns="0" bIns="0" rtlCol="0" anchor="t"/>
          <a:lstStyle/>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① 課題提起 ― 相続ビジネスのレッドオーシャン化と「財産がある人だけのカルチャー」の限界</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② 新・相続ビジネス ― 財産から人生へ。“心置きなく生ききる人生のプロデュース”とフロント比較（ブルーオーシャンの所在）</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③ 実績 ― hub理論に基づく約100億円の経済圏（内訳と象徴エピソード）</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④ 優位性・貢献性 ― 「隠れた課題」を見つける協業モデル</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⑤ 成長性・市場性 ― 二つのファネルとFC100事業所、教育コンテンツの金融機関等への採用展開</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⑥ 展望・締め ― 心置きなく生ききる社会へ</a:t>
            </a:r>
            <a:endParaRPr lang="en-US" sz="1300" dirty="0"/>
          </a:p>
        </p:txBody>
      </p:sp>
      <p:sp>
        <p:nvSpPr>
          <p:cNvPr id="13" name="Text 11"/>
          <p:cNvSpPr txBox="1"/>
          <p:nvPr/>
        </p:nvSpPr>
        <p:spPr>
          <a:xfrm>
            <a:off x="822960" y="6446520"/>
            <a:ext cx="10058400" cy="320040"/>
          </a:xfrm>
          <a:prstGeom prst="rect">
            <a:avLst/>
          </a:prstGeom>
          <a:noFill/>
          <a:ln/>
        </p:spPr>
        <p:txBody>
          <a:bodyPr wrap="square" lIns="0" tIns="0" rIns="0" bIns="0" rtlCol="0" anchor="ctr"/>
          <a:lstStyle/>
          <a:p>
            <a:pPr indent="0" marL="0">
              <a:buNone/>
            </a:pPr>
            <a:r>
              <a:rPr lang="en-US" sz="1100" i="1" dirty="0">
                <a:solidFill>
                  <a:srgbClr val="9FB0C6"/>
                </a:solidFill>
                <a:latin typeface="游ゴシック" pitchFamily="34" charset="0"/>
                <a:ea typeface="游ゴシック" pitchFamily="34" charset="-122"/>
                <a:cs typeface="游ゴシック" pitchFamily="34" charset="-120"/>
              </a:rPr>
              <a:t>※「表現力」は、当日の話し方・時間配分（7分厳守）の練習で最終的に仕上げる。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2026-10-25T00:58:03Z</dcterms:created>
  <dcterms:modified xsi:type="dcterms:W3CDTF">2026-10-25T00:58:03Z</dcterms:modified>
</cp:coreProperties>
</file>