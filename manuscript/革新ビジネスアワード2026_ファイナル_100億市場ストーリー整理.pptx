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想定市場規模（億円）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3A5F"/>
                    </a:solidFill>
                    <a:latin typeface="游ゴシック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金融</c:v>
                  </c:pt>
                  <c:pt idx="1">
                    <c:v>不動産</c:v>
                  </c:pt>
                  <c:pt idx="2">
                    <c:v>その他</c:v>
                  </c:pt>
                  <c:pt idx="3">
                    <c:v>M&amp;A</c:v>
                  </c:pt>
                  <c:pt idx="4">
                    <c:v>有料老人ホーム</c:v>
                  </c:pt>
                  <c:pt idx="5">
                    <c:v>税理士</c:v>
                  </c:pt>
                  <c:pt idx="6">
                    <c:v>司法書士・行政書士</c:v>
                  </c:pt>
                  <c:pt idx="7">
                    <c:v>弁護士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</c:v>
                </c:pt>
                <c:pt idx="1">
                  <c:v>30</c:v>
                </c:pt>
                <c:pt idx="2">
                  <c:v>7</c:v>
                </c:pt>
                <c:pt idx="3">
                  <c:v>5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3A5F"/>
                  </a:solidFill>
                  <a:latin typeface="游ゴシック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A"/>
                </a:solidFill>
                <a:latin typeface="游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C9603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C9603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1DCC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革新ビジネスアワード2026　ファイナル　ストーリー整理資料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繋ぐグループが創った、100億円の経済圏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DCC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hub（結節点）として、過去3年間に周辺産業へもたらした市場インパクト（想定）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ED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審査7項目のうち「表現力」を除く6項目 ― 斬新性・収益性・成長性・市場性・優位性・貢献性 ― を整理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5120640"/>
            <a:ext cx="2011680" cy="0"/>
          </a:xfrm>
          <a:prstGeom prst="line">
            <a:avLst/>
          </a:prstGeom>
          <a:noFill/>
          <a:ln w="25400">
            <a:solidFill>
              <a:srgbClr val="C960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257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株式会社繋ぐコンサルタントオフィス（繋ぐ相続サロン®本部）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623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ED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代表取締役　松本 恵　／　ストーリー整理用ドラフト（社内検討資料）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このストーリーが、6つの評価軸をどう満たすか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C9603F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斬</a:t>
            </a:r>
            <a:endParaRPr lang="en-US" sz="208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3911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斬新性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889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hubとして経済圏を創る発想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011680"/>
            <a:ext cx="594360" cy="594360"/>
          </a:xfrm>
          <a:prstGeom prst="ellipse">
            <a:avLst/>
          </a:prstGeom>
          <a:solidFill>
            <a:srgbClr val="C9603F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7200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収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03911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収益性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7889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自社売上ではなく創出経済圏で語る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2011680"/>
            <a:ext cx="594360" cy="594360"/>
          </a:xfrm>
          <a:prstGeom prst="ellipse">
            <a:avLst/>
          </a:prstGeom>
          <a:solidFill>
            <a:srgbClr val="C9603F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7532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成</a:t>
            </a:r>
            <a:endParaRPr lang="en-US" sz="208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203911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成長性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7889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二つのファネルで経済圏を拡大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251960"/>
            <a:ext cx="594360" cy="594360"/>
          </a:xfrm>
          <a:prstGeom prst="ellipse">
            <a:avLst/>
          </a:prstGeom>
          <a:solidFill>
            <a:srgbClr val="C9603F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68680" y="4251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市</a:t>
            </a:r>
            <a:endParaRPr lang="en-US" sz="208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27939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市場性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029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富裕層から全世代・全業種へ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43400" y="40233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251960"/>
            <a:ext cx="594360" cy="594360"/>
          </a:xfrm>
          <a:prstGeom prst="ellipse">
            <a:avLst/>
          </a:prstGeom>
          <a:solidFill>
            <a:srgbClr val="C9603F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572000" y="4251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優</a:t>
            </a:r>
            <a:endParaRPr lang="en-US" sz="208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427939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優位性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029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「隠れた課題」を見つける協業モデル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46720" y="40233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4251960"/>
            <a:ext cx="594360" cy="594360"/>
          </a:xfrm>
          <a:prstGeom prst="ellipse">
            <a:avLst/>
          </a:prstGeom>
          <a:solidFill>
            <a:srgbClr val="C9603F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275320" y="4251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貢</a:t>
            </a:r>
            <a:endParaRPr lang="en-US" sz="208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427939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貢献性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5029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関わった全員への貢献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すべての軸の起点になっているのが、次ページの「約100億円の経済圏」という実績です。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MARKET WE CREATED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hubとしての3年間 ― 創出した経済圏（想定内訳）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0" y="2560320"/>
            <a:ext cx="9144" cy="1417320"/>
          </a:xfrm>
          <a:prstGeom prst="line">
            <a:avLst/>
          </a:prstGeom>
          <a:noFill/>
          <a:ln w="19050">
            <a:solidFill>
              <a:srgbClr val="C9C2B6"/>
            </a:solidFill>
            <a:prstDash val="sysDot"/>
          </a:ln>
        </p:spPr>
      </p:sp>
      <p:sp>
        <p:nvSpPr>
          <p:cNvPr id="5" name="Shape 3"/>
          <p:cNvSpPr/>
          <p:nvPr/>
        </p:nvSpPr>
        <p:spPr>
          <a:xfrm>
            <a:off x="5943600" y="2975443"/>
            <a:ext cx="2263025" cy="1002197"/>
          </a:xfrm>
          <a:prstGeom prst="line">
            <a:avLst/>
          </a:prstGeom>
          <a:noFill/>
          <a:ln w="19050">
            <a:solidFill>
              <a:srgbClr val="C9C2B6"/>
            </a:solidFill>
            <a:prstDash val="sysDot"/>
          </a:ln>
        </p:spPr>
      </p:sp>
      <p:sp>
        <p:nvSpPr>
          <p:cNvPr id="6" name="Shape 4"/>
          <p:cNvSpPr/>
          <p:nvPr/>
        </p:nvSpPr>
        <p:spPr>
          <a:xfrm>
            <a:off x="5943600" y="3977640"/>
            <a:ext cx="3200400" cy="9144"/>
          </a:xfrm>
          <a:prstGeom prst="line">
            <a:avLst/>
          </a:prstGeom>
          <a:noFill/>
          <a:ln w="19050">
            <a:solidFill>
              <a:srgbClr val="C9C2B6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5943600" y="3977640"/>
            <a:ext cx="2263025" cy="1002197"/>
          </a:xfrm>
          <a:prstGeom prst="line">
            <a:avLst/>
          </a:prstGeom>
          <a:noFill/>
          <a:ln w="19050">
            <a:solidFill>
              <a:srgbClr val="C9C2B6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5943600" y="3977640"/>
            <a:ext cx="9144" cy="1417320"/>
          </a:xfrm>
          <a:prstGeom prst="line">
            <a:avLst/>
          </a:prstGeom>
          <a:noFill/>
          <a:ln w="19050">
            <a:solidFill>
              <a:srgbClr val="C9C2B6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3680575" y="3977640"/>
            <a:ext cx="2263025" cy="1002197"/>
          </a:xfrm>
          <a:prstGeom prst="line">
            <a:avLst/>
          </a:prstGeom>
          <a:noFill/>
          <a:ln w="19050">
            <a:solidFill>
              <a:srgbClr val="C9C2B6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2743200" y="3977640"/>
            <a:ext cx="3200400" cy="9144"/>
          </a:xfrm>
          <a:prstGeom prst="line">
            <a:avLst/>
          </a:prstGeom>
          <a:noFill/>
          <a:ln w="19050">
            <a:solidFill>
              <a:srgbClr val="C9C2B6"/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>
            <a:off x="3680575" y="2975443"/>
            <a:ext cx="2263025" cy="1002197"/>
          </a:xfrm>
          <a:prstGeom prst="line">
            <a:avLst/>
          </a:prstGeom>
          <a:noFill/>
          <a:ln w="19050">
            <a:solidFill>
              <a:srgbClr val="C9C2B6"/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>
            <a:off x="5052060" y="1668780"/>
            <a:ext cx="1783080" cy="1783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32020" y="1668780"/>
            <a:ext cx="2423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金融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50億円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06525" y="2175343"/>
            <a:ext cx="1600200" cy="1600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86485" y="2175343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不動産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30億円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549640" y="3383280"/>
            <a:ext cx="1188720" cy="1188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0" y="3383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M&amp;A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5億円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66545" y="4339757"/>
            <a:ext cx="1280160" cy="12801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46505" y="4339757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その他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7億円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72100" y="4823460"/>
            <a:ext cx="1143000" cy="11430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52060" y="482346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有料老人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ホーム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3億円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515" y="4499777"/>
            <a:ext cx="960120" cy="9601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880475" y="4499777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弁護士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1億円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17420" y="3451860"/>
            <a:ext cx="1051560" cy="10515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897380" y="345186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司法書士・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行政書士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2億円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54795" y="2449663"/>
            <a:ext cx="1051560" cy="10515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834755" y="2449663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税理士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2億円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97780" y="3131820"/>
            <a:ext cx="1691640" cy="1691640"/>
          </a:xfrm>
          <a:prstGeom prst="ellipse">
            <a:avLst/>
          </a:prstGeom>
          <a:solidFill>
            <a:srgbClr val="C9603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77740" y="313182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繋ぐグループ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（hub）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464040" y="178308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10233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646920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DCC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想定合計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646920" y="21762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約100億円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金額は現時点の想定値。ファイナル資料で使う際は「概算」「エピソードとして」と位置づけ、根拠の精査を行う。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BREAKDOWN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内訳ランキング ― 金融・不動産で全体の8割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675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78308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86384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金融＋不動産　＝　80億円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4231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全体想定100億円のうち約8割を占める、資産性の高い意思決定支援（相続発生時の資産整理・組み換え）が中核であることを示す。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35240" y="379476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863840" y="3977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残り2割＝士業・施設・M&amp;Aの裾野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44348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税理士・司法書士・行政書士・弁護士＝合計7億円</a:t>
            </a:r>
            <a:endParaRPr lang="en-US" sz="1150" dirty="0"/>
          </a:p>
          <a:p>
            <a:pPr marL="342900" indent="-342900">
              <a:lnSpc>
                <a:spcPct val="128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有料老人ホーム3億円、法人バルクM&amp;A5億円</a:t>
            </a:r>
            <a:endParaRPr lang="en-US" sz="1150" dirty="0"/>
          </a:p>
          <a:p>
            <a:pPr marL="342900" indent="-342900">
              <a:lnSpc>
                <a:spcPct val="128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単発の大型案件だけでなく、裾野の広い専門家連携が常時発生している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01 / NOVELTY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斬新性 ― 「hub」として経済圏を創るという発想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822960" cy="822960"/>
          </a:xfrm>
          <a:prstGeom prst="ellipse">
            <a:avLst/>
          </a:prstGeom>
          <a:solidFill>
            <a:srgbClr val="C9603F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607040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斬</a:t>
            </a:r>
            <a:endParaRPr lang="en-US" sz="288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相続コンサルタントが自社の商品を売るのではなく、金融・不動産・士業など周辺専門家の収益の「結節点（hub）」になるという発想そのものが、他に類を見ない（素材①）</a:t>
            </a:r>
            <a:endParaRPr lang="en-US" sz="1500" dirty="0"/>
          </a:p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厚生労働省が既に推進している公的な枠組み（ACP＝人生会議）を、自社の“フロントエンド”として活用するという発想の転換（素材②）</a:t>
            </a:r>
            <a:endParaRPr lang="en-US" sz="1500" dirty="0"/>
          </a:p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「財産ではなく、家族の抱える“隠れた課題”を見つけに行く」という視点を、育成カリキュラムとして体系化・教材化している（素材③）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8463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1DCC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「ノートを売る」会社ではなく、「専門家たちの収益の結節点になる」会社。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02 / PROFITABILITY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収益性 ― 自社の売上ではなく、創出した経済圏で語る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822960" cy="822960"/>
          </a:xfrm>
          <a:prstGeom prst="ellipse">
            <a:avLst/>
          </a:prstGeom>
          <a:solidFill>
            <a:srgbClr val="C9603F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607040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収</a:t>
            </a:r>
            <a:endParaRPr lang="en-US" sz="288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自社単体の売上（約5,000万円）だけを見れば小さく映るが、hubとして周辺専門家にもたらした経済圏は約100億円</a:t>
            </a:r>
            <a:endParaRPr lang="en-US" sz="1500" dirty="0"/>
          </a:p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信用金庫への新規資金導入 約7億円、法人バルクM&amp;A 2億円など、具体的な実例が裏付け（素材①）</a:t>
            </a:r>
            <a:endParaRPr lang="en-US" sz="1500" dirty="0"/>
          </a:p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「繋ぐグループ全体の売上」という表現は“事業間シナジー”の指標として使ってよいと事務局（加藤氏）からも確認済み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4754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5,000万円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5440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自社単体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858768" y="498348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251960" y="457200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389120" y="4754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3億円規模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5440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グループ全体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470648" y="498348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863840" y="457200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C9603F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001000" y="4754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約100億円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001000" y="5440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1DCC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周辺経済圏（hub）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03 / GROWTH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成長性 ― 二つのファネルが、経済圏をさらに広げる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822960" cy="822960"/>
          </a:xfrm>
          <a:prstGeom prst="ellipse">
            <a:avLst/>
          </a:prstGeom>
          <a:solidFill>
            <a:srgbClr val="C9603F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607040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成</a:t>
            </a:r>
            <a:endParaRPr lang="en-US" sz="288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顧客ファネル：ACP（人生会議）をフロントに据え、相続対策に着手する母数を構造的に拡大する仕組み（素材②）</a:t>
            </a:r>
            <a:endParaRPr lang="en-US" sz="1500" dirty="0"/>
          </a:p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人材ファネル：資格講座の卒業生が「講師デビュー」し、自ら次の集客・紹介導線を生み出す自己増殖構造（素材③）</a:t>
            </a:r>
            <a:endParaRPr lang="en-US" sz="1500" dirty="0"/>
          </a:p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二つのファネルが重なり合うことで、約100億円の経済圏をさらに拡大し、3年後FC100事業所という成長サイクルへつながる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75488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49560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顧客ファネル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4132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ACP（人生会議）が入口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475488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26280" y="49560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人材ファネル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54132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講師デビューが入口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507492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＋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50749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229600" y="4754880"/>
            <a:ext cx="3322015" cy="1371600"/>
          </a:xfrm>
          <a:prstGeom prst="roundRect">
            <a:avLst>
              <a:gd name="adj" fmla="val 6667"/>
            </a:avLst>
          </a:prstGeom>
          <a:solidFill>
            <a:srgbClr val="C9603F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58200" y="4956048"/>
            <a:ext cx="3093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経済圏100億円のさらなる拡大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5413248"/>
            <a:ext cx="3093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DCC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3年後 FC100事業所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04 / MARKET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市場性 ― 「財産がある人」から、全世代・全業種へ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822960" cy="822960"/>
          </a:xfrm>
          <a:prstGeom prst="ellipse">
            <a:avLst/>
          </a:prstGeom>
          <a:solidFill>
            <a:srgbClr val="C9603F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607040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市</a:t>
            </a:r>
            <a:endParaRPr lang="en-US" sz="288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直接のターゲット：資産5億円〜10億円超の富裕層・超富裕層（素材①）</a:t>
            </a:r>
            <a:endParaRPr lang="en-US" sz="1500" dirty="0"/>
          </a:p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ACPを入口にすることで、財産の有無に関わらず誰もがターゲットになる市場へ構造的に拡大（素材②）</a:t>
            </a:r>
            <a:endParaRPr lang="en-US" sz="1500" dirty="0"/>
          </a:p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周辺専門家（税理士・司法書士・行政書士・弁護士・不動産・金融・有料老人ホーム・M&amp;A）を含めれば、市場は相続業界単体にとどまらない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4873752"/>
            <a:ext cx="29260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50事業所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42605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全国の拠点数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47091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89120" y="4873752"/>
            <a:ext cx="29260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資産5〜10億円超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542605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直接の顧客層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47091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01000" y="4873752"/>
            <a:ext cx="29260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約100億円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542605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周辺経済圏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05 / ADVANTAGE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優位性 ― 「バッジのない」からこそ生まれた協業モデル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822960" cy="822960"/>
          </a:xfrm>
          <a:prstGeom prst="ellipse">
            <a:avLst/>
          </a:prstGeom>
          <a:solidFill>
            <a:srgbClr val="C9603F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607040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優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783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F1DCC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『バッジのない、コンサルタントに、相続ビジネスの何ができるのか？』―起業当初、ある士業の先生に言われた言葉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108813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その後、「士業の先生が私に足を向けて寝れないくらい」仕事を生み出し続け、自分の収益だけを追わない「本当の協業スタイル」を確立（素材①）</a:t>
            </a:r>
            <a:endParaRPr lang="en-US" sz="1500" dirty="0"/>
          </a:p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この協業の仕組みを、第3回（紹介構造）・第4回（“人生の指揮官”モデル）のカリキュラムとして教材化し、再現可能な技術にしている（素材③）</a:t>
            </a:r>
            <a:endParaRPr lang="en-US" sz="1500" dirty="0"/>
          </a:p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「財産に着目する」のではなく「家族の隠れた課題を見つけに行く」という視点そのものが、他の相続コンサル・士業・金融機関にはない方法論的な差別化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06 / CONTRIBUTION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貢献性 ― 100億円の中身は、関わった全員への貢献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822960" cy="822960"/>
          </a:xfrm>
          <a:prstGeom prst="ellipse">
            <a:avLst/>
          </a:prstGeom>
          <a:solidFill>
            <a:srgbClr val="C9603F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607040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貢</a:t>
            </a:r>
            <a:endParaRPr lang="en-US" sz="288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末端の顧客（本人・家族）：財産ではなく「対話」による安心と幸福度の向上（終活×幸福度の各種調査）</a:t>
            </a:r>
            <a:endParaRPr lang="en-US" sz="1500" dirty="0"/>
          </a:p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周辺専門家（税理士・弁護士・不動産・金融等）：新たな受任機会・収益機会の創出（素材①）</a:t>
            </a:r>
            <a:endParaRPr lang="en-US" sz="1500" dirty="0"/>
          </a:p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企業：福利厚生導入を通じ「従業員を大切にする法人」への進化を支援</a:t>
            </a:r>
            <a:endParaRPr lang="en-US" sz="1500" dirty="0"/>
          </a:p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行政・地域：朝来市 → 岸和田市など、一つの街で実証した連携モデルの横展開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754880"/>
            <a:ext cx="2468880" cy="1325880"/>
          </a:xfrm>
          <a:prstGeom prst="roundRect">
            <a:avLst>
              <a:gd name="adj" fmla="val 6897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4937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顧客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349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対話による安心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4754880"/>
            <a:ext cx="2468880" cy="1325880"/>
          </a:xfrm>
          <a:prstGeom prst="roundRect">
            <a:avLst>
              <a:gd name="adj" fmla="val 6897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66160" y="4937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専門家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5349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新たな受任機会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4754880"/>
            <a:ext cx="2468880" cy="1325880"/>
          </a:xfrm>
          <a:prstGeom prst="roundRect">
            <a:avLst>
              <a:gd name="adj" fmla="val 6897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09360" y="4937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企業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5349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従業員を大切にする法人へ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69680" y="4754880"/>
            <a:ext cx="2468880" cy="1325880"/>
          </a:xfrm>
          <a:prstGeom prst="roundRect">
            <a:avLst>
              <a:gd name="adj" fmla="val 6897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052560" y="4937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行政・地域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5349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連携モデルの横展開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C9603F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1DCC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「実績」から「展望」へ ― 2段構成のストーリー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C960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CC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STAGE 1　実績（過去〜現在）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3317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hubとして3年間で創出した経済圏＝約100億円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2A4A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652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CC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STAGE 2　展望（未来）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3317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二つのファネル（顧客・人材）で、FC100事業所体制へ拡大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DCC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7分間プレゼン構成イメージ（たたき台）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20624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DCE3E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 課題提起 ― 「相続＝財産がある人だけのカルチャー」の限界</a:t>
            </a:r>
            <a:endParaRPr lang="en-US" sz="1350" dirty="0"/>
          </a:p>
          <a:p>
            <a:pPr marL="342900" indent="-342900">
              <a:lnSpc>
                <a:spcPct val="12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DCE3E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② 事業紹介 ― hub理論・繋ぐノート・資格制度</a:t>
            </a:r>
            <a:endParaRPr lang="en-US" sz="1350" dirty="0"/>
          </a:p>
          <a:p>
            <a:pPr marL="342900" indent="-342900">
              <a:lnSpc>
                <a:spcPct val="12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DCE3E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③ 実績 ― 約100億円の経済圏（内訳と象徴エピソード）</a:t>
            </a:r>
            <a:endParaRPr lang="en-US" sz="1350" dirty="0"/>
          </a:p>
          <a:p>
            <a:pPr marL="342900" indent="-342900">
              <a:lnSpc>
                <a:spcPct val="12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DCE3E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④ 優位性・貢献性 ― 「隠れた課題」を見つける協業モデル</a:t>
            </a:r>
            <a:endParaRPr lang="en-US" sz="1350" dirty="0"/>
          </a:p>
          <a:p>
            <a:pPr marL="342900" indent="-342900">
              <a:lnSpc>
                <a:spcPct val="12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DCE3E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⑤ 成長性・市場性 ― 二つのファネルとFC100事業所</a:t>
            </a:r>
            <a:endParaRPr lang="en-US" sz="1350" dirty="0"/>
          </a:p>
          <a:p>
            <a:pPr marL="342900" indent="-342900">
              <a:lnSpc>
                <a:spcPct val="12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DCE3E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⑥ 展望・締め ― 心置きなく生ききる社会へ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446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0C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※「表現力」は、当日の話し方・時間配分（7分厳守）の練習で最終的に仕上げる。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2026-10-25T00:36:42Z</dcterms:created>
  <dcterms:modified xsi:type="dcterms:W3CDTF">2026-10-25T00:36:42Z</dcterms:modified>
</cp:coreProperties>
</file>